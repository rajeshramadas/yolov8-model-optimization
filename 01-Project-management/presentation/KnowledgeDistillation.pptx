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32"/>
  </p:notesMasterIdLst>
  <p:sldIdLst>
    <p:sldId id="257" r:id="rId3"/>
    <p:sldId id="334" r:id="rId4"/>
    <p:sldId id="345" r:id="rId5"/>
    <p:sldId id="346" r:id="rId6"/>
    <p:sldId id="347" r:id="rId7"/>
    <p:sldId id="349" r:id="rId8"/>
    <p:sldId id="365" r:id="rId9"/>
    <p:sldId id="366" r:id="rId10"/>
    <p:sldId id="348" r:id="rId11"/>
    <p:sldId id="338" r:id="rId12"/>
    <p:sldId id="340" r:id="rId13"/>
    <p:sldId id="341" r:id="rId14"/>
    <p:sldId id="351" r:id="rId15"/>
    <p:sldId id="360" r:id="rId16"/>
    <p:sldId id="362" r:id="rId17"/>
    <p:sldId id="364" r:id="rId18"/>
    <p:sldId id="358" r:id="rId19"/>
    <p:sldId id="361" r:id="rId20"/>
    <p:sldId id="350" r:id="rId21"/>
    <p:sldId id="329" r:id="rId22"/>
    <p:sldId id="355" r:id="rId23"/>
    <p:sldId id="353" r:id="rId24"/>
    <p:sldId id="356" r:id="rId25"/>
    <p:sldId id="357" r:id="rId26"/>
    <p:sldId id="354" r:id="rId27"/>
    <p:sldId id="352" r:id="rId28"/>
    <p:sldId id="343" r:id="rId29"/>
    <p:sldId id="344" r:id="rId30"/>
    <p:sldId id="321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F2714E-FC32-4294-838A-7AA012D11B30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9721D6-23B8-47AA-9F37-8BA5DF9ECE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314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9721D6-23B8-47AA-9F37-8BA5DF9ECEE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861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1DA1A-BE08-81D5-DA80-4D4E34BB4A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93D516-B679-E0AF-DC41-4B4C85EF2A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30166-F489-BC2F-4077-B17AFE2BD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DF46C5-80A3-B6E3-1FC7-377DBFD00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29A05C-BBD5-A248-102C-140562D86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0190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48534-D608-2232-768B-A81CC7C02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196FD-CBAF-F5D3-9C57-E56E0B6B2C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B8671-4D33-B71D-1F8A-7F8A8A768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029B39-C482-3AF4-9F54-057A15E60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3C5F79-D7E0-B9F6-70BC-42280FB53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624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32782-B219-0088-E827-1B5C71F6A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2E419B-4056-26A8-8E87-26DEF985E8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C5360A-FE4F-5378-59B1-E180ADF2B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CCC3BE-5ED3-A1C7-5A19-B5E831D60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4D75AA-43EC-CA25-8DCD-60DBC96DD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7064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557F9-B299-6731-4EDF-0006D284C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82F9E9-53B2-E9A7-F14F-EF33DB0382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268B86-EDA5-7990-AAFD-17E9F16089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6A8004-B255-1291-D29B-0CE245336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C1FFD7-2919-EB38-2871-172B56093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DD4B35-2AD0-087C-7013-79EB02994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34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73AA5-5BED-758A-2D0B-1FD712D13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1B2D9C-3040-7DCF-96CC-6C753264A9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8B0CD9-4892-F862-67A6-789BE686B5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865C3C-D6CD-B059-054C-1E7F2167E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2423CE-D7C5-AB6E-962B-644B3736EF5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AAEA2C-4798-D963-BEC0-16D97D7E0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DAD32F9-5E4D-52FC-802C-AFDDCCF2CF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583300-66D9-796B-23FC-70F765380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6566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18B41-6716-2684-3CA8-DD1476A3A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76B964-D167-71FA-A1FC-563F82F50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068FD3-58A5-32DD-6CFE-03B382D02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917E67-8E04-2AE7-3C03-AC0BF1250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047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A812B8-A23C-01BC-E352-4AA48DDF3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831A9A-D3CE-DA81-04FC-C87D336C4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114144-E3AF-91B2-D8D0-ED78EA6B1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3571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5F0B4-37C6-19FC-845C-487E6DA51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726E0D-37BF-8696-5768-30C36CA7EC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D5E407-563C-14A6-AFC6-16D0E83080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121230-0A75-087C-5292-CB3E860FA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98903-4338-E741-D9BB-824C866A1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04BB55-2113-F5A9-6783-5084190AB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2670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ED696-3717-2BD2-7E6D-84DA27E37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429A3D-E719-6F0B-22CA-FFD150B240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863D1D-011F-2893-5A29-37B3CB2B9F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FF911F-D0E0-1328-010B-6364A8B73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B0BBA-AD36-F3AA-C705-58EC81B77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646C8-7199-F2A2-0426-DB385C62E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963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7A485-F90E-ED16-AFBC-5722111F5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A79576-7EEF-D4A2-0AB2-7A1C24B313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341D9E-A563-22ED-303A-C383FD834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E107EC-2EB6-5C06-14A3-502CDC5D0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D3081-3BF9-4B4A-5F89-EF8167438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649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F0B60E-695E-6FFD-259C-9BAFBD994C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7A51A8-AFCB-0E05-EA8B-E628CADEB8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A25A6F-BF18-AE50-06AE-02ADC6A78B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9F966-C8B1-DAE9-CB60-6BDBA57EA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273C3-0C16-AE7A-B7E0-E0E9B3466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3401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30920-74E5-47FE-887D-DC5042FF06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EC44F9-907B-42B1-9E1C-DDFE347E2F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A0FAD4-5FA7-4463-9075-078DDB556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F5888-44AA-4928-9085-9C2C408E3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B7E58B-B3E8-4662-8E64-4E61575F9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4343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83031-C206-45A9-B9F5-4579F7279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A4A7A-8CFB-49ED-BC2D-3F6C8E7BB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8514D5-D96A-4FF0-B23C-F439E6749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BBEF8D-5AAC-4F72-80C9-F6C142A13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C5907D-0F39-4C40-8552-93E0EAF2E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7364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0FF9F-890D-4A49-9A42-56312560E6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9662DC-CD15-4E0B-B3DF-DA4844A6EE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10451-65F1-4CAD-9829-0F6F1AE9F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79500-5489-47E9-BDCF-0F980E82E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BBED0-0129-47DE-AAFD-D57937DFA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6839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94047-7DFE-4F04-88ED-B8AEC4D3F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EB2BB-032F-4ECB-A386-B91EDF75EE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7A6061-24C0-453A-A260-7B4DD09F70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F3BCA4-C1D1-4371-834F-32240F956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0BA73-CD5C-43CB-A7C2-90F06D683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BF0BC7-819F-4C8A-95E0-ACE9F8A58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0456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FA70E-1841-4A49-9272-A463DB6B1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4D1412-5697-4361-9915-C507F0BA67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944BEE-2BB3-4060-8D40-F4467EA934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353A9B-60A9-42F5-8D8D-D7F92A2D27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E9E0A7-AC11-4EEB-85C8-2094A2542E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5A5B14-C017-47BA-BADC-C08D71F18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F67DDA5-DC51-4175-8C03-349A20F7E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307F34-5F1B-4328-BB8C-1E553E551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28731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75B35-384C-450F-A757-EE64064CD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F7CAAC-DE8A-410A-BD42-26DBD99F6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3F3B91-E950-40E8-AB75-C6866831B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916592-4CC9-49B8-9199-F1D4B591B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4868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5334EA-C57E-4BEC-BBF7-2DA3507FA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E010E8-3EC4-4230-ADAD-F3968E108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35B8DF-43A0-4246-8565-08A55C9D6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51805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B502E-50B5-498C-B4BA-7045D7A0E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22FF4-7A69-4AC6-B707-CC181EAB72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718EB8-57B6-4F5F-A01A-41494844EB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80421B-1A04-4FDC-8032-7546C9DA3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6499FA-438E-45FF-926A-C91792266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01FA91-9587-4689-9972-D9F95B136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6923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F007D-3E98-4010-B666-479462799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D3FFD2-2A9C-4EFC-8E1C-FDF1873FFF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79DFD6-9AC3-46C2-84BE-9AA44872A6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32F4E8-CFD1-44AD-B2F8-1D79EB380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DE17E1-ABDF-4D66-BC09-C7000E240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5BCA60-D015-4A87-B3FA-FD2CC082A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64140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3B776-CCA7-4B3B-B949-A601AA01E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2FFD7B-A349-4A05-8FEB-3A66033185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4F9BE6-2F94-499A-B81A-EA87C14E1B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0AD9F4-B677-4B65-930B-F395E1EE8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E07E23-F40A-4A27-B36A-D4CE179DD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80775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0D1A044-DAA7-4F58-9AC2-1BEB5669EE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68BDC6-476E-4B17-B9EA-EA16B9604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10C74C-1EE4-4A04-A652-D3ACAE4BA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7D3FA2-93CB-40B9-BE9A-8F9D4C4EA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F93173-A68B-4F21-BF0C-2A3E26FD4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50681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860300" y="3683633"/>
            <a:ext cx="8982000" cy="15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7917661" y="3377551"/>
            <a:ext cx="962400" cy="1028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" name="Google Shape;12;p2"/>
          <p:cNvSpPr/>
          <p:nvPr/>
        </p:nvSpPr>
        <p:spPr>
          <a:xfrm>
            <a:off x="8879815" y="3377551"/>
            <a:ext cx="962400" cy="102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" name="Google Shape;13;p2"/>
          <p:cNvSpPr/>
          <p:nvPr/>
        </p:nvSpPr>
        <p:spPr>
          <a:xfrm>
            <a:off x="-1" y="3377551"/>
            <a:ext cx="962400" cy="102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" name="Google Shape;14;p2"/>
          <p:cNvSpPr/>
          <p:nvPr/>
        </p:nvSpPr>
        <p:spPr>
          <a:xfrm>
            <a:off x="961900" y="3377551"/>
            <a:ext cx="6955600" cy="102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464796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29FAFE-B33E-4671-ECD8-A71E1BB02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EB3C09-C4BF-75BB-9472-2DDBA5C90C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94D248-6DE2-342B-2ED1-4EB3DE8A82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A88952-6097-6347-EC53-22CFD2DAC4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FB2C79-1AEB-2711-31BF-B92E09CECE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805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BB63AB-5F97-4BCF-A221-24219E17D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48CCE3-A327-43A3-892A-796795DE66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34E2-7244-44C0-A9C7-AE677FCE31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D2714B-8236-4755-AAED-4EAC687A04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941AD2-149A-4BED-B82B-0A3A5FC757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75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ultralytics/ultralytics" TargetMode="Externa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7.xml"/><Relationship Id="rId1" Type="http://schemas.openxmlformats.org/officeDocument/2006/relationships/themeOverride" Target="../theme/themeOverride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4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ajeshRamadas/yolov8-model-optimization/tree/main/02-Implementation/knowledge_distillation" TargetMode="External"/><Relationship Id="rId2" Type="http://schemas.openxmlformats.org/officeDocument/2006/relationships/hyperlink" Target="https://github.com/RajeshRamadas/yolov8-model-optimization/tree/main" TargetMode="External"/><Relationship Id="rId1" Type="http://schemas.openxmlformats.org/officeDocument/2006/relationships/slideLayout" Target="../slideLayouts/slideLayout17.xml"/><Relationship Id="rId6" Type="http://schemas.openxmlformats.org/officeDocument/2006/relationships/hyperlink" Target="https://universe.roboflow.com/roboflow-100/vehicles-q0x2v" TargetMode="External"/><Relationship Id="rId5" Type="http://schemas.openxmlformats.org/officeDocument/2006/relationships/hyperlink" Target="https://github.com/RajeshRamadas/yolov8-model-optimization/tree/main/01-Project-management" TargetMode="External"/><Relationship Id="rId4" Type="http://schemas.openxmlformats.org/officeDocument/2006/relationships/hyperlink" Target="https://github.com/RajeshRamadas/highway-vehicle-tracker/tree/75d96c9aa849d52c155dc343237ff121f7ebbb99" TargetMode="Externa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80E5101-CE7D-E983-9125-B5A4786017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9480" y="3812594"/>
            <a:ext cx="9144000" cy="1655762"/>
          </a:xfrm>
        </p:spPr>
        <p:txBody>
          <a:bodyPr/>
          <a:lstStyle/>
          <a:p>
            <a:r>
              <a:rPr lang="en-US" dirty="0"/>
              <a:t>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E35B947-6F90-7777-2DCF-D329BE9E88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500654-EA8C-0475-E05F-BEF4A2D0B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6">
            <a:extLst>
              <a:ext uri="{FF2B5EF4-FFF2-40B4-BE49-F238E27FC236}">
                <a16:creationId xmlns:a16="http://schemas.microsoft.com/office/drawing/2014/main" id="{BAFE8EA0-C4EA-987A-5E4F-9D60624906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6" y="643468"/>
            <a:ext cx="10905067" cy="55710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03D2B3A-B7C5-E127-941E-EC70732D8D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1471" y="1565780"/>
            <a:ext cx="7749053" cy="2023364"/>
          </a:xfrm>
        </p:spPr>
        <p:txBody>
          <a:bodyPr/>
          <a:lstStyle/>
          <a:p>
            <a:pPr defTabSz="768096"/>
            <a:r>
              <a:rPr lang="en-US" sz="504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   </a:t>
            </a:r>
            <a:endParaRPr lang="en-US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E05483A3-21B7-FFE1-6B50-C933F5DA63EA}"/>
              </a:ext>
            </a:extLst>
          </p:cNvPr>
          <p:cNvSpPr txBox="1">
            <a:spLocks/>
          </p:cNvSpPr>
          <p:nvPr/>
        </p:nvSpPr>
        <p:spPr>
          <a:xfrm>
            <a:off x="2221471" y="3667172"/>
            <a:ext cx="7749053" cy="14031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68096">
              <a:spcBef>
                <a:spcPts val="840"/>
              </a:spcBef>
            </a:pPr>
            <a:r>
              <a:rPr lang="en-US" sz="2016"/>
              <a:t>    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4D5927-D33D-C91F-528E-DCBFF983A799}"/>
              </a:ext>
            </a:extLst>
          </p:cNvPr>
          <p:cNvSpPr txBox="1"/>
          <p:nvPr/>
        </p:nvSpPr>
        <p:spPr>
          <a:xfrm>
            <a:off x="1154427" y="1774863"/>
            <a:ext cx="9654969" cy="22166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de-DE" sz="3024" b="1" kern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International University of Applied Sciences </a:t>
            </a: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en-US" b="1" i="0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Enhancing Machine Learning Development </a:t>
            </a:r>
            <a:br>
              <a:rPr lang="en-US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</a:br>
            <a:r>
              <a:rPr lang="en-US" b="1" i="0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Efficiency through DevOps and MLOps</a:t>
            </a: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Knowledge Distillation &amp; Neural Architecture Search</a:t>
            </a: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endParaRPr lang="en-US" b="1" u="sng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23B3B1-4F42-3E72-3AC9-40401791C3B0}"/>
              </a:ext>
            </a:extLst>
          </p:cNvPr>
          <p:cNvSpPr txBox="1"/>
          <p:nvPr/>
        </p:nvSpPr>
        <p:spPr>
          <a:xfrm>
            <a:off x="2823833" y="3880796"/>
            <a:ext cx="6768223" cy="1951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de-DE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			 Rajesh Kumar Ramadas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Matriculation:			 92125100</a:t>
            </a:r>
            <a:r>
              <a:rPr lang="de-DE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 Of Study                                      Master Of Computer Science </a:t>
            </a: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University Supervisor		 </a:t>
            </a:r>
            <a:r>
              <a:rPr lang="en-US" sz="1200" b="1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Dr. Aditya </a:t>
            </a:r>
            <a:r>
              <a:rPr lang="en-US" sz="1200" b="1" kern="100" dirty="0" err="1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Mushyam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 Name 			 </a:t>
            </a:r>
            <a:r>
              <a:rPr lang="en-US" sz="1200" b="1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Master Thesis </a:t>
            </a:r>
            <a:r>
              <a:rPr lang="de-DE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Submission Date 		 </a:t>
            </a:r>
            <a:r>
              <a:rPr lang="en-US" sz="1200" b="1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June 2025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371600">
              <a:lnSpc>
                <a:spcPct val="115000"/>
              </a:lnSpc>
              <a:spcAft>
                <a:spcPts val="600"/>
              </a:spcAft>
            </a:pPr>
            <a:endParaRPr lang="en-US" sz="1200" b="1" dirty="0">
              <a:solidFill>
                <a:srgbClr val="002060"/>
              </a:solidFill>
              <a:effectLst/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DAD615-E3D1-BE36-499E-A26E93F4E0F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380" t="9918" r="4329" b="14601"/>
          <a:stretch/>
        </p:blipFill>
        <p:spPr bwMode="auto">
          <a:xfrm>
            <a:off x="4853240" y="959936"/>
            <a:ext cx="2104031" cy="74672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F2DC6B0-70D3-520A-2B97-E0488135ADF4}"/>
              </a:ext>
            </a:extLst>
          </p:cNvPr>
          <p:cNvSpPr txBox="1"/>
          <p:nvPr/>
        </p:nvSpPr>
        <p:spPr>
          <a:xfrm>
            <a:off x="4170039" y="3395736"/>
            <a:ext cx="385191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</a:rPr>
              <a:t>https://github.com/RajeshRamadas/yolov8-model-optimization</a:t>
            </a:r>
          </a:p>
        </p:txBody>
      </p:sp>
    </p:spTree>
    <p:extLst>
      <p:ext uri="{BB962C8B-B14F-4D97-AF65-F5344CB8AC3E}">
        <p14:creationId xmlns:p14="http://schemas.microsoft.com/office/powerpoint/2010/main" val="2934619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7734" y="1590126"/>
            <a:ext cx="2628900" cy="2547257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-apple-system"/>
              </a:rPr>
              <a:t>Research Overview</a:t>
            </a:r>
            <a:br>
              <a:rPr lang="en-US" sz="3600" b="1" i="0" dirty="0">
                <a:solidFill>
                  <a:srgbClr val="FFFFFF"/>
                </a:solidFill>
                <a:effectLst/>
                <a:latin typeface="-apple-system"/>
              </a:rPr>
            </a:br>
            <a:endParaRPr lang="en-US" sz="3600" b="1" dirty="0">
              <a:solidFill>
                <a:srgbClr val="FFFFFF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A902F3-1644-650C-F383-484D8080824E}"/>
              </a:ext>
            </a:extLst>
          </p:cNvPr>
          <p:cNvSpPr txBox="1"/>
          <p:nvPr/>
        </p:nvSpPr>
        <p:spPr>
          <a:xfrm>
            <a:off x="5653723" y="4755377"/>
            <a:ext cx="538046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YOLOv8 Implementation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Practical application and pipeline integration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6D2E3F7-F0BF-B65B-0ED2-EF651C854FEF}"/>
              </a:ext>
            </a:extLst>
          </p:cNvPr>
          <p:cNvSpPr txBox="1"/>
          <p:nvPr/>
        </p:nvSpPr>
        <p:spPr>
          <a:xfrm>
            <a:off x="5557592" y="2657051"/>
            <a:ext cx="43019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Knowledge Distillation Fundamentals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Theory, benefits, and implementation approaches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28DA99F-F740-C8AF-588C-657A396805DF}"/>
              </a:ext>
            </a:extLst>
          </p:cNvPr>
          <p:cNvSpPr txBox="1"/>
          <p:nvPr/>
        </p:nvSpPr>
        <p:spPr>
          <a:xfrm>
            <a:off x="2867362" y="1645830"/>
            <a:ext cx="538046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Neural Architecture Search (NAS)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Automated architecture optimization techniques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CCE967A-760E-164F-92A7-165C3459EB3B}"/>
              </a:ext>
            </a:extLst>
          </p:cNvPr>
          <p:cNvSpPr txBox="1"/>
          <p:nvPr/>
        </p:nvSpPr>
        <p:spPr>
          <a:xfrm>
            <a:off x="3047012" y="3706214"/>
            <a:ext cx="486990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Results &amp; Production Deployment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Performance metrics and CI/CD integration</a:t>
            </a:r>
          </a:p>
        </p:txBody>
      </p:sp>
      <p:pic>
        <p:nvPicPr>
          <p:cNvPr id="7" name="Graphic 6" descr="Badge with solid fill">
            <a:extLst>
              <a:ext uri="{FF2B5EF4-FFF2-40B4-BE49-F238E27FC236}">
                <a16:creationId xmlns:a16="http://schemas.microsoft.com/office/drawing/2014/main" id="{E152150C-51C2-130B-E433-5E51D190C7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34371" y="2681925"/>
            <a:ext cx="523221" cy="523221"/>
          </a:xfrm>
          <a:prstGeom prst="rect">
            <a:avLst/>
          </a:prstGeom>
        </p:spPr>
      </p:pic>
      <p:pic>
        <p:nvPicPr>
          <p:cNvPr id="10" name="Graphic 9" descr="Badge 1 with solid fill">
            <a:extLst>
              <a:ext uri="{FF2B5EF4-FFF2-40B4-BE49-F238E27FC236}">
                <a16:creationId xmlns:a16="http://schemas.microsoft.com/office/drawing/2014/main" id="{268AEBDB-52D5-C9F0-57DB-9F176836EE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344141" y="1663738"/>
            <a:ext cx="523221" cy="523221"/>
          </a:xfrm>
          <a:prstGeom prst="rect">
            <a:avLst/>
          </a:prstGeom>
        </p:spPr>
      </p:pic>
      <p:pic>
        <p:nvPicPr>
          <p:cNvPr id="12" name="Graphic 11" descr="Badge 3 with solid fill">
            <a:extLst>
              <a:ext uri="{FF2B5EF4-FFF2-40B4-BE49-F238E27FC236}">
                <a16:creationId xmlns:a16="http://schemas.microsoft.com/office/drawing/2014/main" id="{4372E6A4-A9A2-7BDB-23DC-99E38A90A5D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344140" y="3722273"/>
            <a:ext cx="523222" cy="523222"/>
          </a:xfrm>
          <a:prstGeom prst="rect">
            <a:avLst/>
          </a:prstGeom>
        </p:spPr>
      </p:pic>
      <p:pic>
        <p:nvPicPr>
          <p:cNvPr id="16" name="Graphic 15" descr="Badge 4 with solid fill">
            <a:extLst>
              <a:ext uri="{FF2B5EF4-FFF2-40B4-BE49-F238E27FC236}">
                <a16:creationId xmlns:a16="http://schemas.microsoft.com/office/drawing/2014/main" id="{574B047D-DFB1-3AF5-EE93-F9481348CC8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98773" y="4711442"/>
            <a:ext cx="558819" cy="558819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642FF37-D7EB-DF0B-5C2F-87B7DAF841A9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  <a:endParaRPr lang="en-US" sz="28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58972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73538C-E462-304A-63C6-800105B14E92}"/>
              </a:ext>
            </a:extLst>
          </p:cNvPr>
          <p:cNvSpPr/>
          <p:nvPr/>
        </p:nvSpPr>
        <p:spPr>
          <a:xfrm>
            <a:off x="1028700" y="2438400"/>
            <a:ext cx="10353963" cy="148705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3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 Overview</a:t>
            </a:r>
            <a:br>
              <a:rPr lang="en-US" sz="2700" b="1" dirty="0">
                <a:solidFill>
                  <a:srgbClr val="002060"/>
                </a:solidFill>
                <a:latin typeface="+mn-lt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95076A9E-A974-6053-D824-826BA09B3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77904"/>
          </a:xfrm>
        </p:spPr>
        <p:txBody>
          <a:bodyPr>
            <a:normAutofit fontScale="90000"/>
          </a:bodyPr>
          <a:lstStyle/>
          <a:p>
            <a:r>
              <a:rPr lang="en-US" dirty="0"/>
              <a:t>   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198649" y="2517463"/>
            <a:ext cx="0" cy="1271662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6D41FDC-B248-F752-D711-8E8AD2BDE4A4}"/>
              </a:ext>
            </a:extLst>
          </p:cNvPr>
          <p:cNvSpPr txBox="1"/>
          <p:nvPr/>
        </p:nvSpPr>
        <p:spPr>
          <a:xfrm>
            <a:off x="1608280" y="2789512"/>
            <a:ext cx="903546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Thesis investigates the application of Neural Architecture Search &amp; knowledge distillation techniques for edge-optimized object detection in MLOps pipelines, specifically addressing the computational constraints of highway vehicle tracking systems.</a:t>
            </a:r>
          </a:p>
        </p:txBody>
      </p:sp>
      <p:pic>
        <p:nvPicPr>
          <p:cNvPr id="14" name="Graphic 13" descr="Flask with solid fill">
            <a:extLst>
              <a:ext uri="{FF2B5EF4-FFF2-40B4-BE49-F238E27FC236}">
                <a16:creationId xmlns:a16="http://schemas.microsoft.com/office/drawing/2014/main" id="{EF7590FB-1B04-BA26-1CA7-659794E186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8255" y="2636737"/>
            <a:ext cx="801630" cy="801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3067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73538C-E462-304A-63C6-800105B14E92}"/>
              </a:ext>
            </a:extLst>
          </p:cNvPr>
          <p:cNvSpPr/>
          <p:nvPr/>
        </p:nvSpPr>
        <p:spPr>
          <a:xfrm>
            <a:off x="1251414" y="1331397"/>
            <a:ext cx="9555131" cy="113878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4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 Overview</a:t>
            </a:r>
            <a:br>
              <a:rPr lang="en-US" sz="2700" b="1" dirty="0">
                <a:solidFill>
                  <a:srgbClr val="002060"/>
                </a:solidFill>
                <a:latin typeface="+mn-lt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95076A9E-A974-6053-D824-826BA09B3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77904"/>
          </a:xfrm>
        </p:spPr>
        <p:txBody>
          <a:bodyPr>
            <a:normAutofit fontScale="90000"/>
          </a:bodyPr>
          <a:lstStyle/>
          <a:p>
            <a:r>
              <a:rPr lang="en-US" dirty="0"/>
              <a:t>   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426094" y="1366982"/>
            <a:ext cx="0" cy="1034473"/>
          </a:xfrm>
          <a:prstGeom prst="line">
            <a:avLst/>
          </a:prstGeom>
          <a:ln w="2698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E43AA36-FF3B-64F7-B66D-3FDE9FF84A10}"/>
              </a:ext>
            </a:extLst>
          </p:cNvPr>
          <p:cNvSpPr txBox="1"/>
          <p:nvPr/>
        </p:nvSpPr>
        <p:spPr>
          <a:xfrm rot="16200000">
            <a:off x="845025" y="1626334"/>
            <a:ext cx="1135943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chemeClr val="bg1"/>
                </a:solidFill>
              </a:rPr>
              <a:t>PROBLEM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0E7DC0-C86E-E03A-6728-57472B16D8DA}"/>
              </a:ext>
            </a:extLst>
          </p:cNvPr>
          <p:cNvSpPr txBox="1"/>
          <p:nvPr/>
        </p:nvSpPr>
        <p:spPr>
          <a:xfrm>
            <a:off x="1600775" y="1586603"/>
            <a:ext cx="90354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Large-scale ML models (YOLOv8x) achieve high accuracy but are computationally expensive and unsuitable for real-time edge deployment in highway vehicle tracking systems.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6D9CF27-C61D-5869-FA4E-6A43CF08FD64}"/>
              </a:ext>
            </a:extLst>
          </p:cNvPr>
          <p:cNvSpPr/>
          <p:nvPr/>
        </p:nvSpPr>
        <p:spPr>
          <a:xfrm>
            <a:off x="1251414" y="2611094"/>
            <a:ext cx="9555131" cy="113878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0994335-3654-93A8-3A86-BA0110F31EE6}"/>
              </a:ext>
            </a:extLst>
          </p:cNvPr>
          <p:cNvCxnSpPr>
            <a:cxnSpLocks/>
          </p:cNvCxnSpPr>
          <p:nvPr/>
        </p:nvCxnSpPr>
        <p:spPr>
          <a:xfrm>
            <a:off x="1426094" y="2646679"/>
            <a:ext cx="0" cy="1034473"/>
          </a:xfrm>
          <a:prstGeom prst="line">
            <a:avLst/>
          </a:prstGeom>
          <a:ln w="2698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4069244-711C-1A99-3B1D-5E6C5D860D45}"/>
              </a:ext>
            </a:extLst>
          </p:cNvPr>
          <p:cNvSpPr txBox="1"/>
          <p:nvPr/>
        </p:nvSpPr>
        <p:spPr>
          <a:xfrm rot="16200000">
            <a:off x="845025" y="2932590"/>
            <a:ext cx="1135943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chemeClr val="bg1"/>
                </a:solidFill>
              </a:rPr>
              <a:t>QUESTION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0CA04B-8182-5DD9-52E8-7A4085D334AC}"/>
              </a:ext>
            </a:extLst>
          </p:cNvPr>
          <p:cNvSpPr txBox="1"/>
          <p:nvPr/>
        </p:nvSpPr>
        <p:spPr>
          <a:xfrm>
            <a:off x="1600775" y="2866300"/>
            <a:ext cx="90354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How can knowledge distillation enable efficient model while maintaining detection accuracy for vehicle tracking applications?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2A322E9-659C-9A73-A5E1-EC4BBF12DDFA}"/>
              </a:ext>
            </a:extLst>
          </p:cNvPr>
          <p:cNvSpPr/>
          <p:nvPr/>
        </p:nvSpPr>
        <p:spPr>
          <a:xfrm>
            <a:off x="1251414" y="3890792"/>
            <a:ext cx="9555131" cy="16695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D30759E-2B17-EEEF-D00F-9E53B4FBEC7C}"/>
              </a:ext>
            </a:extLst>
          </p:cNvPr>
          <p:cNvCxnSpPr>
            <a:cxnSpLocks/>
          </p:cNvCxnSpPr>
          <p:nvPr/>
        </p:nvCxnSpPr>
        <p:spPr>
          <a:xfrm>
            <a:off x="1426094" y="3926376"/>
            <a:ext cx="0" cy="1417827"/>
          </a:xfrm>
          <a:prstGeom prst="line">
            <a:avLst/>
          </a:prstGeom>
          <a:ln w="2698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E47BD84-B68D-9EC1-B3B4-6C284FCEDDFB}"/>
              </a:ext>
            </a:extLst>
          </p:cNvPr>
          <p:cNvSpPr txBox="1"/>
          <p:nvPr/>
        </p:nvSpPr>
        <p:spPr>
          <a:xfrm rot="16200000">
            <a:off x="495033" y="4238460"/>
            <a:ext cx="18883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chemeClr val="bg1"/>
                </a:solidFill>
              </a:rPr>
              <a:t>METHODOLOGY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281FA6E-A22D-CC21-A91F-F81E6AC8A8D0}"/>
              </a:ext>
            </a:extLst>
          </p:cNvPr>
          <p:cNvSpPr txBox="1"/>
          <p:nvPr/>
        </p:nvSpPr>
        <p:spPr>
          <a:xfrm>
            <a:off x="1600774" y="4207024"/>
            <a:ext cx="903546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Implementation of knowledge distillation techniques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Neural Architecture Search (NAS) for optimal model design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MLOps pipeline integration with automated CI/CD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Performance evaluation on highway vehicle tracking dataset</a:t>
            </a:r>
          </a:p>
        </p:txBody>
      </p:sp>
      <p:pic>
        <p:nvPicPr>
          <p:cNvPr id="37" name="Graphic 36" descr="Iceberg with solid fill">
            <a:extLst>
              <a:ext uri="{FF2B5EF4-FFF2-40B4-BE49-F238E27FC236}">
                <a16:creationId xmlns:a16="http://schemas.microsoft.com/office/drawing/2014/main" id="{83A093D2-7336-46D8-9532-994DB7FE3C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1720" y="1563567"/>
            <a:ext cx="823497" cy="823497"/>
          </a:xfrm>
          <a:prstGeom prst="rect">
            <a:avLst/>
          </a:prstGeom>
        </p:spPr>
      </p:pic>
      <p:pic>
        <p:nvPicPr>
          <p:cNvPr id="38" name="Graphic 37" descr="Question mark with solid fill">
            <a:extLst>
              <a:ext uri="{FF2B5EF4-FFF2-40B4-BE49-F238E27FC236}">
                <a16:creationId xmlns:a16="http://schemas.microsoft.com/office/drawing/2014/main" id="{A5D1018B-B4D5-9870-6241-C5360EF041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6298" y="2775050"/>
            <a:ext cx="810874" cy="810874"/>
          </a:xfrm>
          <a:prstGeom prst="rect">
            <a:avLst/>
          </a:prstGeom>
        </p:spPr>
      </p:pic>
      <p:pic>
        <p:nvPicPr>
          <p:cNvPr id="39" name="Graphic 38" descr="Open book with solid fill">
            <a:extLst>
              <a:ext uri="{FF2B5EF4-FFF2-40B4-BE49-F238E27FC236}">
                <a16:creationId xmlns:a16="http://schemas.microsoft.com/office/drawing/2014/main" id="{FBD4F5B3-79F3-AADD-CFC8-C416D9298D5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5734" y="4128654"/>
            <a:ext cx="747160" cy="747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309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5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Traditional Approach Limitations</a:t>
            </a:r>
          </a:p>
          <a:p>
            <a:br>
              <a:rPr lang="en-US" sz="1000" b="1" dirty="0">
                <a:solidFill>
                  <a:srgbClr val="002060"/>
                </a:solidFill>
                <a:latin typeface="+mn-lt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760707" y="1364488"/>
            <a:ext cx="0" cy="1775876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8">
            <a:extLst>
              <a:ext uri="{FF2B5EF4-FFF2-40B4-BE49-F238E27FC236}">
                <a16:creationId xmlns:a16="http://schemas.microsoft.com/office/drawing/2014/main" id="{CD1E4BA5-F6F7-3EDF-9B40-A5490FB25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2F5953D9-AB1A-397F-561C-F8389C1143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9247609"/>
              </p:ext>
            </p:extLst>
          </p:nvPr>
        </p:nvGraphicFramePr>
        <p:xfrm>
          <a:off x="1028699" y="1922291"/>
          <a:ext cx="8281555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4240">
                  <a:extLst>
                    <a:ext uri="{9D8B030D-6E8A-4147-A177-3AD203B41FA5}">
                      <a16:colId xmlns:a16="http://schemas.microsoft.com/office/drawing/2014/main" val="1206936283"/>
                    </a:ext>
                  </a:extLst>
                </a:gridCol>
                <a:gridCol w="1172769">
                  <a:extLst>
                    <a:ext uri="{9D8B030D-6E8A-4147-A177-3AD203B41FA5}">
                      <a16:colId xmlns:a16="http://schemas.microsoft.com/office/drawing/2014/main" val="4252689379"/>
                    </a:ext>
                  </a:extLst>
                </a:gridCol>
                <a:gridCol w="1004741">
                  <a:extLst>
                    <a:ext uri="{9D8B030D-6E8A-4147-A177-3AD203B41FA5}">
                      <a16:colId xmlns:a16="http://schemas.microsoft.com/office/drawing/2014/main" val="1132552525"/>
                    </a:ext>
                  </a:extLst>
                </a:gridCol>
                <a:gridCol w="1940781">
                  <a:extLst>
                    <a:ext uri="{9D8B030D-6E8A-4147-A177-3AD203B41FA5}">
                      <a16:colId xmlns:a16="http://schemas.microsoft.com/office/drawing/2014/main" val="3610875779"/>
                    </a:ext>
                  </a:extLst>
                </a:gridCol>
                <a:gridCol w="3289024">
                  <a:extLst>
                    <a:ext uri="{9D8B030D-6E8A-4147-A177-3AD203B41FA5}">
                      <a16:colId xmlns:a16="http://schemas.microsoft.com/office/drawing/2014/main" val="42771867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Model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mAP@0.5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Size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Inference Speed (CPU)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Summary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28986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YOLOv8x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~53%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130MB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~15–20 FPS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High accuracy, slow on CPU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26038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YOLOv8n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~37%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6MB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 30–60+ FPS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Fast, lightweight, lower accuracy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9925102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F15920F5-5AFA-9AD1-3FE7-302014FD2FB5}"/>
              </a:ext>
            </a:extLst>
          </p:cNvPr>
          <p:cNvSpPr txBox="1"/>
          <p:nvPr/>
        </p:nvSpPr>
        <p:spPr>
          <a:xfrm>
            <a:off x="917513" y="1711688"/>
            <a:ext cx="23934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📍 </a:t>
            </a:r>
            <a:r>
              <a:rPr lang="en-US" sz="900" dirty="0">
                <a:hlinkClick r:id="rId2"/>
              </a:rPr>
              <a:t>https://github.com/ultralytics/ultralytics</a:t>
            </a:r>
            <a:endParaRPr lang="en-US" sz="9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29A722E-754B-1CEB-87CA-BD430B7A7941}"/>
              </a:ext>
            </a:extLst>
          </p:cNvPr>
          <p:cNvCxnSpPr>
            <a:cxnSpLocks/>
          </p:cNvCxnSpPr>
          <p:nvPr/>
        </p:nvCxnSpPr>
        <p:spPr>
          <a:xfrm>
            <a:off x="777887" y="3539652"/>
            <a:ext cx="0" cy="1364857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E832ABB-2D11-6B8E-0CBB-202FCD5CC870}"/>
              </a:ext>
            </a:extLst>
          </p:cNvPr>
          <p:cNvSpPr txBox="1"/>
          <p:nvPr/>
        </p:nvSpPr>
        <p:spPr>
          <a:xfrm>
            <a:off x="1028700" y="135504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Performance vs Efficiency Trade-off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46AC35-74D4-AA41-EFF8-97ACC0DFF3B3}"/>
              </a:ext>
            </a:extLst>
          </p:cNvPr>
          <p:cNvSpPr txBox="1"/>
          <p:nvPr/>
        </p:nvSpPr>
        <p:spPr>
          <a:xfrm>
            <a:off x="1085850" y="358832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Key Limitations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99244E-D6CF-1242-715A-75806523E235}"/>
              </a:ext>
            </a:extLst>
          </p:cNvPr>
          <p:cNvSpPr txBox="1"/>
          <p:nvPr/>
        </p:nvSpPr>
        <p:spPr>
          <a:xfrm>
            <a:off x="1085850" y="3957656"/>
            <a:ext cx="851996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Binary Choice: Traditional approaches force selection between accuracy OR speed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Manual Design: Human-designed architectures based on intuition, not systematic optimization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One-Size-Fits-All: Same model architecture regardless of deployment constraints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Limited Knowledge Transfer: No mechanism to transfer learned representations from large to small models</a:t>
            </a:r>
          </a:p>
        </p:txBody>
      </p:sp>
    </p:spTree>
    <p:extLst>
      <p:ext uri="{BB962C8B-B14F-4D97-AF65-F5344CB8AC3E}">
        <p14:creationId xmlns:p14="http://schemas.microsoft.com/office/powerpoint/2010/main" val="3297805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6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Neural Architecture Search (NAS)</a:t>
            </a:r>
          </a:p>
          <a:p>
            <a:br>
              <a:rPr lang="en-US" sz="10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526284" y="2973636"/>
            <a:ext cx="0" cy="2488777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6D41FDC-B248-F752-D711-8E8AD2BDE4A4}"/>
              </a:ext>
            </a:extLst>
          </p:cNvPr>
          <p:cNvSpPr txBox="1"/>
          <p:nvPr/>
        </p:nvSpPr>
        <p:spPr>
          <a:xfrm>
            <a:off x="1609183" y="3470030"/>
            <a:ext cx="9035469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basic_search_space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depth_multiple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[0.33, 0.5, 0.67, 1.0]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width_multiple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[0.25, 0.5, 0.75, 1.0] </a:t>
            </a:r>
          </a:p>
          <a:p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advanced_search_space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</a:p>
          <a:p>
            <a:pPr lvl="1"/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optimizer: [SGD, Adam, </a:t>
            </a:r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AdamW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kernel_size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[1, 3, 5, 7]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img_size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[320, 448, 640] 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380F052-34B7-1F15-D8E7-31F8E309701F}"/>
              </a:ext>
            </a:extLst>
          </p:cNvPr>
          <p:cNvSpPr/>
          <p:nvPr/>
        </p:nvSpPr>
        <p:spPr>
          <a:xfrm>
            <a:off x="1459346" y="1071418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59F3134-CC5B-3C95-943D-3DECF23ADCC7}"/>
              </a:ext>
            </a:extLst>
          </p:cNvPr>
          <p:cNvSpPr/>
          <p:nvPr/>
        </p:nvSpPr>
        <p:spPr>
          <a:xfrm>
            <a:off x="3560619" y="1071418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9998F4B-802F-B74C-759F-3D435F65AEAD}"/>
              </a:ext>
            </a:extLst>
          </p:cNvPr>
          <p:cNvSpPr/>
          <p:nvPr/>
        </p:nvSpPr>
        <p:spPr>
          <a:xfrm>
            <a:off x="5661892" y="1073825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B418E1C-7B94-2BE7-ED74-6FD4B5057791}"/>
              </a:ext>
            </a:extLst>
          </p:cNvPr>
          <p:cNvSpPr/>
          <p:nvPr/>
        </p:nvSpPr>
        <p:spPr>
          <a:xfrm>
            <a:off x="7763165" y="1071418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63632F-B1D9-B8E2-8149-4D09383342B0}"/>
              </a:ext>
            </a:extLst>
          </p:cNvPr>
          <p:cNvSpPr txBox="1"/>
          <p:nvPr/>
        </p:nvSpPr>
        <p:spPr>
          <a:xfrm>
            <a:off x="1609183" y="1169397"/>
            <a:ext cx="1888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Search Space </a:t>
            </a:r>
          </a:p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Definition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BC324B-1280-FC51-5C47-3C04A6A6CA9B}"/>
              </a:ext>
            </a:extLst>
          </p:cNvPr>
          <p:cNvSpPr txBox="1"/>
          <p:nvPr/>
        </p:nvSpPr>
        <p:spPr>
          <a:xfrm>
            <a:off x="1609183" y="1637022"/>
            <a:ext cx="1768763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Define architectural parameters and constraints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6976D4-E208-B2D8-8E27-81750DDA4DBB}"/>
              </a:ext>
            </a:extLst>
          </p:cNvPr>
          <p:cNvSpPr txBox="1"/>
          <p:nvPr/>
        </p:nvSpPr>
        <p:spPr>
          <a:xfrm>
            <a:off x="3643492" y="1184317"/>
            <a:ext cx="176234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Architecture Sampling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BC4215-701C-A15A-3B26-2DE59520E33A}"/>
              </a:ext>
            </a:extLst>
          </p:cNvPr>
          <p:cNvSpPr txBox="1"/>
          <p:nvPr/>
        </p:nvSpPr>
        <p:spPr>
          <a:xfrm>
            <a:off x="3643492" y="1651942"/>
            <a:ext cx="176876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 candidate architectures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8548A29-13AE-27E0-5B0F-54FE5ADB84E8}"/>
              </a:ext>
            </a:extLst>
          </p:cNvPr>
          <p:cNvSpPr txBox="1"/>
          <p:nvPr/>
        </p:nvSpPr>
        <p:spPr>
          <a:xfrm>
            <a:off x="5730910" y="1184317"/>
            <a:ext cx="16212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Training &amp; Evaluation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819DD9-18F8-62B9-E539-53B510748644}"/>
              </a:ext>
            </a:extLst>
          </p:cNvPr>
          <p:cNvSpPr txBox="1"/>
          <p:nvPr/>
        </p:nvSpPr>
        <p:spPr>
          <a:xfrm>
            <a:off x="5730910" y="1651942"/>
            <a:ext cx="176876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Assess performance metrics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9B39858-17D4-F444-A85F-30A313DD5F71}"/>
              </a:ext>
            </a:extLst>
          </p:cNvPr>
          <p:cNvSpPr txBox="1"/>
          <p:nvPr/>
        </p:nvSpPr>
        <p:spPr>
          <a:xfrm>
            <a:off x="7883238" y="1184317"/>
            <a:ext cx="1888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Best Architecture Selection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AF518B-A1E5-56D7-5999-F9B7146DD167}"/>
              </a:ext>
            </a:extLst>
          </p:cNvPr>
          <p:cNvSpPr txBox="1"/>
          <p:nvPr/>
        </p:nvSpPr>
        <p:spPr>
          <a:xfrm>
            <a:off x="7883238" y="1651942"/>
            <a:ext cx="176876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Select optimal configuration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95C96F-14A8-B37B-A3E0-56F5C03CF11F}"/>
              </a:ext>
            </a:extLst>
          </p:cNvPr>
          <p:cNvSpPr txBox="1"/>
          <p:nvPr/>
        </p:nvSpPr>
        <p:spPr>
          <a:xfrm>
            <a:off x="1621881" y="297275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 Space Parameters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D5EE559-66F5-C0FB-350C-C9EC4BD7CCC2}"/>
              </a:ext>
            </a:extLst>
          </p:cNvPr>
          <p:cNvCxnSpPr>
            <a:cxnSpLocks/>
          </p:cNvCxnSpPr>
          <p:nvPr/>
        </p:nvCxnSpPr>
        <p:spPr>
          <a:xfrm>
            <a:off x="6610902" y="3107564"/>
            <a:ext cx="0" cy="2488777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E6B2DFA-768F-E9D7-FE45-4EF30BC0BFDA}"/>
              </a:ext>
            </a:extLst>
          </p:cNvPr>
          <p:cNvSpPr txBox="1"/>
          <p:nvPr/>
        </p:nvSpPr>
        <p:spPr>
          <a:xfrm>
            <a:off x="6879681" y="30982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Optimization Results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C07D62C-961A-DBD4-DD01-DBE903FAF8C1}"/>
              </a:ext>
            </a:extLst>
          </p:cNvPr>
          <p:cNvSpPr txBox="1"/>
          <p:nvPr/>
        </p:nvSpPr>
        <p:spPr>
          <a:xfrm>
            <a:off x="6953571" y="3670084"/>
            <a:ext cx="6096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Optimal </a:t>
            </a:r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depth_multiple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0.67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Optimal </a:t>
            </a:r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width_multiple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0.5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Best optimizer: Adam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Optimal kernel size: 3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img_size:640</a:t>
            </a:r>
          </a:p>
        </p:txBody>
      </p:sp>
      <p:pic>
        <p:nvPicPr>
          <p:cNvPr id="35" name="Graphic 34" descr="Badge with solid fill">
            <a:extLst>
              <a:ext uri="{FF2B5EF4-FFF2-40B4-BE49-F238E27FC236}">
                <a16:creationId xmlns:a16="http://schemas.microsoft.com/office/drawing/2014/main" id="{1F944E7F-CAF9-0DDD-0FDD-4ADDAD19B7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04369" y="2038407"/>
            <a:ext cx="307330" cy="307330"/>
          </a:xfrm>
          <a:prstGeom prst="rect">
            <a:avLst/>
          </a:prstGeom>
        </p:spPr>
      </p:pic>
      <p:pic>
        <p:nvPicPr>
          <p:cNvPr id="36" name="Graphic 35" descr="Badge 1 with solid fill">
            <a:extLst>
              <a:ext uri="{FF2B5EF4-FFF2-40B4-BE49-F238E27FC236}">
                <a16:creationId xmlns:a16="http://schemas.microsoft.com/office/drawing/2014/main" id="{5DEC8387-2921-2E4D-A75C-B6991FD2A9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68500" y="2055514"/>
            <a:ext cx="307330" cy="307330"/>
          </a:xfrm>
          <a:prstGeom prst="rect">
            <a:avLst/>
          </a:prstGeom>
        </p:spPr>
      </p:pic>
      <p:pic>
        <p:nvPicPr>
          <p:cNvPr id="37" name="Graphic 36" descr="Badge 3 with solid fill">
            <a:extLst>
              <a:ext uri="{FF2B5EF4-FFF2-40B4-BE49-F238E27FC236}">
                <a16:creationId xmlns:a16="http://schemas.microsoft.com/office/drawing/2014/main" id="{9340F889-D927-4B00-8391-77785B4AF8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5260" y="2054184"/>
            <a:ext cx="307331" cy="307331"/>
          </a:xfrm>
          <a:prstGeom prst="rect">
            <a:avLst/>
          </a:prstGeom>
        </p:spPr>
      </p:pic>
      <p:pic>
        <p:nvPicPr>
          <p:cNvPr id="38" name="Graphic 37" descr="Badge 4 with solid fill">
            <a:extLst>
              <a:ext uri="{FF2B5EF4-FFF2-40B4-BE49-F238E27FC236}">
                <a16:creationId xmlns:a16="http://schemas.microsoft.com/office/drawing/2014/main" id="{589F80ED-D930-8546-E0D4-8302F3A2F07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212750" y="2024977"/>
            <a:ext cx="328240" cy="328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71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7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196812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NAS Implementation</a:t>
            </a:r>
            <a:endParaRPr lang="en-US" sz="24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C09B04C-7D19-FB5D-E43D-A46C118BDF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232" y="1155195"/>
            <a:ext cx="5148072" cy="4478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01585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8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196812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NAS Result Analysis</a:t>
            </a:r>
            <a:endParaRPr lang="en-US" sz="24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71292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9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Methodology</a:t>
            </a:r>
          </a:p>
          <a:p>
            <a:br>
              <a:rPr lang="en-US" sz="1000" b="1" dirty="0">
                <a:solidFill>
                  <a:srgbClr val="002060"/>
                </a:solidFill>
                <a:latin typeface="+mn-lt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724915" y="2798332"/>
            <a:ext cx="0" cy="1773668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05D8030-E5D8-0F66-0613-DE5D9E810928}"/>
              </a:ext>
            </a:extLst>
          </p:cNvPr>
          <p:cNvSpPr/>
          <p:nvPr/>
        </p:nvSpPr>
        <p:spPr>
          <a:xfrm>
            <a:off x="1708619" y="1213694"/>
            <a:ext cx="2061441" cy="1185023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70681BD-344F-06BD-102A-D00D9605FA1F}"/>
              </a:ext>
            </a:extLst>
          </p:cNvPr>
          <p:cNvSpPr/>
          <p:nvPr/>
        </p:nvSpPr>
        <p:spPr>
          <a:xfrm>
            <a:off x="4127103" y="1220143"/>
            <a:ext cx="2535382" cy="1185023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5D0EB6-2B0B-816D-733E-0BC011EEC5D4}"/>
              </a:ext>
            </a:extLst>
          </p:cNvPr>
          <p:cNvSpPr/>
          <p:nvPr/>
        </p:nvSpPr>
        <p:spPr>
          <a:xfrm>
            <a:off x="7026167" y="1214504"/>
            <a:ext cx="2370282" cy="1185023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b="1" dirty="0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C9C2DC78-7210-79A7-CF42-CC0D396B6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CD5424-44C8-68FC-5A46-CA6A0F07D5D3}"/>
              </a:ext>
            </a:extLst>
          </p:cNvPr>
          <p:cNvSpPr txBox="1"/>
          <p:nvPr/>
        </p:nvSpPr>
        <p:spPr>
          <a:xfrm>
            <a:off x="4362631" y="1438953"/>
            <a:ext cx="23737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E81D74-35B6-A389-70BB-A60801CDA56E}"/>
              </a:ext>
            </a:extLst>
          </p:cNvPr>
          <p:cNvSpPr txBox="1"/>
          <p:nvPr/>
        </p:nvSpPr>
        <p:spPr>
          <a:xfrm>
            <a:off x="4344157" y="1294474"/>
            <a:ext cx="24106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Knowledge Transfer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5DD957-8B00-672F-7D07-76AD4573CB4B}"/>
              </a:ext>
            </a:extLst>
          </p:cNvPr>
          <p:cNvSpPr txBox="1"/>
          <p:nvPr/>
        </p:nvSpPr>
        <p:spPr>
          <a:xfrm>
            <a:off x="7315380" y="1254287"/>
            <a:ext cx="21890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Student Model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A83A370-512B-CB8D-A021-51749002069A}"/>
              </a:ext>
            </a:extLst>
          </p:cNvPr>
          <p:cNvSpPr txBox="1"/>
          <p:nvPr/>
        </p:nvSpPr>
        <p:spPr>
          <a:xfrm>
            <a:off x="1896520" y="1294474"/>
            <a:ext cx="162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Teacher Model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B67C288-C39B-B411-0B91-94FBE4A3FA57}"/>
              </a:ext>
            </a:extLst>
          </p:cNvPr>
          <p:cNvSpPr txBox="1"/>
          <p:nvPr/>
        </p:nvSpPr>
        <p:spPr>
          <a:xfrm>
            <a:off x="1959734" y="1727672"/>
            <a:ext cx="123767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YOLOv8x</a:t>
            </a:r>
            <a:br>
              <a:rPr lang="en-US" sz="1100" dirty="0">
                <a:solidFill>
                  <a:schemeClr val="bg1"/>
                </a:solidFill>
              </a:rPr>
            </a:br>
            <a:r>
              <a:rPr lang="en-US" sz="1100" dirty="0">
                <a:solidFill>
                  <a:schemeClr val="bg1"/>
                </a:solidFill>
              </a:rPr>
              <a:t>Large, Accurate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FC01A44-1169-A367-8835-74B7140D3931}"/>
              </a:ext>
            </a:extLst>
          </p:cNvPr>
          <p:cNvSpPr txBox="1"/>
          <p:nvPr/>
        </p:nvSpPr>
        <p:spPr>
          <a:xfrm>
            <a:off x="4344157" y="1737320"/>
            <a:ext cx="17918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Soft Targets</a:t>
            </a:r>
            <a:br>
              <a:rPr lang="en-US" sz="1100" dirty="0">
                <a:solidFill>
                  <a:schemeClr val="bg1"/>
                </a:solidFill>
              </a:rPr>
            </a:br>
            <a:r>
              <a:rPr lang="en-US" sz="1100" dirty="0">
                <a:solidFill>
                  <a:schemeClr val="bg1"/>
                </a:solidFill>
              </a:rPr>
              <a:t>Temperature Scaling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EECF302-E909-A794-494E-CBA821B9DC93}"/>
              </a:ext>
            </a:extLst>
          </p:cNvPr>
          <p:cNvSpPr txBox="1"/>
          <p:nvPr/>
        </p:nvSpPr>
        <p:spPr>
          <a:xfrm>
            <a:off x="7315380" y="1748627"/>
            <a:ext cx="17918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Custom YOLOv8</a:t>
            </a:r>
            <a:br>
              <a:rPr lang="en-US" sz="1100" dirty="0">
                <a:solidFill>
                  <a:schemeClr val="bg1"/>
                </a:solidFill>
              </a:rPr>
            </a:br>
            <a:r>
              <a:rPr lang="en-US" sz="1100" dirty="0">
                <a:solidFill>
                  <a:schemeClr val="bg1"/>
                </a:solidFill>
              </a:rPr>
              <a:t>Small, Efficient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AFB13BD-E501-6182-53AF-2056BABFC5AF}"/>
              </a:ext>
            </a:extLst>
          </p:cNvPr>
          <p:cNvCxnSpPr/>
          <p:nvPr/>
        </p:nvCxnSpPr>
        <p:spPr>
          <a:xfrm flipV="1">
            <a:off x="3863867" y="1727672"/>
            <a:ext cx="193964" cy="9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CC8B16F-7DA2-59A3-1277-AD387A8B1D55}"/>
              </a:ext>
            </a:extLst>
          </p:cNvPr>
          <p:cNvCxnSpPr/>
          <p:nvPr/>
        </p:nvCxnSpPr>
        <p:spPr>
          <a:xfrm flipV="1">
            <a:off x="6770724" y="1732496"/>
            <a:ext cx="193964" cy="9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3DF94B6-FA74-2153-BED9-A1B8B21F8373}"/>
              </a:ext>
            </a:extLst>
          </p:cNvPr>
          <p:cNvSpPr txBox="1"/>
          <p:nvPr/>
        </p:nvSpPr>
        <p:spPr>
          <a:xfrm>
            <a:off x="1882856" y="271219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Mathematical Framework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99A9AC2-BD5A-1599-EAE0-2CF1ABA67E10}"/>
              </a:ext>
            </a:extLst>
          </p:cNvPr>
          <p:cNvSpPr txBox="1"/>
          <p:nvPr/>
        </p:nvSpPr>
        <p:spPr>
          <a:xfrm>
            <a:off x="1762700" y="4909060"/>
            <a:ext cx="6511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Current Configuration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BE3DF51-44C1-AEAE-F670-5A9C9179AA90}"/>
              </a:ext>
            </a:extLst>
          </p:cNvPr>
          <p:cNvCxnSpPr>
            <a:cxnSpLocks/>
          </p:cNvCxnSpPr>
          <p:nvPr/>
        </p:nvCxnSpPr>
        <p:spPr>
          <a:xfrm>
            <a:off x="1721231" y="4955167"/>
            <a:ext cx="0" cy="1150800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8C8ACDA-2372-C3B3-D452-9326A263556A}"/>
              </a:ext>
            </a:extLst>
          </p:cNvPr>
          <p:cNvSpPr txBox="1"/>
          <p:nvPr/>
        </p:nvSpPr>
        <p:spPr>
          <a:xfrm>
            <a:off x="1781268" y="5285959"/>
            <a:ext cx="58746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Temperature (T): 3.0 - Controls softness of probability distribution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Alpha (α): 0.5 - Balance between knowledge distillation and hard loss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Optimization: Standard YOLO loss + KL divergence</a:t>
            </a: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6171AEB7-BD78-2C20-C350-4D91CB4376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0223" y="3199580"/>
            <a:ext cx="2254366" cy="939848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E0534EEC-6682-D636-C8C8-119833CEF2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8857" y="3199580"/>
            <a:ext cx="2759977" cy="93984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94BAB575-2720-A824-092F-3EAD47270646}"/>
              </a:ext>
            </a:extLst>
          </p:cNvPr>
          <p:cNvSpPr txBox="1"/>
          <p:nvPr/>
        </p:nvSpPr>
        <p:spPr>
          <a:xfrm>
            <a:off x="7315380" y="3223052"/>
            <a:ext cx="3260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Alpha determines how much the student should trust the teacher versus the ground truth.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0E1DAA3-70BC-A7B3-4A94-E27B25CD90C6}"/>
              </a:ext>
            </a:extLst>
          </p:cNvPr>
          <p:cNvSpPr txBox="1"/>
          <p:nvPr/>
        </p:nvSpPr>
        <p:spPr>
          <a:xfrm>
            <a:off x="7315380" y="3599951"/>
            <a:ext cx="299240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Temperature controls how "soft" or "hard" the teacher's predictions are, directly affecting how much knowledge can be transferred.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A51A17A-A8DE-DD80-73B1-48878B55E018}"/>
              </a:ext>
            </a:extLst>
          </p:cNvPr>
          <p:cNvSpPr txBox="1"/>
          <p:nvPr/>
        </p:nvSpPr>
        <p:spPr>
          <a:xfrm>
            <a:off x="2006097" y="4114852"/>
            <a:ext cx="225366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qi = probability for class </a:t>
            </a:r>
            <a:r>
              <a:rPr lang="en-US" altLang="en-US" sz="500" dirty="0" err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zi = logit (raw output) for class </a:t>
            </a:r>
            <a:r>
              <a:rPr lang="en-US" altLang="en-US" sz="500" dirty="0" err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 = temperature parameter </a:t>
            </a:r>
          </a:p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 err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Σj</a:t>
            </a: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sum over all classes 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69C8E6D-2F30-D303-ABE1-9E2ED24DD93E}"/>
              </a:ext>
            </a:extLst>
          </p:cNvPr>
          <p:cNvSpPr txBox="1"/>
          <p:nvPr/>
        </p:nvSpPr>
        <p:spPr>
          <a:xfrm>
            <a:off x="4314832" y="4124230"/>
            <a:ext cx="29094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α = weighting parameter (0 to 1)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Lhard = hard loss (cross-entropy with ground truth)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Lsoft = soft loss (KL divergence with teacher predictions)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(1−α) = complementary weight for soft loss</a:t>
            </a:r>
          </a:p>
        </p:txBody>
      </p:sp>
    </p:spTree>
    <p:extLst>
      <p:ext uri="{BB962C8B-B14F-4D97-AF65-F5344CB8AC3E}">
        <p14:creationId xmlns:p14="http://schemas.microsoft.com/office/powerpoint/2010/main" val="31851981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5E9A70F6-1482-9247-F5D3-3B797B755EFE}"/>
              </a:ext>
            </a:extLst>
          </p:cNvPr>
          <p:cNvSpPr/>
          <p:nvPr/>
        </p:nvSpPr>
        <p:spPr>
          <a:xfrm>
            <a:off x="750484" y="1324798"/>
            <a:ext cx="4786252" cy="1656994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7C6C28E-52AA-D35D-626E-3801DC0ED358}"/>
              </a:ext>
            </a:extLst>
          </p:cNvPr>
          <p:cNvSpPr/>
          <p:nvPr/>
        </p:nvSpPr>
        <p:spPr>
          <a:xfrm>
            <a:off x="6237270" y="1960195"/>
            <a:ext cx="3469010" cy="29345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A55CC96-2CB8-9476-1AB2-8399B7570162}"/>
              </a:ext>
            </a:extLst>
          </p:cNvPr>
          <p:cNvSpPr/>
          <p:nvPr/>
        </p:nvSpPr>
        <p:spPr>
          <a:xfrm>
            <a:off x="5753268" y="1324798"/>
            <a:ext cx="6193178" cy="3721608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10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600" b="1" dirty="0">
              <a:solidFill>
                <a:srgbClr val="1E40AF"/>
              </a:solidFill>
              <a:latin typeface="-apple-system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B19AC5-181F-D4CF-F091-02D25836203F}"/>
              </a:ext>
            </a:extLst>
          </p:cNvPr>
          <p:cNvSpPr txBox="1"/>
          <p:nvPr/>
        </p:nvSpPr>
        <p:spPr>
          <a:xfrm>
            <a:off x="5801429" y="1697947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Teacher Raw Logits (before </a:t>
            </a:r>
            <a:r>
              <a:rPr lang="en-US" sz="12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9EA3C4-BFC2-2E33-DD68-B5A0965CD597}"/>
              </a:ext>
            </a:extLst>
          </p:cNvPr>
          <p:cNvSpPr txBox="1"/>
          <p:nvPr/>
        </p:nvSpPr>
        <p:spPr>
          <a:xfrm>
            <a:off x="6157625" y="1989632"/>
            <a:ext cx="498836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[4.0, 2.5, 1.0] # [Car, Truck, Bus]</a:t>
            </a:r>
            <a:endParaRPr lang="en-US" sz="10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8B7DAE-99C8-162E-1F6D-6039284990ED}"/>
              </a:ext>
            </a:extLst>
          </p:cNvPr>
          <p:cNvSpPr txBox="1"/>
          <p:nvPr/>
        </p:nvSpPr>
        <p:spPr>
          <a:xfrm>
            <a:off x="6115310" y="2530686"/>
            <a:ext cx="45441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t_cls_scaled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self.temperature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# T = 2.0 </a:t>
            </a:r>
          </a:p>
          <a:p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t_cls_scaled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[4.0/2.0, 2.5/2.0, 1.0/2.0] </a:t>
            </a:r>
          </a:p>
          <a:p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t_cls_scaled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[2.0, 1.25, 0.5]</a:t>
            </a:r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CCBC002-08D7-81D3-DAE0-74A584D4D475}"/>
              </a:ext>
            </a:extLst>
          </p:cNvPr>
          <p:cNvSpPr txBox="1"/>
          <p:nvPr/>
        </p:nvSpPr>
        <p:spPr>
          <a:xfrm>
            <a:off x="5802191" y="2241853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2. Apply Temperature Scaling:</a:t>
            </a:r>
            <a:endParaRPr lang="en-US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798392-6239-68CF-6EA0-A68AF42FB5FD}"/>
              </a:ext>
            </a:extLst>
          </p:cNvPr>
          <p:cNvSpPr txBox="1"/>
          <p:nvPr/>
        </p:nvSpPr>
        <p:spPr>
          <a:xfrm>
            <a:off x="5829623" y="3073726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3. Compute Temperature-Scaled </a:t>
            </a:r>
            <a:r>
              <a:rPr lang="en-US" sz="12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C408079-FDE1-6EED-F4E4-B16DFC908646}"/>
              </a:ext>
            </a:extLst>
          </p:cNvPr>
          <p:cNvSpPr txBox="1"/>
          <p:nvPr/>
        </p:nvSpPr>
        <p:spPr>
          <a:xfrm>
            <a:off x="6043277" y="3345563"/>
            <a:ext cx="5650524" cy="1169551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Calculate exponentials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[exp(2.0), exp(1.25), exp(0.5)]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[7.39, 3.49, 1.65] # Sum all exponentials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sum_exp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7.39 + 3.49 + 1.65 = 12.53 # Calculate </a:t>
            </a:r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probabilities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q_car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7.39 / 12.53 = 0.59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q_truck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3.49 / 12.53 = 0.28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q_bus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1.65 / 12.53 = 0.13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18C3EE-0953-4936-5F27-10D414BD9953}"/>
              </a:ext>
            </a:extLst>
          </p:cNvPr>
          <p:cNvSpPr txBox="1"/>
          <p:nvPr/>
        </p:nvSpPr>
        <p:spPr>
          <a:xfrm>
            <a:off x="5975575" y="4393561"/>
            <a:ext cx="51704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1000" b="1" dirty="0">
              <a:solidFill>
                <a:schemeClr val="bg1"/>
              </a:solidFill>
              <a:highlight>
                <a:srgbClr val="0000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probabilities = [0.59, 0.28, 0.13] # Much softer</a:t>
            </a:r>
            <a:r>
              <a:rPr lang="en-US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!  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5078F42-48E5-DB67-3FA3-DF9D4AC8503B}"/>
              </a:ext>
            </a:extLst>
          </p:cNvPr>
          <p:cNvSpPr txBox="1"/>
          <p:nvPr/>
        </p:nvSpPr>
        <p:spPr>
          <a:xfrm>
            <a:off x="7174829" y="1334753"/>
            <a:ext cx="415072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 (T=2, Standard </a:t>
            </a:r>
            <a:r>
              <a:rPr lang="en-US" sz="12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2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5BB3DA6-206F-85C8-0714-2E240FCF3CD5}"/>
              </a:ext>
            </a:extLst>
          </p:cNvPr>
          <p:cNvSpPr txBox="1"/>
          <p:nvPr/>
        </p:nvSpPr>
        <p:spPr>
          <a:xfrm>
            <a:off x="750485" y="1463297"/>
            <a:ext cx="33216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Without Temperature (T=1, Standard </a:t>
            </a:r>
            <a:r>
              <a:rPr lang="en-US" sz="1200" b="1" dirty="0" err="1">
                <a:solidFill>
                  <a:schemeClr val="bg1"/>
                </a:solidFill>
              </a:rPr>
              <a:t>Softmax</a:t>
            </a:r>
            <a:r>
              <a:rPr lang="en-US" sz="1200" b="1" dirty="0">
                <a:solidFill>
                  <a:schemeClr val="bg1"/>
                </a:solidFill>
              </a:rPr>
              <a:t>):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0D3EF59-AAD2-FBE7-D7C4-CE11516E374D}"/>
              </a:ext>
            </a:extLst>
          </p:cNvPr>
          <p:cNvSpPr txBox="1"/>
          <p:nvPr/>
        </p:nvSpPr>
        <p:spPr>
          <a:xfrm>
            <a:off x="819551" y="1822141"/>
            <a:ext cx="486465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 Raw logits: [4.0, 2.5, 1.0]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[exp(4.0), exp(2.5), exp(1.0)]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[54.6, 12.2, 2.7]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sum_exp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69.5 # Standard </a:t>
            </a:r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softmax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probabilities = [54.6/69.5, 12.2/69.5, 2.7/69.5] probabilities = [0.79, 0.17, 0.04]</a:t>
            </a:r>
          </a:p>
        </p:txBody>
      </p:sp>
      <p:sp>
        <p:nvSpPr>
          <p:cNvPr id="47" name="Title 46">
            <a:extLst>
              <a:ext uri="{FF2B5EF4-FFF2-40B4-BE49-F238E27FC236}">
                <a16:creationId xmlns:a16="http://schemas.microsoft.com/office/drawing/2014/main" id="{AE01B750-F29F-F15D-3711-E76AA8535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7946" y="2698619"/>
            <a:ext cx="10515600" cy="1325563"/>
          </a:xfrm>
        </p:spPr>
        <p:txBody>
          <a:bodyPr/>
          <a:lstStyle/>
          <a:p>
            <a:r>
              <a:rPr lang="en-US" dirty="0"/>
              <a:t>       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871529-5BA4-5184-F475-883BBD91B33E}"/>
              </a:ext>
            </a:extLst>
          </p:cNvPr>
          <p:cNvSpPr txBox="1">
            <a:spLocks/>
          </p:cNvSpPr>
          <p:nvPr/>
        </p:nvSpPr>
        <p:spPr>
          <a:xfrm>
            <a:off x="636023" y="348289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Distillation: Temperature</a:t>
            </a:r>
            <a:br>
              <a:rPr lang="en-US" sz="2700" b="1" dirty="0">
                <a:solidFill>
                  <a:srgbClr val="002060"/>
                </a:solidFill>
                <a:latin typeface="+mn-lt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29491B7-5677-6075-F783-48CCBB1C17CB}"/>
              </a:ext>
            </a:extLst>
          </p:cNvPr>
          <p:cNvCxnSpPr>
            <a:cxnSpLocks/>
          </p:cNvCxnSpPr>
          <p:nvPr/>
        </p:nvCxnSpPr>
        <p:spPr>
          <a:xfrm>
            <a:off x="636023" y="1324798"/>
            <a:ext cx="0" cy="165699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28800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21CBE364-C2CF-AA17-A0BC-6239F6075473}"/>
              </a:ext>
            </a:extLst>
          </p:cNvPr>
          <p:cNvSpPr/>
          <p:nvPr/>
        </p:nvSpPr>
        <p:spPr>
          <a:xfrm>
            <a:off x="4767178" y="2095945"/>
            <a:ext cx="6210299" cy="2666109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distribution (rich knowledge)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Teacher = [car=0.6, truck=0.3, bus=0.1] # "Mostly car, some truck features" </a:t>
            </a:r>
          </a:p>
          <a:p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distribution (learning)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Student = [car=0.7, truck=0.2, bus=0.1] </a:t>
            </a:r>
          </a:p>
          <a:p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"Definitely car"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KL divergence measures how well student matches teacher's wisdom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KL_loss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KL(Teacher || Student)</a:t>
            </a:r>
          </a:p>
          <a:p>
            <a:pPr algn="ctr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Perfect knowledge transfer: KL(Teacher || Student) = 0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exactly matches teacher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Poor knowledge transfer: KL(Teacher || Student) = high value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very different from teacher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11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690372" y="307181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: KL Divergence Formula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4BFA86-F18C-8E61-FA87-22913DCFF684}"/>
              </a:ext>
            </a:extLst>
          </p:cNvPr>
          <p:cNvSpPr txBox="1"/>
          <p:nvPr/>
        </p:nvSpPr>
        <p:spPr>
          <a:xfrm>
            <a:off x="875145" y="1121140"/>
            <a:ext cx="69448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KL divergence measures </a:t>
            </a:r>
            <a:r>
              <a:rPr lang="en-US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how different two probability distributions are</a:t>
            </a:r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- it's like a "distance" between distributions</a:t>
            </a:r>
          </a:p>
        </p:txBody>
      </p:sp>
      <p:sp>
        <p:nvSpPr>
          <p:cNvPr id="21" name="Title 20">
            <a:extLst>
              <a:ext uri="{FF2B5EF4-FFF2-40B4-BE49-F238E27FC236}">
                <a16:creationId xmlns:a16="http://schemas.microsoft.com/office/drawing/2014/main" id="{4E0E06D5-ADF4-70A9-DFE2-02E9DB534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877" y="1370015"/>
            <a:ext cx="10515600" cy="1325563"/>
          </a:xfrm>
        </p:spPr>
        <p:txBody>
          <a:bodyPr/>
          <a:lstStyle/>
          <a:p>
            <a:r>
              <a:rPr lang="en-US" dirty="0"/>
              <a:t>    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234AE3B-EF78-1C5D-3FCE-9070671EB29A}"/>
              </a:ext>
            </a:extLst>
          </p:cNvPr>
          <p:cNvSpPr/>
          <p:nvPr/>
        </p:nvSpPr>
        <p:spPr>
          <a:xfrm>
            <a:off x="986028" y="2093646"/>
            <a:ext cx="3634538" cy="1637845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KL(P||Q) = </a:t>
            </a:r>
            <a:r>
              <a:rPr lang="el-GR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Σ 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P(x) × log(P(x)/Q(x))</a:t>
            </a:r>
          </a:p>
          <a:p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P = target distribution (teacher probabilities)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Q = predicted distribution (student probabilities)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x = each possible outcome/class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Σ = sum over all classes</a:t>
            </a:r>
          </a:p>
          <a:p>
            <a:endParaRPr lang="en-US" sz="1000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F8B436D-76BF-E3F5-6E0D-9144D38C0B97}"/>
              </a:ext>
            </a:extLst>
          </p:cNvPr>
          <p:cNvCxnSpPr>
            <a:cxnSpLocks/>
          </p:cNvCxnSpPr>
          <p:nvPr/>
        </p:nvCxnSpPr>
        <p:spPr>
          <a:xfrm>
            <a:off x="856673" y="2090637"/>
            <a:ext cx="0" cy="164085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83696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12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518584" y="268685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: KL Divergence Calculation 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917320-FB89-800E-52DA-6DE65BC393A1}"/>
              </a:ext>
            </a:extLst>
          </p:cNvPr>
          <p:cNvSpPr/>
          <p:nvPr/>
        </p:nvSpPr>
        <p:spPr>
          <a:xfrm>
            <a:off x="768096" y="1282449"/>
            <a:ext cx="5204565" cy="3494783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scaled: [2.5/2, 4.0/2, 1.2/2] = [1.25, 2.0, 0.6] 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scaled: [1.8/2, 3.2/2, 0.9/2] = [0.9, 1.6, 0.45]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exponentials: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exp_t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[exp(1.25), exp(2.0), exp(0.6)] = [3.49, 7.39, 1.82]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sum_t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3.49 + 7.39 + 1.82 = 12.70 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probabilities (P): 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P = [3.49/12.70, 7.39/12.70, 1.82/12.70] = [0.275, 0.582, 0.143]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exponentials: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exp_s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[exp(0.9), exp(1.6), exp(0.45)] = [2.46, 4.95, 1.57]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sum_s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2.46 + 4.95 + 1.57 = 8.98 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</a:t>
            </a:r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(input):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[0.9 - log(8.98), 1.6 - log(8.98), 0.45 - log(8.98)]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[0.9 - 2.195, 1.6 - 2.195, 0.45 - 2.195]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[-1.295, -0.595, -1.745]</a:t>
            </a:r>
          </a:p>
          <a:p>
            <a:endParaRPr lang="en-US" sz="1000" i="1" dirty="0">
              <a:solidFill>
                <a:schemeClr val="bg1"/>
              </a:solidFill>
            </a:endParaRPr>
          </a:p>
          <a:p>
            <a:endParaRPr lang="en-US" sz="1000" i="1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26FCD9A-FB33-B5FB-2852-CD0207D766B4}"/>
              </a:ext>
            </a:extLst>
          </p:cNvPr>
          <p:cNvSpPr/>
          <p:nvPr/>
        </p:nvSpPr>
        <p:spPr>
          <a:xfrm>
            <a:off x="6149235" y="1282449"/>
            <a:ext cx="5524181" cy="3494783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</a:t>
            </a:r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PyTorch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formula: KL = </a:t>
            </a:r>
            <a:r>
              <a:rPr lang="el-GR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Σ 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target(x) × [log(target(x)) - input(x)] #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For Car class: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kl_car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     = 0.275 × [log(0.275) - (-1.295)]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0.275 × [-1.291 - (-1.295)]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0.275 × [-1.291 + 1.295]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0.275 × 0.004 = 0.0011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For Truck class: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kl_truck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   = 0.582 × [log(0.582) - (-0.595)]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0.582 × [-0.541 - (-0.595)]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0.582 × [-0.541 + 0.595]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0.582 × 0.054 = 0.0314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For Bus class: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kl_bus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   	= 0.143 × [log(0.143) - (-1.745)]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0.143 × [-1.944 - (-1.745)]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0.143 × [-1.944 + 1.745]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0.143 × (-0.199) = -0.0285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Total KL divergence: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KL = 0.0011 + 0.0314 + (-0.0285) = 0.004</a:t>
            </a:r>
          </a:p>
        </p:txBody>
      </p:sp>
      <p:pic>
        <p:nvPicPr>
          <p:cNvPr id="10" name="Graphic 9" descr="Badge 1 with solid fill">
            <a:extLst>
              <a:ext uri="{FF2B5EF4-FFF2-40B4-BE49-F238E27FC236}">
                <a16:creationId xmlns:a16="http://schemas.microsoft.com/office/drawing/2014/main" id="{E15C13EB-1FBB-5985-BCC9-6C1493DF76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49440" y="4254011"/>
            <a:ext cx="523221" cy="523221"/>
          </a:xfrm>
          <a:prstGeom prst="rect">
            <a:avLst/>
          </a:prstGeom>
        </p:spPr>
      </p:pic>
      <p:pic>
        <p:nvPicPr>
          <p:cNvPr id="11" name="Graphic 10" descr="Badge with solid fill">
            <a:extLst>
              <a:ext uri="{FF2B5EF4-FFF2-40B4-BE49-F238E27FC236}">
                <a16:creationId xmlns:a16="http://schemas.microsoft.com/office/drawing/2014/main" id="{D42EE465-F092-79A9-BC54-AA74C4D296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50195" y="4254010"/>
            <a:ext cx="523221" cy="523221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2F96A8AF-2C0A-6860-C148-B6CAFA413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ea typeface="+mn-ea"/>
                <a:cs typeface="+mn-cs"/>
              </a:rPr>
              <a:t>   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DBF364C-CAB6-8C32-6E15-0C38398E15D8}"/>
              </a:ext>
            </a:extLst>
          </p:cNvPr>
          <p:cNvCxnSpPr>
            <a:cxnSpLocks/>
          </p:cNvCxnSpPr>
          <p:nvPr/>
        </p:nvCxnSpPr>
        <p:spPr>
          <a:xfrm>
            <a:off x="671946" y="1282449"/>
            <a:ext cx="0" cy="3494783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40024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13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516273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MLOps Implementation</a:t>
            </a:r>
          </a:p>
          <a:p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510D4C-4F7C-5441-1A31-9E3DCE6C3F12}"/>
              </a:ext>
            </a:extLst>
          </p:cNvPr>
          <p:cNvSpPr txBox="1"/>
          <p:nvPr/>
        </p:nvSpPr>
        <p:spPr>
          <a:xfrm>
            <a:off x="2491509" y="100404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Automated Pipeline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2C9933B-7C50-9C75-A7B7-8961068137BD}"/>
              </a:ext>
            </a:extLst>
          </p:cNvPr>
          <p:cNvCxnSpPr>
            <a:cxnSpLocks/>
          </p:cNvCxnSpPr>
          <p:nvPr/>
        </p:nvCxnSpPr>
        <p:spPr>
          <a:xfrm>
            <a:off x="2394501" y="991850"/>
            <a:ext cx="0" cy="5018061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E687A0D-E6AC-2A2C-919D-D5A594BB424C}"/>
              </a:ext>
            </a:extLst>
          </p:cNvPr>
          <p:cNvSpPr/>
          <p:nvPr/>
        </p:nvSpPr>
        <p:spPr>
          <a:xfrm>
            <a:off x="2755899" y="1578312"/>
            <a:ext cx="2647373" cy="365126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A810BF6-24DF-3345-1D3D-5FE3793F3F37}"/>
              </a:ext>
            </a:extLst>
          </p:cNvPr>
          <p:cNvSpPr/>
          <p:nvPr/>
        </p:nvSpPr>
        <p:spPr>
          <a:xfrm>
            <a:off x="2755897" y="2056500"/>
            <a:ext cx="2647373" cy="365124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A891D4E-5FD0-64CF-B4F6-058D2E05D07A}"/>
              </a:ext>
            </a:extLst>
          </p:cNvPr>
          <p:cNvSpPr/>
          <p:nvPr/>
        </p:nvSpPr>
        <p:spPr>
          <a:xfrm>
            <a:off x="2755897" y="2534686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6272BE9-4CE6-C078-34B1-3989022A4CDF}"/>
              </a:ext>
            </a:extLst>
          </p:cNvPr>
          <p:cNvSpPr/>
          <p:nvPr/>
        </p:nvSpPr>
        <p:spPr>
          <a:xfrm>
            <a:off x="2755896" y="3026049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35B9139-AFB4-B35B-E9CC-7E0B9ACCE221}"/>
              </a:ext>
            </a:extLst>
          </p:cNvPr>
          <p:cNvSpPr/>
          <p:nvPr/>
        </p:nvSpPr>
        <p:spPr>
          <a:xfrm>
            <a:off x="2755896" y="3476456"/>
            <a:ext cx="2647373" cy="365126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8DC8844-4650-DE10-7294-8C5B8C2685DD}"/>
              </a:ext>
            </a:extLst>
          </p:cNvPr>
          <p:cNvSpPr/>
          <p:nvPr/>
        </p:nvSpPr>
        <p:spPr>
          <a:xfrm>
            <a:off x="2755894" y="3954644"/>
            <a:ext cx="2647373" cy="365124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8EC780C9-CABB-A4CF-9DEB-8E65F2B9DB40}"/>
              </a:ext>
            </a:extLst>
          </p:cNvPr>
          <p:cNvSpPr/>
          <p:nvPr/>
        </p:nvSpPr>
        <p:spPr>
          <a:xfrm>
            <a:off x="2755894" y="4432830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C7BDE5F-8A30-7925-99A8-D856479973B3}"/>
              </a:ext>
            </a:extLst>
          </p:cNvPr>
          <p:cNvSpPr/>
          <p:nvPr/>
        </p:nvSpPr>
        <p:spPr>
          <a:xfrm>
            <a:off x="2755893" y="4924193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7AAC3C8-907C-3F91-144D-0F8985384B1E}"/>
              </a:ext>
            </a:extLst>
          </p:cNvPr>
          <p:cNvSpPr/>
          <p:nvPr/>
        </p:nvSpPr>
        <p:spPr>
          <a:xfrm>
            <a:off x="2755892" y="5416077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795EAAC-FB59-E618-11EF-D314AB161DD8}"/>
              </a:ext>
            </a:extLst>
          </p:cNvPr>
          <p:cNvSpPr txBox="1"/>
          <p:nvPr/>
        </p:nvSpPr>
        <p:spPr>
          <a:xfrm>
            <a:off x="2851473" y="1653075"/>
            <a:ext cx="21797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Initialize Workspace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7388F94-835C-59D9-8E78-9AE1718E77D9}"/>
              </a:ext>
            </a:extLst>
          </p:cNvPr>
          <p:cNvSpPr txBox="1"/>
          <p:nvPr/>
        </p:nvSpPr>
        <p:spPr>
          <a:xfrm>
            <a:off x="2851473" y="2100955"/>
            <a:ext cx="21797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Virtual Environment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0E043B8-04E5-57A4-DBA7-8442B15ABF83}"/>
              </a:ext>
            </a:extLst>
          </p:cNvPr>
          <p:cNvSpPr txBox="1"/>
          <p:nvPr/>
        </p:nvSpPr>
        <p:spPr>
          <a:xfrm>
            <a:off x="2851473" y="2570255"/>
            <a:ext cx="148705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Download Dataset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6333A44-2682-1FC9-5DA3-0F0941182200}"/>
              </a:ext>
            </a:extLst>
          </p:cNvPr>
          <p:cNvSpPr txBox="1"/>
          <p:nvPr/>
        </p:nvSpPr>
        <p:spPr>
          <a:xfrm>
            <a:off x="2851473" y="3058293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Dataset Validation &amp; Augmentation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3CA7A8C-6083-88A7-7BE7-397EDD805E05}"/>
              </a:ext>
            </a:extLst>
          </p:cNvPr>
          <p:cNvSpPr txBox="1"/>
          <p:nvPr/>
        </p:nvSpPr>
        <p:spPr>
          <a:xfrm>
            <a:off x="2851473" y="3548436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Neural Architecture Search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E0E4182-DF9F-DDBB-F2A4-572241203541}"/>
              </a:ext>
            </a:extLst>
          </p:cNvPr>
          <p:cNvSpPr txBox="1"/>
          <p:nvPr/>
        </p:nvSpPr>
        <p:spPr>
          <a:xfrm>
            <a:off x="2851473" y="4022169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AF34CFC-6770-BDA5-C8A2-72F8F445A776}"/>
              </a:ext>
            </a:extLst>
          </p:cNvPr>
          <p:cNvSpPr txBox="1"/>
          <p:nvPr/>
        </p:nvSpPr>
        <p:spPr>
          <a:xfrm>
            <a:off x="2851473" y="4528678"/>
            <a:ext cx="2551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Performance Evaluation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A057271-5AB1-8666-BE18-B49DA2648253}"/>
              </a:ext>
            </a:extLst>
          </p:cNvPr>
          <p:cNvSpPr txBox="1"/>
          <p:nvPr/>
        </p:nvSpPr>
        <p:spPr>
          <a:xfrm>
            <a:off x="2851473" y="5003550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Upload Best Model to S3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74C1E06-8FEE-C1ED-F2AB-28BCCD63C837}"/>
              </a:ext>
            </a:extLst>
          </p:cNvPr>
          <p:cNvSpPr txBox="1"/>
          <p:nvPr/>
        </p:nvSpPr>
        <p:spPr>
          <a:xfrm>
            <a:off x="2851473" y="5462889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Generate Reports &amp; Trigger Mail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78169EC-45E8-1FB0-195D-73972330D8BE}"/>
              </a:ext>
            </a:extLst>
          </p:cNvPr>
          <p:cNvSpPr txBox="1"/>
          <p:nvPr/>
        </p:nvSpPr>
        <p:spPr>
          <a:xfrm>
            <a:off x="6353526" y="970529"/>
            <a:ext cx="29870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Technology Stack</a:t>
            </a:r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3EBB97F5-F944-8420-98BD-A932EFE518D7}"/>
              </a:ext>
            </a:extLst>
          </p:cNvPr>
          <p:cNvCxnSpPr>
            <a:cxnSpLocks/>
          </p:cNvCxnSpPr>
          <p:nvPr/>
        </p:nvCxnSpPr>
        <p:spPr>
          <a:xfrm>
            <a:off x="6274963" y="1018044"/>
            <a:ext cx="0" cy="1317905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FCB67E19-85D3-8690-4694-1C2126F199ED}"/>
              </a:ext>
            </a:extLst>
          </p:cNvPr>
          <p:cNvSpPr txBox="1"/>
          <p:nvPr/>
        </p:nvSpPr>
        <p:spPr>
          <a:xfrm>
            <a:off x="6406663" y="1339861"/>
            <a:ext cx="36090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CI/CD: Jenkins with automated pipeline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Storage: Amazon S3 for model artifacts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ML Libraries: YOLOv8, scikit-learn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Source Control: Git/GitHub with version control</a:t>
            </a:r>
          </a:p>
        </p:txBody>
      </p:sp>
    </p:spTree>
    <p:extLst>
      <p:ext uri="{BB962C8B-B14F-4D97-AF65-F5344CB8AC3E}">
        <p14:creationId xmlns:p14="http://schemas.microsoft.com/office/powerpoint/2010/main" val="38161140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14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Dataset : Computer Vision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2FB5F9-C6D7-4F85-5CF2-16688B7F91E6}"/>
              </a:ext>
            </a:extLst>
          </p:cNvPr>
          <p:cNvSpPr txBox="1"/>
          <p:nvPr/>
        </p:nvSpPr>
        <p:spPr>
          <a:xfrm>
            <a:off x="838200" y="1004048"/>
            <a:ext cx="1060136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Part of the </a:t>
            </a:r>
            <a:r>
              <a:rPr lang="en-US" sz="16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Roboflow</a:t>
            </a: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100 (RF100) benchmark initiative by Intel to evaluate object detection model generalizability.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Originally created by </a:t>
            </a:r>
            <a:r>
              <a:rPr lang="en-US" sz="16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Yudha</a:t>
            </a: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Bhakti </a:t>
            </a:r>
            <a:r>
              <a:rPr lang="en-US" sz="16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Nugraha</a:t>
            </a: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and Kris.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Contains 12 vehicle classes, including various types of buses, cars, and trucks.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Supports object detection tasks and is compatible with YOLOv5 and above.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Publicly available dataset with high engagement in terms of views and downloads.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DB5AFC-4439-9324-A934-8663EBDCA3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556" y="2749006"/>
            <a:ext cx="9208732" cy="1634481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29295B-4E57-4488-CFE3-E28C1B480BE4}"/>
              </a:ext>
            </a:extLst>
          </p:cNvPr>
          <p:cNvCxnSpPr>
            <a:cxnSpLocks/>
          </p:cNvCxnSpPr>
          <p:nvPr/>
        </p:nvCxnSpPr>
        <p:spPr>
          <a:xfrm>
            <a:off x="948113" y="2742633"/>
            <a:ext cx="0" cy="164085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36F0DAE-658F-B55F-709C-862691434925}"/>
              </a:ext>
            </a:extLst>
          </p:cNvPr>
          <p:cNvSpPr txBox="1"/>
          <p:nvPr/>
        </p:nvSpPr>
        <p:spPr>
          <a:xfrm>
            <a:off x="4887178" y="4528007"/>
            <a:ext cx="13821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FILE : DATA.YAML</a:t>
            </a:r>
          </a:p>
        </p:txBody>
      </p:sp>
    </p:spTree>
    <p:extLst>
      <p:ext uri="{BB962C8B-B14F-4D97-AF65-F5344CB8AC3E}">
        <p14:creationId xmlns:p14="http://schemas.microsoft.com/office/powerpoint/2010/main" val="7324067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15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Performance before Augmentation 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 descr="A graph of a graph">
            <a:extLst>
              <a:ext uri="{FF2B5EF4-FFF2-40B4-BE49-F238E27FC236}">
                <a16:creationId xmlns:a16="http://schemas.microsoft.com/office/drawing/2014/main" id="{572525B9-17F7-B919-E4F6-F6F75C39A9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9292" y="1859630"/>
            <a:ext cx="5995625" cy="2997813"/>
          </a:xfrm>
          <a:prstGeom prst="rect">
            <a:avLst/>
          </a:prstGeom>
        </p:spPr>
      </p:pic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78ED13D-BE5E-D5F6-8D0D-C8EDC8DF5F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948" y="1901518"/>
            <a:ext cx="3997085" cy="2997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7346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16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Augmentation Technique 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401FB76-2118-8BCA-3D04-04C39561FB88}"/>
              </a:ext>
            </a:extLst>
          </p:cNvPr>
          <p:cNvSpPr txBox="1"/>
          <p:nvPr/>
        </p:nvSpPr>
        <p:spPr>
          <a:xfrm>
            <a:off x="7518317" y="1156025"/>
            <a:ext cx="28117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Dataset Processing Results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C2877416-5CDF-FE25-F988-B97E4C3B7250}"/>
              </a:ext>
            </a:extLst>
          </p:cNvPr>
          <p:cNvCxnSpPr>
            <a:cxnSpLocks/>
          </p:cNvCxnSpPr>
          <p:nvPr/>
        </p:nvCxnSpPr>
        <p:spPr>
          <a:xfrm>
            <a:off x="7479036" y="1199482"/>
            <a:ext cx="0" cy="2127749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0C4AD157-2A94-028F-9FE8-ADAECFF5A683}"/>
              </a:ext>
            </a:extLst>
          </p:cNvPr>
          <p:cNvSpPr txBox="1"/>
          <p:nvPr/>
        </p:nvSpPr>
        <p:spPr>
          <a:xfrm>
            <a:off x="7582919" y="1572905"/>
            <a:ext cx="435000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Original training images: 2,634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Augmented images generated: 27,260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Final training set size: 29,894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Balances class distribution to improve model generalization.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Class balance improvement: Disparity reduced from 15-20% to 3-5%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mAP@50 improvement: From 0.45 to 0.97 with same training configuration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7F84544-6937-6CE4-4596-B291E6CF0334}"/>
              </a:ext>
            </a:extLst>
          </p:cNvPr>
          <p:cNvSpPr txBox="1"/>
          <p:nvPr/>
        </p:nvSpPr>
        <p:spPr>
          <a:xfrm>
            <a:off x="838200" y="1156025"/>
            <a:ext cx="42458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Targeted Augmentation Strategy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54D3690-3D27-E15A-EEC6-6DC12AE157E9}"/>
              </a:ext>
            </a:extLst>
          </p:cNvPr>
          <p:cNvCxnSpPr>
            <a:cxnSpLocks/>
          </p:cNvCxnSpPr>
          <p:nvPr/>
        </p:nvCxnSpPr>
        <p:spPr>
          <a:xfrm>
            <a:off x="798920" y="1199482"/>
            <a:ext cx="0" cy="1204420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3D0D0B2-F6A0-5615-873C-9FCA0E83440A}"/>
              </a:ext>
            </a:extLst>
          </p:cNvPr>
          <p:cNvSpPr txBox="1"/>
          <p:nvPr/>
        </p:nvSpPr>
        <p:spPr>
          <a:xfrm>
            <a:off x="902803" y="1572905"/>
            <a:ext cx="633619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Minority Class Identification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Classes with object percentages below a configurable threshold (default: 10%) are tagged as "minority".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Augmentation Factor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Each image containing minority classes is augmented multiple times (default: 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B8E16A-2B3B-054C-FF38-7CB2C1781732}"/>
              </a:ext>
            </a:extLst>
          </p:cNvPr>
          <p:cNvSpPr txBox="1"/>
          <p:nvPr/>
        </p:nvSpPr>
        <p:spPr>
          <a:xfrm>
            <a:off x="902803" y="2773344"/>
            <a:ext cx="36449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Applied Augmentation Techniques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4AA347A-A7C7-E1CE-A309-177BEEC1D7F9}"/>
              </a:ext>
            </a:extLst>
          </p:cNvPr>
          <p:cNvCxnSpPr>
            <a:cxnSpLocks/>
          </p:cNvCxnSpPr>
          <p:nvPr/>
        </p:nvCxnSpPr>
        <p:spPr>
          <a:xfrm>
            <a:off x="798920" y="2783938"/>
            <a:ext cx="0" cy="3019185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300966C-E087-4ABD-885E-9E888CCD5FB4}"/>
              </a:ext>
            </a:extLst>
          </p:cNvPr>
          <p:cNvSpPr txBox="1"/>
          <p:nvPr/>
        </p:nvSpPr>
        <p:spPr>
          <a:xfrm>
            <a:off x="902803" y="2904232"/>
            <a:ext cx="3175422" cy="2769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RandomBrightnessContrast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HueSaturationValue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RandomRotate90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Blur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RandomShadow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RandomFog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Affine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RandomSunFlare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ISONoise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RandomSnow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CLAHE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ChannelShuffle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ColorJitter</a:t>
            </a:r>
            <a:r>
              <a:rPr lang="en-US" dirty="0"/>
              <a:t>	</a:t>
            </a:r>
          </a:p>
        </p:txBody>
      </p:sp>
      <p:pic>
        <p:nvPicPr>
          <p:cNvPr id="18" name="Picture 17" descr="A traffic jam on a road&#10;&#10;AI-generated content may be incorrect.">
            <a:extLst>
              <a:ext uri="{FF2B5EF4-FFF2-40B4-BE49-F238E27FC236}">
                <a16:creationId xmlns:a16="http://schemas.microsoft.com/office/drawing/2014/main" id="{22BB86AC-257C-70A6-5122-36CE6A3FDC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5215" y="3754114"/>
            <a:ext cx="1724238" cy="1293178"/>
          </a:xfrm>
          <a:prstGeom prst="rect">
            <a:avLst/>
          </a:prstGeom>
        </p:spPr>
      </p:pic>
      <p:pic>
        <p:nvPicPr>
          <p:cNvPr id="21" name="Picture 20" descr="A traffic jam on a highway">
            <a:extLst>
              <a:ext uri="{FF2B5EF4-FFF2-40B4-BE49-F238E27FC236}">
                <a16:creationId xmlns:a16="http://schemas.microsoft.com/office/drawing/2014/main" id="{3C4B4E74-5771-7940-EDBB-CEA676F1F1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0517" y="3742904"/>
            <a:ext cx="1754124" cy="1315595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D12AB34-CE46-5BE6-844F-ED57D2BB7A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4374" y="3742906"/>
            <a:ext cx="1724237" cy="1315593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D592C334-0883-603F-9D4D-988ADDE0E47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2339"/>
          <a:stretch/>
        </p:blipFill>
        <p:spPr>
          <a:xfrm>
            <a:off x="9599677" y="3742904"/>
            <a:ext cx="1754124" cy="1315593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667A64A3-64CB-13A2-46A2-E8307329BE81}"/>
              </a:ext>
            </a:extLst>
          </p:cNvPr>
          <p:cNvSpPr txBox="1"/>
          <p:nvPr/>
        </p:nvSpPr>
        <p:spPr>
          <a:xfrm>
            <a:off x="4677334" y="5233464"/>
            <a:ext cx="18469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BEFORE AUGMENTATION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673F073-F599-B9F1-1AA9-E0D8C9775F65}"/>
              </a:ext>
            </a:extLst>
          </p:cNvPr>
          <p:cNvSpPr txBox="1"/>
          <p:nvPr/>
        </p:nvSpPr>
        <p:spPr>
          <a:xfrm>
            <a:off x="8706492" y="5233463"/>
            <a:ext cx="17379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AFTER AUGMENTATION</a:t>
            </a:r>
          </a:p>
        </p:txBody>
      </p:sp>
    </p:spTree>
    <p:extLst>
      <p:ext uri="{BB962C8B-B14F-4D97-AF65-F5344CB8AC3E}">
        <p14:creationId xmlns:p14="http://schemas.microsoft.com/office/powerpoint/2010/main" val="307639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17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NAS Training Configuration 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58561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18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NAS Best Model Selection - </a:t>
            </a:r>
            <a:r>
              <a:rPr lang="en-US" sz="24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Metrics 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30186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19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YoloV8 Neural Architecture Search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81247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pPr algn="l"/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Yolov8n Custom Config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20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9B16431-2563-E35B-71C8-D6A78969B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7729" y="1223608"/>
            <a:ext cx="3397383" cy="4410784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E013C2F-8136-2184-5113-E1A2B9637D9B}"/>
              </a:ext>
            </a:extLst>
          </p:cNvPr>
          <p:cNvCxnSpPr>
            <a:cxnSpLocks/>
          </p:cNvCxnSpPr>
          <p:nvPr/>
        </p:nvCxnSpPr>
        <p:spPr>
          <a:xfrm>
            <a:off x="1059873" y="1263976"/>
            <a:ext cx="0" cy="441078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Date Placeholder 2">
            <a:extLst>
              <a:ext uri="{FF2B5EF4-FFF2-40B4-BE49-F238E27FC236}">
                <a16:creationId xmlns:a16="http://schemas.microsoft.com/office/drawing/2014/main" id="{825445C4-6081-57DA-FE4A-D4B0BEA91E1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39546B38-531B-4070-3AAD-30EB1D9CD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D31FA89-38B3-0FA8-A8D8-795F1ED5F5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949" y="1263976"/>
            <a:ext cx="3214801" cy="4410784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254662D-9590-E3D1-B66B-D209FC73BA6B}"/>
              </a:ext>
            </a:extLst>
          </p:cNvPr>
          <p:cNvCxnSpPr/>
          <p:nvPr/>
        </p:nvCxnSpPr>
        <p:spPr>
          <a:xfrm>
            <a:off x="4913744" y="3200400"/>
            <a:ext cx="1078992" cy="0"/>
          </a:xfrm>
          <a:prstGeom prst="straightConnector1">
            <a:avLst/>
          </a:prstGeom>
          <a:ln w="8255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F0BB5C8-C136-C6A7-54EE-1C836AB4222A}"/>
              </a:ext>
            </a:extLst>
          </p:cNvPr>
          <p:cNvSpPr txBox="1"/>
          <p:nvPr/>
        </p:nvSpPr>
        <p:spPr>
          <a:xfrm>
            <a:off x="1579417" y="5772772"/>
            <a:ext cx="19415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NAS BEST MODEL CONFIG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451CCB-06B5-B220-0E8A-15536D177A37}"/>
              </a:ext>
            </a:extLst>
          </p:cNvPr>
          <p:cNvSpPr txBox="1"/>
          <p:nvPr/>
        </p:nvSpPr>
        <p:spPr>
          <a:xfrm>
            <a:off x="7006296" y="5772771"/>
            <a:ext cx="25234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YOLOV8 CUSTOM CONFIGURATION</a:t>
            </a:r>
          </a:p>
        </p:txBody>
      </p:sp>
    </p:spTree>
    <p:extLst>
      <p:ext uri="{BB962C8B-B14F-4D97-AF65-F5344CB8AC3E}">
        <p14:creationId xmlns:p14="http://schemas.microsoft.com/office/powerpoint/2010/main" val="12549776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21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Teacher Analysis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 descr="A group of graphs showing the growth of a number of individuals">
            <a:extLst>
              <a:ext uri="{FF2B5EF4-FFF2-40B4-BE49-F238E27FC236}">
                <a16:creationId xmlns:a16="http://schemas.microsoft.com/office/drawing/2014/main" id="{63ACD4ED-E6D0-6A63-9216-3E1FE6CB65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1058" y="1819600"/>
            <a:ext cx="6210300" cy="3105150"/>
          </a:xfrm>
          <a:prstGeom prst="rect">
            <a:avLst/>
          </a:prstGeom>
        </p:spPr>
      </p:pic>
      <p:pic>
        <p:nvPicPr>
          <p:cNvPr id="9" name="Picture 8" descr="A screenshot of a graph&#10;&#10;AI-generated content may be incorrect.">
            <a:extLst>
              <a:ext uri="{FF2B5EF4-FFF2-40B4-BE49-F238E27FC236}">
                <a16:creationId xmlns:a16="http://schemas.microsoft.com/office/drawing/2014/main" id="{4542966E-8336-4856-40AC-A1E33F3CE8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484" y="1933250"/>
            <a:ext cx="3988667" cy="299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1246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22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Custom Student Analysis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665D7E2-FC4E-2C1D-6510-DC66F0BF17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100" y="1828800"/>
            <a:ext cx="4267200" cy="3200400"/>
          </a:xfrm>
          <a:prstGeom prst="rect">
            <a:avLst/>
          </a:prstGeom>
        </p:spPr>
      </p:pic>
      <p:pic>
        <p:nvPicPr>
          <p:cNvPr id="11" name="Picture 10" descr="A group of graphs showing the growth of a number of individuals">
            <a:extLst>
              <a:ext uri="{FF2B5EF4-FFF2-40B4-BE49-F238E27FC236}">
                <a16:creationId xmlns:a16="http://schemas.microsoft.com/office/drawing/2014/main" id="{9F1FF512-A1EA-9526-5986-395D035AF7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2050" y="1828800"/>
            <a:ext cx="6381750" cy="3190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4818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23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Yolov8n Analysis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 descr="A screenshot of a graph&#10;&#10;AI-generated content may be incorrect.">
            <a:extLst>
              <a:ext uri="{FF2B5EF4-FFF2-40B4-BE49-F238E27FC236}">
                <a16:creationId xmlns:a16="http://schemas.microsoft.com/office/drawing/2014/main" id="{A5B51E23-129E-8C8A-7964-7F2BE3137E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624" y="1810940"/>
            <a:ext cx="4314825" cy="3236119"/>
          </a:xfrm>
          <a:prstGeom prst="rect">
            <a:avLst/>
          </a:prstGeom>
        </p:spPr>
      </p:pic>
      <p:pic>
        <p:nvPicPr>
          <p:cNvPr id="10" name="Picture 9" descr="A group of graphs showing the growth of a number of individuals">
            <a:extLst>
              <a:ext uri="{FF2B5EF4-FFF2-40B4-BE49-F238E27FC236}">
                <a16:creationId xmlns:a16="http://schemas.microsoft.com/office/drawing/2014/main" id="{548DEBB6-8B07-2581-D48E-5EE0B4DCF3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0073" y="1810940"/>
            <a:ext cx="6698460" cy="334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56825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24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Yolov8n Vs Custom Yolov8n  Vs Teacher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908D266C-BA74-CF28-F549-9166C8C4E2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701" y="2083201"/>
            <a:ext cx="3371850" cy="2247900"/>
          </a:xfrm>
          <a:prstGeom prst="rect">
            <a:avLst/>
          </a:prstGeom>
        </p:spPr>
      </p:pic>
      <p:pic>
        <p:nvPicPr>
          <p:cNvPr id="11" name="Picture 10" descr="A graph of a graph showing different colors&#10;&#10;AI-generated content may be incorrect.">
            <a:extLst>
              <a:ext uri="{FF2B5EF4-FFF2-40B4-BE49-F238E27FC236}">
                <a16:creationId xmlns:a16="http://schemas.microsoft.com/office/drawing/2014/main" id="{A71CE207-451F-C141-A268-4C9207B884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8827" y="2082799"/>
            <a:ext cx="3371850" cy="2247900"/>
          </a:xfrm>
          <a:prstGeom prst="rect">
            <a:avLst/>
          </a:prstGeom>
        </p:spPr>
      </p:pic>
      <p:pic>
        <p:nvPicPr>
          <p:cNvPr id="13" name="Picture 12" descr="A graph of a graph of confidence&#10;&#10;AI-generated content may be incorrect.">
            <a:extLst>
              <a:ext uri="{FF2B5EF4-FFF2-40B4-BE49-F238E27FC236}">
                <a16:creationId xmlns:a16="http://schemas.microsoft.com/office/drawing/2014/main" id="{AEDF0FA9-283C-D4A5-C497-10C2DEF8EA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5325" y="2082799"/>
            <a:ext cx="3372453" cy="2248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44749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25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Results and Performance Analysis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301D7B-A765-3A6E-E266-99D7C1506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946" y="3727338"/>
            <a:ext cx="7145737" cy="1685919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96391AE-13F5-AA55-F1A2-22BAD6FC4FA5}"/>
              </a:ext>
            </a:extLst>
          </p:cNvPr>
          <p:cNvCxnSpPr>
            <a:cxnSpLocks/>
          </p:cNvCxnSpPr>
          <p:nvPr/>
        </p:nvCxnSpPr>
        <p:spPr>
          <a:xfrm>
            <a:off x="1609356" y="3242834"/>
            <a:ext cx="0" cy="2170423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55825E8-6BB8-43CC-C0CE-0B53756D2C95}"/>
              </a:ext>
            </a:extLst>
          </p:cNvPr>
          <p:cNvSpPr txBox="1"/>
          <p:nvPr/>
        </p:nvSpPr>
        <p:spPr>
          <a:xfrm>
            <a:off x="1853946" y="32428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Comprehensive Performance Metrics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23561D4-BA41-F057-7950-00F4DBFA6DD8}"/>
              </a:ext>
            </a:extLst>
          </p:cNvPr>
          <p:cNvSpPr/>
          <p:nvPr/>
        </p:nvSpPr>
        <p:spPr>
          <a:xfrm>
            <a:off x="1798528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84711725-6F6E-314A-0721-1B105EC4D8C6}"/>
              </a:ext>
            </a:extLst>
          </p:cNvPr>
          <p:cNvSpPr/>
          <p:nvPr/>
        </p:nvSpPr>
        <p:spPr>
          <a:xfrm>
            <a:off x="1940212" y="2396809"/>
            <a:ext cx="1264806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-1% vs Baseline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D4AC6A7-B743-5628-F3C3-07EBB30032B3}"/>
              </a:ext>
            </a:extLst>
          </p:cNvPr>
          <p:cNvSpPr/>
          <p:nvPr/>
        </p:nvSpPr>
        <p:spPr>
          <a:xfrm>
            <a:off x="3593921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5CA16F70-A41B-DFC0-06AE-F914134D2235}"/>
              </a:ext>
            </a:extLst>
          </p:cNvPr>
          <p:cNvSpPr/>
          <p:nvPr/>
        </p:nvSpPr>
        <p:spPr>
          <a:xfrm>
            <a:off x="3735605" y="2396809"/>
            <a:ext cx="1264806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mAP@50 Retention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D94BE60-40FB-3193-3E04-09FDED8E399D}"/>
              </a:ext>
            </a:extLst>
          </p:cNvPr>
          <p:cNvSpPr/>
          <p:nvPr/>
        </p:nvSpPr>
        <p:spPr>
          <a:xfrm>
            <a:off x="5397611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8F48FFA2-BD69-51F5-CAE3-4FECD606BCD0}"/>
              </a:ext>
            </a:extLst>
          </p:cNvPr>
          <p:cNvSpPr/>
          <p:nvPr/>
        </p:nvSpPr>
        <p:spPr>
          <a:xfrm>
            <a:off x="5468453" y="2396809"/>
            <a:ext cx="1387708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Real-time Performance 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AE66524-AD0D-5B23-D847-29A643E58EF3}"/>
              </a:ext>
            </a:extLst>
          </p:cNvPr>
          <p:cNvSpPr/>
          <p:nvPr/>
        </p:nvSpPr>
        <p:spPr>
          <a:xfrm>
            <a:off x="7185573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C89E30F-3865-F40A-F688-FC4887A1309B}"/>
              </a:ext>
            </a:extLst>
          </p:cNvPr>
          <p:cNvSpPr/>
          <p:nvPr/>
        </p:nvSpPr>
        <p:spPr>
          <a:xfrm>
            <a:off x="7327257" y="2396809"/>
            <a:ext cx="1264806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76.92% Size Reduction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0C92407-26F4-BBF8-07F9-61F1D30503D0}"/>
              </a:ext>
            </a:extLst>
          </p:cNvPr>
          <p:cNvSpPr txBox="1"/>
          <p:nvPr/>
        </p:nvSpPr>
        <p:spPr>
          <a:xfrm>
            <a:off x="2073920" y="1480694"/>
            <a:ext cx="99738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97.74%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EA145AB-5F48-5E0A-CB66-EDDAD8021B87}"/>
              </a:ext>
            </a:extLst>
          </p:cNvPr>
          <p:cNvSpPr txBox="1"/>
          <p:nvPr/>
        </p:nvSpPr>
        <p:spPr>
          <a:xfrm>
            <a:off x="3869313" y="1480694"/>
            <a:ext cx="861133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99.5%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F9D9539-A762-9E0D-FFE4-406FD0BF355B}"/>
              </a:ext>
            </a:extLst>
          </p:cNvPr>
          <p:cNvSpPr txBox="1"/>
          <p:nvPr/>
        </p:nvSpPr>
        <p:spPr>
          <a:xfrm>
            <a:off x="5800085" y="1480694"/>
            <a:ext cx="59182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30+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876D9C6-522E-E4C4-5B55-17C68BD17FE5}"/>
              </a:ext>
            </a:extLst>
          </p:cNvPr>
          <p:cNvSpPr txBox="1"/>
          <p:nvPr/>
        </p:nvSpPr>
        <p:spPr>
          <a:xfrm>
            <a:off x="7537909" y="1508449"/>
            <a:ext cx="843501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30MB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F201A7F-1C80-10A6-00D7-FC5671FE388F}"/>
              </a:ext>
            </a:extLst>
          </p:cNvPr>
          <p:cNvSpPr txBox="1"/>
          <p:nvPr/>
        </p:nvSpPr>
        <p:spPr>
          <a:xfrm>
            <a:off x="1964712" y="1938775"/>
            <a:ext cx="1240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Final Model Accuracy </a:t>
            </a:r>
          </a:p>
          <a:p>
            <a:r>
              <a:rPr lang="en-US" sz="900" dirty="0"/>
              <a:t>        (mAP@50)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A880CCD-2435-C2EC-65DA-2155DE446A3B}"/>
              </a:ext>
            </a:extLst>
          </p:cNvPr>
          <p:cNvSpPr txBox="1"/>
          <p:nvPr/>
        </p:nvSpPr>
        <p:spPr>
          <a:xfrm>
            <a:off x="3780006" y="1974137"/>
            <a:ext cx="12403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Knowledge Retention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C67C7-2BBC-F123-836E-CC879C289B05}"/>
              </a:ext>
            </a:extLst>
          </p:cNvPr>
          <p:cNvSpPr txBox="1"/>
          <p:nvPr/>
        </p:nvSpPr>
        <p:spPr>
          <a:xfrm>
            <a:off x="5694323" y="2008025"/>
            <a:ext cx="12403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FPS Achieved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754264F-4C98-E0F6-1714-90F12AED7D68}"/>
              </a:ext>
            </a:extLst>
          </p:cNvPr>
          <p:cNvSpPr txBox="1"/>
          <p:nvPr/>
        </p:nvSpPr>
        <p:spPr>
          <a:xfrm>
            <a:off x="7603968" y="1959832"/>
            <a:ext cx="12403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Model Size</a:t>
            </a:r>
          </a:p>
        </p:txBody>
      </p:sp>
    </p:spTree>
    <p:extLst>
      <p:ext uri="{BB962C8B-B14F-4D97-AF65-F5344CB8AC3E}">
        <p14:creationId xmlns:p14="http://schemas.microsoft.com/office/powerpoint/2010/main" val="16815182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ACEAB88A-11F8-B83F-E7B7-9D70A96AE663}"/>
              </a:ext>
            </a:extLst>
          </p:cNvPr>
          <p:cNvSpPr/>
          <p:nvPr/>
        </p:nvSpPr>
        <p:spPr>
          <a:xfrm>
            <a:off x="1106054" y="4261401"/>
            <a:ext cx="9395691" cy="9939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E846C1-DDB4-BA8A-64D9-39E1EB5663D2}"/>
              </a:ext>
            </a:extLst>
          </p:cNvPr>
          <p:cNvSpPr/>
          <p:nvPr/>
        </p:nvSpPr>
        <p:spPr>
          <a:xfrm>
            <a:off x="1106054" y="1414233"/>
            <a:ext cx="9395691" cy="148681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26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659111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  <a:p>
            <a:endParaRPr lang="en-US" sz="2700" b="1" dirty="0">
              <a:solidFill>
                <a:srgbClr val="002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510D4C-4F7C-5441-1A31-9E3DCE6C3F12}"/>
              </a:ext>
            </a:extLst>
          </p:cNvPr>
          <p:cNvSpPr txBox="1"/>
          <p:nvPr/>
        </p:nvSpPr>
        <p:spPr>
          <a:xfrm>
            <a:off x="1106054" y="1414233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Key Achievements</a:t>
            </a:r>
          </a:p>
          <a:p>
            <a:endParaRPr lang="en-US" b="1" dirty="0">
              <a:solidFill>
                <a:srgbClr val="002060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2C9933B-7C50-9C75-A7B7-8961068137BD}"/>
              </a:ext>
            </a:extLst>
          </p:cNvPr>
          <p:cNvCxnSpPr>
            <a:cxnSpLocks/>
          </p:cNvCxnSpPr>
          <p:nvPr/>
        </p:nvCxnSpPr>
        <p:spPr>
          <a:xfrm>
            <a:off x="1009046" y="1402035"/>
            <a:ext cx="0" cy="1499008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FCB67E19-85D3-8690-4694-1C2126F199ED}"/>
              </a:ext>
            </a:extLst>
          </p:cNvPr>
          <p:cNvSpPr txBox="1"/>
          <p:nvPr/>
        </p:nvSpPr>
        <p:spPr>
          <a:xfrm>
            <a:off x="1175430" y="1760259"/>
            <a:ext cx="645254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Successfully broke the traditional performance-efficiency trade-off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Achieved 99.5% knowledge retention from teacher to student model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Maintained high accuracy (97.74%) while achieving real-time performance (30+ FPS)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Reduced model size by 76% (130MB → 30MB)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Implemented production-ready MLOps pipeline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B3E408-3E00-3833-41D6-2D7040061AB5}"/>
              </a:ext>
            </a:extLst>
          </p:cNvPr>
          <p:cNvSpPr/>
          <p:nvPr/>
        </p:nvSpPr>
        <p:spPr>
          <a:xfrm>
            <a:off x="1106054" y="3011172"/>
            <a:ext cx="9395691" cy="113677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82D7BC-B1AA-396E-015E-7A5C01FF00DE}"/>
              </a:ext>
            </a:extLst>
          </p:cNvPr>
          <p:cNvSpPr txBox="1"/>
          <p:nvPr/>
        </p:nvSpPr>
        <p:spPr>
          <a:xfrm>
            <a:off x="1106054" y="301117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Practical Applications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DD60F60-D6B6-1E84-44A8-51E98A8F2EA9}"/>
              </a:ext>
            </a:extLst>
          </p:cNvPr>
          <p:cNvCxnSpPr>
            <a:cxnSpLocks/>
          </p:cNvCxnSpPr>
          <p:nvPr/>
        </p:nvCxnSpPr>
        <p:spPr>
          <a:xfrm>
            <a:off x="1009046" y="2998975"/>
            <a:ext cx="0" cy="1148976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E9EC7B5-B25E-7F04-2F16-F9FC908630C1}"/>
              </a:ext>
            </a:extLst>
          </p:cNvPr>
          <p:cNvSpPr txBox="1"/>
          <p:nvPr/>
        </p:nvSpPr>
        <p:spPr>
          <a:xfrm>
            <a:off x="1175430" y="3370428"/>
            <a:ext cx="64525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Highway vehicle tracking and counting systems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Edge deployment for real-time traffic monitoring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Scalable MLOps framework for model optimization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FCD6B6-FE4A-A3E9-2E4D-33A79550368B}"/>
              </a:ext>
            </a:extLst>
          </p:cNvPr>
          <p:cNvSpPr txBox="1"/>
          <p:nvPr/>
        </p:nvSpPr>
        <p:spPr>
          <a:xfrm>
            <a:off x="1106055" y="423431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Future Research Directions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D64AD2A-D065-8138-8C4C-245CBCA6ECE1}"/>
              </a:ext>
            </a:extLst>
          </p:cNvPr>
          <p:cNvCxnSpPr>
            <a:cxnSpLocks/>
          </p:cNvCxnSpPr>
          <p:nvPr/>
        </p:nvCxnSpPr>
        <p:spPr>
          <a:xfrm>
            <a:off x="1009047" y="4222112"/>
            <a:ext cx="0" cy="1108093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B9A7E39-4E54-F97F-B219-D38303C68EF7}"/>
              </a:ext>
            </a:extLst>
          </p:cNvPr>
          <p:cNvSpPr txBox="1"/>
          <p:nvPr/>
        </p:nvSpPr>
        <p:spPr>
          <a:xfrm>
            <a:off x="1175431" y="4551310"/>
            <a:ext cx="64525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Extension to other object detection architectures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Multi-teacher knowledge distillation approaches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Real-time architecture adaptation based on hardware constraints</a:t>
            </a:r>
          </a:p>
        </p:txBody>
      </p:sp>
    </p:spTree>
    <p:extLst>
      <p:ext uri="{BB962C8B-B14F-4D97-AF65-F5344CB8AC3E}">
        <p14:creationId xmlns:p14="http://schemas.microsoft.com/office/powerpoint/2010/main" val="37162946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Demo : Highway Vehicle Tracking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27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A2BE19-D659-5C46-6603-ED8490AB2B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6255" y="1238271"/>
            <a:ext cx="6940907" cy="4540483"/>
          </a:xfrm>
          <a:prstGeom prst="rect">
            <a:avLst/>
          </a:prstGeom>
        </p:spPr>
      </p:pic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C4648A69-C729-B783-6CA1-61759956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258E6F15-D03A-4DB0-EB5A-5B186E229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</p:spTree>
    <p:extLst>
      <p:ext uri="{BB962C8B-B14F-4D97-AF65-F5344CB8AC3E}">
        <p14:creationId xmlns:p14="http://schemas.microsoft.com/office/powerpoint/2010/main" val="35367116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Repository</a:t>
            </a:r>
            <a:r>
              <a:rPr lang="en-US" sz="23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28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E12F00-0AAC-E395-90E7-3C30B396E75F}"/>
              </a:ext>
            </a:extLst>
          </p:cNvPr>
          <p:cNvSpPr txBox="1"/>
          <p:nvPr/>
        </p:nvSpPr>
        <p:spPr>
          <a:xfrm>
            <a:off x="838200" y="1227436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Main Repository:</a:t>
            </a:r>
            <a:endParaRPr lang="en-US" dirty="0">
              <a:solidFill>
                <a:srgbClr val="0563C1"/>
              </a:solidFill>
              <a:latin typeface="Segoe UI" panose="020B0502040204020203" pitchFamily="34" charset="0"/>
              <a:cs typeface="Segoe UI" panose="020B0502040204020203" pitchFamily="34" charset="0"/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https://github.com/RajeshRamadas/yolov8-model-optimization/tree/main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Knowledge distillation: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https://github.com/RajeshRamadas/yolov8-model-optimization/tree/main/02-Implementation/knowledge_distillation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Application: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https://github.com/RajeshRamadas/highway-vehicle-tracker/tree/75d96c9aa849d52c155dc343237ff121f7ebbb99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Report &amp; Documentation 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https://github.com/RajeshRamadas/yolov8-model-optimization/tree/main/01-Project-management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Dataset: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https://universe.roboflow.com/roboflow-100/vehicles-q0x2v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A20FBD6F-FD9C-0725-2B11-20388D64CE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6C652EA5-E94A-FBAB-CFFA-97694049F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</p:spTree>
    <p:extLst>
      <p:ext uri="{BB962C8B-B14F-4D97-AF65-F5344CB8AC3E}">
        <p14:creationId xmlns:p14="http://schemas.microsoft.com/office/powerpoint/2010/main" val="12958639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B4B78813-B944-6965-AD19-AA035DCA1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DE73E8F-1DB4-D601-094E-5429CDE7F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9207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2363</Words>
  <Application>Microsoft Office PowerPoint</Application>
  <PresentationFormat>Widescreen</PresentationFormat>
  <Paragraphs>394</Paragraphs>
  <Slides>29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29</vt:i4>
      </vt:variant>
    </vt:vector>
  </HeadingPairs>
  <TitlesOfParts>
    <vt:vector size="38" baseType="lpstr">
      <vt:lpstr>Abadi</vt:lpstr>
      <vt:lpstr>-apple-system</vt:lpstr>
      <vt:lpstr>Arial</vt:lpstr>
      <vt:lpstr>Calibri</vt:lpstr>
      <vt:lpstr>Calibri Light</vt:lpstr>
      <vt:lpstr>Courier New</vt:lpstr>
      <vt:lpstr>Segoe UI</vt:lpstr>
      <vt:lpstr>Office Theme</vt:lpstr>
      <vt:lpstr>1_Office Theme</vt:lpstr>
      <vt:lpstr>    </vt:lpstr>
      <vt:lpstr>Research Overview </vt:lpstr>
      <vt:lpstr>    </vt:lpstr>
      <vt:lpstr>    </vt:lpstr>
      <vt:lpstr>  </vt:lpstr>
      <vt:lpstr>PowerPoint Presentation</vt:lpstr>
      <vt:lpstr>PowerPoint Presentation</vt:lpstr>
      <vt:lpstr>PowerPoint Presentation</vt:lpstr>
      <vt:lpstr>  </vt:lpstr>
      <vt:lpstr>        </vt:lpstr>
      <vt:lpstr>    </vt:lpstr>
      <vt:lpstr> 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Yolov8n Custom Config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Demo : Highway Vehicle Tracking  </vt:lpstr>
      <vt:lpstr>Repository 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Enhancing Machine Learning Development  Efficiency through DevOps and MLOps   Master of computer science   Student:   Rajesh Kumar Ramadas rajesh-kumar.ramadas@iu-study.org  Matriculation:   92125100 Course name                           Master Thesis University Supervisor:  Dr. Aditya Mushyam     aditya.mushyam@iu.org Submission Date:</dc:title>
  <dc:creator>R, Rajesh Kumar</dc:creator>
  <cp:lastModifiedBy>R, Rajesh Kumar</cp:lastModifiedBy>
  <cp:revision>425</cp:revision>
  <dcterms:created xsi:type="dcterms:W3CDTF">2025-01-17T06:21:01Z</dcterms:created>
  <dcterms:modified xsi:type="dcterms:W3CDTF">2025-06-01T14:30:19Z</dcterms:modified>
</cp:coreProperties>
</file>