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0"/>
  </p:notesMasterIdLst>
  <p:sldIdLst>
    <p:sldId id="257" r:id="rId3"/>
    <p:sldId id="334" r:id="rId4"/>
    <p:sldId id="345" r:id="rId5"/>
    <p:sldId id="346" r:id="rId6"/>
    <p:sldId id="347" r:id="rId7"/>
    <p:sldId id="349" r:id="rId8"/>
    <p:sldId id="367" r:id="rId9"/>
    <p:sldId id="365" r:id="rId10"/>
    <p:sldId id="361" r:id="rId11"/>
    <p:sldId id="368" r:id="rId12"/>
    <p:sldId id="329" r:id="rId13"/>
    <p:sldId id="348" r:id="rId14"/>
    <p:sldId id="338" r:id="rId15"/>
    <p:sldId id="340" r:id="rId16"/>
    <p:sldId id="341" r:id="rId17"/>
    <p:sldId id="351" r:id="rId18"/>
    <p:sldId id="360" r:id="rId19"/>
    <p:sldId id="362" r:id="rId20"/>
    <p:sldId id="364" r:id="rId21"/>
    <p:sldId id="355" r:id="rId22"/>
    <p:sldId id="353" r:id="rId23"/>
    <p:sldId id="356" r:id="rId24"/>
    <p:sldId id="354" r:id="rId25"/>
    <p:sldId id="352" r:id="rId26"/>
    <p:sldId id="343" r:id="rId27"/>
    <p:sldId id="344" r:id="rId28"/>
    <p:sldId id="32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43C1D3-2637-7076-86B7-ADEE06D1A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5" y="2102780"/>
            <a:ext cx="1219767" cy="28286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DAE2F3-F6EE-18F1-6B96-AF1EE8E01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697" y="1321820"/>
            <a:ext cx="1372363" cy="9272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D0BE11-9FC9-F497-938F-03D42650B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2749" y="2515471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A132B7-BA2E-C766-32F4-92E9BD1E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29" y="3729198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 useBgFill="1">
        <p:nvSpPr>
          <p:cNvPr id="24" name="Left Brace 23">
            <a:extLst>
              <a:ext uri="{FF2B5EF4-FFF2-40B4-BE49-F238E27FC236}">
                <a16:creationId xmlns:a16="http://schemas.microsoft.com/office/drawing/2014/main" id="{C160F9AC-98D3-BF34-14DA-E9A1F14640FE}"/>
              </a:ext>
            </a:extLst>
          </p:cNvPr>
          <p:cNvSpPr/>
          <p:nvPr/>
        </p:nvSpPr>
        <p:spPr>
          <a:xfrm>
            <a:off x="2439687" y="1229905"/>
            <a:ext cx="969674" cy="4732273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E0339A-22C7-4C14-3F91-C748C33AABBD}"/>
              </a:ext>
            </a:extLst>
          </p:cNvPr>
          <p:cNvSpPr txBox="1"/>
          <p:nvPr/>
        </p:nvSpPr>
        <p:spPr>
          <a:xfrm rot="16200000">
            <a:off x="-198918" y="3347383"/>
            <a:ext cx="1382110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search_space.json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C77BD-CE43-21DC-B5D7-E788AE0805CD}"/>
              </a:ext>
            </a:extLst>
          </p:cNvPr>
          <p:cNvSpPr txBox="1"/>
          <p:nvPr/>
        </p:nvSpPr>
        <p:spPr>
          <a:xfrm rot="16200000">
            <a:off x="2595681" y="3300093"/>
            <a:ext cx="1287532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trial_configs.json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B22467-39A7-B73E-A865-58F747961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662" y="3729198"/>
            <a:ext cx="3827709" cy="2079069"/>
          </a:xfrm>
          <a:prstGeom prst="rect">
            <a:avLst/>
          </a:prstGeom>
        </p:spPr>
      </p:pic>
      <p:sp useBgFill="1">
        <p:nvSpPr>
          <p:cNvPr id="29" name="Left Brace 28">
            <a:extLst>
              <a:ext uri="{FF2B5EF4-FFF2-40B4-BE49-F238E27FC236}">
                <a16:creationId xmlns:a16="http://schemas.microsoft.com/office/drawing/2014/main" id="{5CE16F9C-A956-FB67-B9C5-57C3AE474F7F}"/>
              </a:ext>
            </a:extLst>
          </p:cNvPr>
          <p:cNvSpPr/>
          <p:nvPr/>
        </p:nvSpPr>
        <p:spPr>
          <a:xfrm>
            <a:off x="5479393" y="1700784"/>
            <a:ext cx="969674" cy="4005072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A23C7-2409-857A-7D5E-3C06EC8F4D7A}"/>
              </a:ext>
            </a:extLst>
          </p:cNvPr>
          <p:cNvSpPr txBox="1"/>
          <p:nvPr/>
        </p:nvSpPr>
        <p:spPr>
          <a:xfrm rot="16200000">
            <a:off x="7006920" y="4630232"/>
            <a:ext cx="1653017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A883909-E5B8-0174-955B-7AAA782238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9329" y="4914080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7D40BD4-EC2C-CB55-480C-C34311BD91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4662" y="1569705"/>
            <a:ext cx="3827709" cy="1859295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FA0138C-09E8-053A-A8B0-1700FE9B2BD7}"/>
              </a:ext>
            </a:extLst>
          </p:cNvPr>
          <p:cNvSpPr txBox="1"/>
          <p:nvPr/>
        </p:nvSpPr>
        <p:spPr>
          <a:xfrm rot="16200000">
            <a:off x="7235772" y="2407676"/>
            <a:ext cx="1241045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Yolov8n  Config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620BBA7-0193-DC2B-17B4-EADEB0D06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0046" y="4313043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A48BC75-B4D3-3717-3F68-20C68A3163D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75999"/>
          <a:stretch/>
        </p:blipFill>
        <p:spPr>
          <a:xfrm>
            <a:off x="6267944" y="2014994"/>
            <a:ext cx="1288569" cy="11245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8169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621770B-A395-5BD0-992B-2ED22ABA011B}"/>
              </a:ext>
            </a:extLst>
          </p:cNvPr>
          <p:cNvSpPr/>
          <p:nvPr/>
        </p:nvSpPr>
        <p:spPr>
          <a:xfrm>
            <a:off x="5742432" y="2306484"/>
            <a:ext cx="6007608" cy="224028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1026F-DF40-2E5B-7989-8AFED6781E7D}"/>
              </a:ext>
            </a:extLst>
          </p:cNvPr>
          <p:cNvSpPr txBox="1"/>
          <p:nvPr/>
        </p:nvSpPr>
        <p:spPr>
          <a:xfrm>
            <a:off x="838200" y="1377789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(mAP50-95)</a:t>
            </a:r>
          </a:p>
          <a:p>
            <a:pPr algn="l"/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Primary metric: Mean Average Precision at </a:t>
            </a:r>
            <a:r>
              <a:rPr lang="en-US" sz="11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IoU</a:t>
            </a: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thresholds 0.5-0.95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0.0 - 1.0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1.0 (highest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Directly measures detection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5C9E7F-CD17-3CFB-1527-AC226E4B7D68}"/>
              </a:ext>
            </a:extLst>
          </p:cNvPr>
          <p:cNvSpPr txBox="1"/>
          <p:nvPr/>
        </p:nvSpPr>
        <p:spPr>
          <a:xfrm>
            <a:off x="838200" y="2695313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Inference Speed (FPS)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Frames processed per second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0.3 (moderate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Real-time deployment capability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17689-1D69-4A13-5735-4CCC681274CE}"/>
              </a:ext>
            </a:extLst>
          </p:cNvPr>
          <p:cNvSpPr txBox="1"/>
          <p:nvPr/>
        </p:nvSpPr>
        <p:spPr>
          <a:xfrm>
            <a:off x="838200" y="4012837"/>
            <a:ext cx="4200144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 Size (MB)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Model file size in megabytes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(smaller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0.2 (lower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Memory usage and deployment efficiency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48EAC0-17B8-52C9-E6BC-51197790731B}"/>
              </a:ext>
            </a:extLst>
          </p:cNvPr>
          <p:cNvSpPr txBox="1"/>
          <p:nvPr/>
        </p:nvSpPr>
        <p:spPr>
          <a:xfrm>
            <a:off x="7330006" y="2398921"/>
            <a:ext cx="35859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Combined Score Calculation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B103D-FA36-24B1-ECB6-E60AC0A0C9C3}"/>
              </a:ext>
            </a:extLst>
          </p:cNvPr>
          <p:cNvSpPr txBox="1"/>
          <p:nvPr/>
        </p:nvSpPr>
        <p:spPr>
          <a:xfrm>
            <a:off x="5973318" y="2844544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Combined Score = (1.0 × norm_mAP) + (0.3 × norm_FPS) + (0.2 × norm_Size)</a:t>
            </a:r>
            <a:endParaRPr lang="en-US" sz="1200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118743-BA1B-DE37-1AAE-1F9AA5878E14}"/>
              </a:ext>
            </a:extLst>
          </p:cNvPr>
          <p:cNvSpPr txBox="1"/>
          <p:nvPr/>
        </p:nvSpPr>
        <p:spPr>
          <a:xfrm>
            <a:off x="5973318" y="3459458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=&gt; Weight: 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35F9DB-171B-FB5B-9719-3BDA87D94178}"/>
              </a:ext>
            </a:extLst>
          </p:cNvPr>
          <p:cNvSpPr txBox="1"/>
          <p:nvPr/>
        </p:nvSpPr>
        <p:spPr>
          <a:xfrm>
            <a:off x="5973318" y="3152001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Speed =&gt; Weight: 0.3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4AE790-799F-0A86-78DF-18B79F1763E3}"/>
              </a:ext>
            </a:extLst>
          </p:cNvPr>
          <p:cNvSpPr txBox="1"/>
          <p:nvPr/>
        </p:nvSpPr>
        <p:spPr>
          <a:xfrm>
            <a:off x="5987360" y="3753052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Size =&gt;  Weight: 0.2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B73D80-D2FD-E9AC-0D10-009BDEFED738}"/>
              </a:ext>
            </a:extLst>
          </p:cNvPr>
          <p:cNvSpPr txBox="1"/>
          <p:nvPr/>
        </p:nvSpPr>
        <p:spPr>
          <a:xfrm>
            <a:off x="5927598" y="4100187"/>
            <a:ext cx="562127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0" i="1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*All metrics normalized to 0-1 scale for fair comparison</a:t>
            </a:r>
            <a:endParaRPr lang="en-US" sz="105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E5233-EC65-9635-CF63-DF428697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254" y="1060196"/>
            <a:ext cx="5958897" cy="13564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5859B6-204D-29B5-2CDB-CAC4F53C1294}"/>
              </a:ext>
            </a:extLst>
          </p:cNvPr>
          <p:cNvSpPr txBox="1"/>
          <p:nvPr/>
        </p:nvSpPr>
        <p:spPr>
          <a:xfrm>
            <a:off x="1620255" y="4084209"/>
            <a:ext cx="5958896" cy="101566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Key Trade-offs Observed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4 wins with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optimal balance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: 73% accuracy, 142 FPS, 38MB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2 has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highest accuracy (76%)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6x larger size and slower inference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Trials 5 &amp; 0 are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smallest/fastest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with unacceptable accuracy loss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Architecture parameters significantly impact the accuracy-speed-size triangle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57D500-B7C8-D6D8-A193-35A41895D29E}"/>
              </a:ext>
            </a:extLst>
          </p:cNvPr>
          <p:cNvSpPr txBox="1"/>
          <p:nvPr/>
        </p:nvSpPr>
        <p:spPr>
          <a:xfrm>
            <a:off x="1620255" y="2479869"/>
            <a:ext cx="4716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b="1" dirty="0">
                <a:solidFill>
                  <a:srgbClr val="002060"/>
                </a:solidFill>
                <a:latin typeface="Segoe UI" panose="020B0502040204020203" pitchFamily="34" charset="0"/>
              </a:rPr>
              <a:t>Step-by-Step Calculation for Trial 4</a:t>
            </a: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mAP50-95: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norm_mAP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0.7309 (already normalized)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FPS: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norm_FPS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min(141.64 / 100, 1.0) = min(1.4164, 1.0) = 1.0000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Size (smaller is better):</a:t>
            </a:r>
            <a:endParaRPr lang="en-US" sz="600" u="sng" dirty="0">
              <a:solidFill>
                <a:srgbClr val="002060"/>
              </a:solidFill>
              <a:latin typeface="Courier New" panose="02070309020205020404" pitchFamily="49" charset="0"/>
            </a:endParaRPr>
          </a:p>
          <a:p>
            <a:r>
              <a:rPr lang="nl-NL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norm_Size </a:t>
            </a:r>
            <a:r>
              <a:rPr lang="nl-NL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max(0, 1.0 - min(37.80 / 100, 0.9))</a:t>
            </a:r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         = max(0, 1.0 - min(0.378, 0.9)) = max(0, 1.0 - 0.378) = 0.6220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Combined Score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(1.0 × 0.7309) + (0.3 × 1.0000) + (0.2 × 0.6220)</a:t>
            </a: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	    = 0.7309 + 0.3000 + 0.1244 = 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1.1553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228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B5AFC-4439-9324-A934-8663EBDC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56" y="2749006"/>
            <a:ext cx="9208732" cy="163448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9295B-4E57-4488-CFE3-E28C1B480BE4}"/>
              </a:ext>
            </a:extLst>
          </p:cNvPr>
          <p:cNvCxnSpPr>
            <a:cxnSpLocks/>
          </p:cNvCxnSpPr>
          <p:nvPr/>
        </p:nvCxnSpPr>
        <p:spPr>
          <a:xfrm>
            <a:off x="948113" y="2742633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6F0DAE-658F-B55F-709C-862691434925}"/>
              </a:ext>
            </a:extLst>
          </p:cNvPr>
          <p:cNvSpPr txBox="1"/>
          <p:nvPr/>
        </p:nvSpPr>
        <p:spPr>
          <a:xfrm>
            <a:off x="4887178" y="4528007"/>
            <a:ext cx="1382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FILE : DATA.YAML</a:t>
            </a:r>
          </a:p>
        </p:txBody>
      </p:sp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9D57A3-2AC6-2DAD-12A8-583233106B29}"/>
              </a:ext>
            </a:extLst>
          </p:cNvPr>
          <p:cNvSpPr txBox="1"/>
          <p:nvPr/>
        </p:nvSpPr>
        <p:spPr>
          <a:xfrm>
            <a:off x="2004528" y="5191397"/>
            <a:ext cx="12875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Confusion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955D1-1CED-DCBF-1955-1D6B5A76C1AE}"/>
              </a:ext>
            </a:extLst>
          </p:cNvPr>
          <p:cNvSpPr txBox="1"/>
          <p:nvPr/>
        </p:nvSpPr>
        <p:spPr>
          <a:xfrm>
            <a:off x="7807920" y="5191397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80" y="2336641"/>
            <a:ext cx="4605440" cy="230272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02" y="2296883"/>
            <a:ext cx="3176314" cy="2382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A29FB-825B-10C9-4694-A1470693F83C}"/>
              </a:ext>
            </a:extLst>
          </p:cNvPr>
          <p:cNvSpPr txBox="1"/>
          <p:nvPr/>
        </p:nvSpPr>
        <p:spPr>
          <a:xfrm>
            <a:off x="5457132" y="4872696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FFE59D8B-C835-15ED-5348-E7444B0FD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5184" y="2336639"/>
            <a:ext cx="3454082" cy="230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868" y="2474007"/>
            <a:ext cx="3085338" cy="2314004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4176" y="2474007"/>
            <a:ext cx="4395216" cy="2197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F0BC5C-C5D2-AA86-E5E4-CB82E055C78D}"/>
              </a:ext>
            </a:extLst>
          </p:cNvPr>
          <p:cNvSpPr txBox="1"/>
          <p:nvPr/>
        </p:nvSpPr>
        <p:spPr>
          <a:xfrm>
            <a:off x="5649936" y="5098484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461E02D3-812A-2351-D1E6-F101E63B2B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915" y="2442137"/>
            <a:ext cx="3344217" cy="2229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254" y="2316880"/>
            <a:ext cx="2974457" cy="2230843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946" y="2316880"/>
            <a:ext cx="4699518" cy="23497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5CBA4A-1EBA-DFE9-8530-3340F65F8A75}"/>
              </a:ext>
            </a:extLst>
          </p:cNvPr>
          <p:cNvSpPr txBox="1"/>
          <p:nvPr/>
        </p:nvSpPr>
        <p:spPr>
          <a:xfrm>
            <a:off x="5345634" y="5095995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4" name="Picture 13" descr="A graph of different colored lines">
            <a:extLst>
              <a:ext uri="{FF2B5EF4-FFF2-40B4-BE49-F238E27FC236}">
                <a16:creationId xmlns:a16="http://schemas.microsoft.com/office/drawing/2014/main" id="{08C1C247-31A2-A6EF-6AE7-8AD11B437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4699" y="2332235"/>
            <a:ext cx="3333387" cy="222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354062" cy="173507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2695</Words>
  <Application>Microsoft Office PowerPoint</Application>
  <PresentationFormat>Widescreen</PresentationFormat>
  <Paragraphs>424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465</cp:revision>
  <dcterms:created xsi:type="dcterms:W3CDTF">2025-01-17T06:21:01Z</dcterms:created>
  <dcterms:modified xsi:type="dcterms:W3CDTF">2025-06-06T20:04:00Z</dcterms:modified>
</cp:coreProperties>
</file>