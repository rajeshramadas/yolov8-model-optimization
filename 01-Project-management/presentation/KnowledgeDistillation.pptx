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2"/>
  </p:notesMasterIdLst>
  <p:sldIdLst>
    <p:sldId id="257" r:id="rId3"/>
    <p:sldId id="333" r:id="rId4"/>
    <p:sldId id="334" r:id="rId5"/>
    <p:sldId id="335" r:id="rId6"/>
    <p:sldId id="336" r:id="rId7"/>
    <p:sldId id="339" r:id="rId8"/>
    <p:sldId id="328" r:id="rId9"/>
    <p:sldId id="337" r:id="rId10"/>
    <p:sldId id="325" r:id="rId11"/>
    <p:sldId id="338" r:id="rId12"/>
    <p:sldId id="340" r:id="rId13"/>
    <p:sldId id="341" r:id="rId14"/>
    <p:sldId id="329" r:id="rId15"/>
    <p:sldId id="330" r:id="rId16"/>
    <p:sldId id="342" r:id="rId17"/>
    <p:sldId id="324" r:id="rId18"/>
    <p:sldId id="327" r:id="rId19"/>
    <p:sldId id="343" r:id="rId20"/>
    <p:sldId id="32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28.png"/><Relationship Id="rId7" Type="http://schemas.openxmlformats.org/officeDocument/2006/relationships/image" Target="../media/image15.png"/><Relationship Id="rId12" Type="http://schemas.openxmlformats.org/officeDocument/2006/relationships/image" Target="../media/image1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1.png"/><Relationship Id="rId11" Type="http://schemas.openxmlformats.org/officeDocument/2006/relationships/image" Target="../media/image17.png"/><Relationship Id="rId5" Type="http://schemas.openxmlformats.org/officeDocument/2006/relationships/image" Target="../media/image30.svg"/><Relationship Id="rId10" Type="http://schemas.openxmlformats.org/officeDocument/2006/relationships/image" Target="../media/image14.svg"/><Relationship Id="rId4" Type="http://schemas.openxmlformats.org/officeDocument/2006/relationships/image" Target="../media/image29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7" Type="http://schemas.openxmlformats.org/officeDocument/2006/relationships/image" Target="../media/image14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268512" y="1933351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Enhancing Machine Learning Development </a:t>
            </a:r>
            <a:br>
              <a:rPr lang="en-US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b="1" i="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/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/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591036" y="3602038"/>
            <a:ext cx="9654968" cy="2382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512" dirty="0">
                <a:latin typeface="Calibri" panose="020F0502020204030204" pitchFamily="34" charset="0"/>
                <a:cs typeface="Calibri" panose="020F0502020204030204" pitchFamily="34" charset="0"/>
              </a:rPr>
              <a:t>Student:			 Rajesh Kumar Ramadas</a:t>
            </a:r>
            <a:endParaRPr lang="en-US" sz="1512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Matriculation:			 92125100</a:t>
            </a:r>
            <a:r>
              <a:rPr lang="de-DE" sz="1512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Course Of Study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University Supervisor:		</a:t>
            </a:r>
            <a:r>
              <a:rPr lang="en-US" sz="1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Dr. Aditya </a:t>
            </a:r>
            <a:r>
              <a:rPr lang="en-US" sz="1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Mushyam</a:t>
            </a:r>
            <a:endParaRPr lang="en-US" sz="1512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Course Name 			</a:t>
            </a:r>
            <a:r>
              <a:rPr lang="en-US" sz="1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Master Thesis </a:t>
            </a:r>
            <a:r>
              <a:rPr lang="de-DE" sz="1512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endParaRPr lang="en-US" sz="1512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Submission Date:  		</a:t>
            </a:r>
            <a:r>
              <a:rPr lang="en-US" sz="140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January 2025</a:t>
            </a:r>
            <a:endParaRPr lang="en-US" sz="1512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926392" y="1123527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F4304747-450B-7676-5739-D9AD6BBC3112}"/>
              </a:ext>
            </a:extLst>
          </p:cNvPr>
          <p:cNvSpPr/>
          <p:nvPr/>
        </p:nvSpPr>
        <p:spPr>
          <a:xfrm>
            <a:off x="8299634" y="1989857"/>
            <a:ext cx="2408232" cy="282505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DA795F3-9209-CE11-AFE9-EF8847F17466}"/>
              </a:ext>
            </a:extLst>
          </p:cNvPr>
          <p:cNvSpPr/>
          <p:nvPr/>
        </p:nvSpPr>
        <p:spPr>
          <a:xfrm>
            <a:off x="5820060" y="1989857"/>
            <a:ext cx="2408232" cy="28250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6D455B2-9008-7A7C-CA69-55975EA95200}"/>
              </a:ext>
            </a:extLst>
          </p:cNvPr>
          <p:cNvSpPr/>
          <p:nvPr/>
        </p:nvSpPr>
        <p:spPr>
          <a:xfrm>
            <a:off x="3335434" y="1989857"/>
            <a:ext cx="2408232" cy="28250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B77593C-5DAA-B3CF-59A0-8F5733687FAE}"/>
              </a:ext>
            </a:extLst>
          </p:cNvPr>
          <p:cNvSpPr/>
          <p:nvPr/>
        </p:nvSpPr>
        <p:spPr>
          <a:xfrm>
            <a:off x="839874" y="1989857"/>
            <a:ext cx="2408232" cy="28250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FF00"/>
              </a:highlight>
            </a:endParaRPr>
          </a:p>
        </p:txBody>
      </p:sp>
      <p:pic>
        <p:nvPicPr>
          <p:cNvPr id="13" name="Picture 1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5A3F451-0B86-2802-A030-EEEACEF48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0541" y="5145856"/>
            <a:ext cx="584321" cy="584321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3431827" y="2951946"/>
            <a:ext cx="22531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Research Focus: </a:t>
            </a:r>
            <a:r>
              <a:rPr lang="en-US" sz="1400" dirty="0"/>
              <a:t>Knowledge Distillation for Edge-Optimized Object Detection in MLOps Pipelines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972115" y="2991320"/>
            <a:ext cx="2197762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Problem Statement: </a:t>
            </a:r>
            <a:r>
              <a:rPr lang="en-US" sz="1400" dirty="0"/>
              <a:t>Large-scale ML models (YOLOv8x) are computationally expensive and unsuitable for real-time edge deployment in highway vehicle tracking systems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5952744" y="2934580"/>
            <a:ext cx="227554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Key Question: </a:t>
            </a:r>
            <a:r>
              <a:rPr lang="en-US" sz="1400" dirty="0"/>
              <a:t>How can knowledge distillation enable efficient model compression while maintaining detection accuracy for production vehicle tracking applications?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8427140" y="2925542"/>
            <a:ext cx="223617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Case Study:</a:t>
            </a:r>
            <a:r>
              <a:rPr lang="en-US" sz="1400" dirty="0"/>
              <a:t> Highway Vehicle Tracker using YOLOv8 knowledge distillation with automated MLOps deployment pipeline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1E40AF"/>
                </a:solidFill>
                <a:latin typeface="-apple-system"/>
              </a:rPr>
              <a:t>Research Overview</a:t>
            </a:r>
            <a:br>
              <a:rPr lang="en-US" sz="1000" b="1" dirty="0">
                <a:solidFill>
                  <a:srgbClr val="1E40AF"/>
                </a:solidFill>
                <a:latin typeface="-apple-system"/>
              </a:rPr>
            </a:br>
            <a:endParaRPr lang="en-US" sz="2000" b="1" dirty="0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pic>
        <p:nvPicPr>
          <p:cNvPr id="21" name="Graphic 20" descr="Question mark with solid fill">
            <a:extLst>
              <a:ext uri="{FF2B5EF4-FFF2-40B4-BE49-F238E27FC236}">
                <a16:creationId xmlns:a16="http://schemas.microsoft.com/office/drawing/2014/main" id="{93C0C6FE-7F4F-8304-AC69-CDB9F100EE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82163" y="2105518"/>
            <a:ext cx="810874" cy="810874"/>
          </a:xfrm>
          <a:prstGeom prst="rect">
            <a:avLst/>
          </a:prstGeom>
        </p:spPr>
      </p:pic>
      <p:pic>
        <p:nvPicPr>
          <p:cNvPr id="24" name="Graphic 23" descr="Flask with solid fill">
            <a:extLst>
              <a:ext uri="{FF2B5EF4-FFF2-40B4-BE49-F238E27FC236}">
                <a16:creationId xmlns:a16="http://schemas.microsoft.com/office/drawing/2014/main" id="{B06BAA89-E19A-C5DB-A69A-A1C497FD18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73264" y="2132950"/>
            <a:ext cx="801630" cy="801630"/>
          </a:xfrm>
          <a:prstGeom prst="rect">
            <a:avLst/>
          </a:prstGeom>
        </p:spPr>
      </p:pic>
      <p:pic>
        <p:nvPicPr>
          <p:cNvPr id="26" name="Graphic 25" descr="Iceberg with solid fill">
            <a:extLst>
              <a:ext uri="{FF2B5EF4-FFF2-40B4-BE49-F238E27FC236}">
                <a16:creationId xmlns:a16="http://schemas.microsoft.com/office/drawing/2014/main" id="{BD9E33F6-59FE-E51F-090D-EE717629F72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59248" y="2132950"/>
            <a:ext cx="823497" cy="823497"/>
          </a:xfrm>
          <a:prstGeom prst="rect">
            <a:avLst/>
          </a:prstGeom>
        </p:spPr>
      </p:pic>
      <p:pic>
        <p:nvPicPr>
          <p:cNvPr id="28" name="Graphic 27" descr="Open book with solid fill">
            <a:extLst>
              <a:ext uri="{FF2B5EF4-FFF2-40B4-BE49-F238E27FC236}">
                <a16:creationId xmlns:a16="http://schemas.microsoft.com/office/drawing/2014/main" id="{4AE036C7-07C5-64D1-B265-C656B42655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40076" y="2108970"/>
            <a:ext cx="816572" cy="816572"/>
          </a:xfrm>
          <a:prstGeom prst="rect">
            <a:avLst/>
          </a:prstGeom>
        </p:spPr>
      </p:pic>
      <p:pic>
        <p:nvPicPr>
          <p:cNvPr id="34" name="Graphic 33" descr="Research with solid fill">
            <a:extLst>
              <a:ext uri="{FF2B5EF4-FFF2-40B4-BE49-F238E27FC236}">
                <a16:creationId xmlns:a16="http://schemas.microsoft.com/office/drawing/2014/main" id="{56225839-08B8-46DB-1078-2AEF18AC6FE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11260" y="327579"/>
            <a:ext cx="426940" cy="426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399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5031" y="17933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561020" y="49585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464889" y="28602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774659" y="18490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2954309" y="39094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1E40AF"/>
                </a:solidFill>
                <a:latin typeface="-apple-system"/>
              </a:rPr>
              <a:t>Agenda</a:t>
            </a:r>
            <a:br>
              <a:rPr lang="en-US" sz="1000" b="1" dirty="0">
                <a:solidFill>
                  <a:srgbClr val="1E40AF"/>
                </a:solidFill>
                <a:latin typeface="-apple-system"/>
              </a:rPr>
            </a:br>
            <a:endParaRPr lang="en-US" sz="2000" b="1" dirty="0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41668" y="28851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51438" y="18669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1437" y="39254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06070" y="4914642"/>
            <a:ext cx="558819" cy="558819"/>
          </a:xfrm>
          <a:prstGeom prst="rect">
            <a:avLst/>
          </a:prstGeom>
        </p:spPr>
      </p:pic>
      <p:pic>
        <p:nvPicPr>
          <p:cNvPr id="19" name="Graphic 18" descr="Clipboard with solid fill">
            <a:extLst>
              <a:ext uri="{FF2B5EF4-FFF2-40B4-BE49-F238E27FC236}">
                <a16:creationId xmlns:a16="http://schemas.microsoft.com/office/drawing/2014/main" id="{0F77AFEB-C8DB-571A-D2F7-42486171724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00506" y="355981"/>
            <a:ext cx="365126" cy="36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06E1D04E-40FF-5A18-9123-3D203CDDF1FB}"/>
              </a:ext>
            </a:extLst>
          </p:cNvPr>
          <p:cNvSpPr/>
          <p:nvPr/>
        </p:nvSpPr>
        <p:spPr>
          <a:xfrm>
            <a:off x="1144524" y="4338813"/>
            <a:ext cx="4464424" cy="430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1E40AF"/>
                </a:solidFill>
                <a:latin typeface="-apple-system"/>
              </a:rPr>
              <a:t>   Challenge  </a:t>
            </a:r>
            <a:br>
              <a:rPr lang="en-US" sz="1000" b="1" dirty="0">
                <a:solidFill>
                  <a:srgbClr val="1E40AF"/>
                </a:solidFill>
                <a:latin typeface="-apple-system"/>
              </a:rPr>
            </a:br>
            <a:endParaRPr lang="en-US" sz="2000" b="1" dirty="0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C6BED39B-4E22-2CDB-886A-ED37863804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958" y="313128"/>
            <a:ext cx="460614" cy="460614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7546D1D1-5491-A030-D6C4-79087A931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778938-B666-61D0-898F-83D5A6A2972B}"/>
              </a:ext>
            </a:extLst>
          </p:cNvPr>
          <p:cNvSpPr txBox="1"/>
          <p:nvPr/>
        </p:nvSpPr>
        <p:spPr>
          <a:xfrm>
            <a:off x="1144525" y="1368976"/>
            <a:ext cx="42336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u="sng" dirty="0"/>
              <a:t>Model Performance vs Efficiency Trade-off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CF22AB-C805-88CA-A288-B3756B3EBE6B}"/>
              </a:ext>
            </a:extLst>
          </p:cNvPr>
          <p:cNvSpPr txBox="1"/>
          <p:nvPr/>
        </p:nvSpPr>
        <p:spPr>
          <a:xfrm>
            <a:off x="1144524" y="2229409"/>
            <a:ext cx="392125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Large models (like YOLOv8x)</a:t>
            </a:r>
            <a:r>
              <a:rPr lang="en-US" sz="1400" dirty="0"/>
              <a:t> achieve high accuracy but are computationally expensive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Small models (like YOLOv8n)</a:t>
            </a:r>
            <a:r>
              <a:rPr lang="en-US" sz="1400" dirty="0"/>
              <a:t> are deployment-friendly but sacrifice accuracy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Traditional approach forces you to choose one or the other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572B4A-6C95-2040-5EDD-74F365D16C43}"/>
              </a:ext>
            </a:extLst>
          </p:cNvPr>
          <p:cNvSpPr txBox="1"/>
          <p:nvPr/>
        </p:nvSpPr>
        <p:spPr>
          <a:xfrm>
            <a:off x="1144524" y="4367094"/>
            <a:ext cx="46435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</a:rPr>
              <a:t>YOLOv8x: 95% accuracy, 130MB, 18 FPS → Too slow for real-time</a:t>
            </a:r>
          </a:p>
          <a:p>
            <a:r>
              <a:rPr lang="en-US" sz="900" dirty="0">
                <a:latin typeface="Courier New" panose="02070309020205020404" pitchFamily="49" charset="0"/>
              </a:rPr>
              <a:t>YOLOv8n: 85% accuracy, 6MB, 30+ FPS → Fast but less accurate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47E9E9C-659B-3FE5-2B16-58FFCC42A137}"/>
              </a:ext>
            </a:extLst>
          </p:cNvPr>
          <p:cNvCxnSpPr>
            <a:cxnSpLocks/>
          </p:cNvCxnSpPr>
          <p:nvPr/>
        </p:nvCxnSpPr>
        <p:spPr>
          <a:xfrm>
            <a:off x="5869436" y="2060020"/>
            <a:ext cx="0" cy="2201084"/>
          </a:xfrm>
          <a:prstGeom prst="line">
            <a:avLst/>
          </a:prstGeom>
          <a:ln>
            <a:prstDash val="lgDashDot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3" name="Graphic 42" descr="Right pointing backhand index with solid fill">
            <a:extLst>
              <a:ext uri="{FF2B5EF4-FFF2-40B4-BE49-F238E27FC236}">
                <a16:creationId xmlns:a16="http://schemas.microsoft.com/office/drawing/2014/main" id="{2803A077-A2E0-B944-6000-96C0DE83E0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2598" y="4367094"/>
            <a:ext cx="369333" cy="369333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49813AD4-EE3A-DEFA-719E-B8C51BFB4545}"/>
              </a:ext>
            </a:extLst>
          </p:cNvPr>
          <p:cNvSpPr txBox="1"/>
          <p:nvPr/>
        </p:nvSpPr>
        <p:spPr>
          <a:xfrm>
            <a:off x="6418546" y="1368976"/>
            <a:ext cx="40942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u="sng" dirty="0"/>
              <a:t>Traditional Approach Limitations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82019C-4811-6036-FE54-F1ED35555EFB}"/>
              </a:ext>
            </a:extLst>
          </p:cNvPr>
          <p:cNvSpPr txBox="1"/>
          <p:nvPr/>
        </p:nvSpPr>
        <p:spPr>
          <a:xfrm>
            <a:off x="6512813" y="2099216"/>
            <a:ext cx="4094223" cy="600164"/>
          </a:xfrm>
          <a:prstGeom prst="rect">
            <a:avLst/>
          </a:prstGeom>
          <a:solidFill>
            <a:schemeClr val="bg1"/>
          </a:solidFill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/>
              <a:t>High Accuracy ≠ Fast Inference</a:t>
            </a:r>
          </a:p>
          <a:p>
            <a:r>
              <a:rPr lang="en-US" sz="1100" b="1" dirty="0"/>
              <a:t>Problem:</a:t>
            </a:r>
            <a:r>
              <a:rPr lang="en-US" sz="1100" dirty="0"/>
              <a:t> Large models that achieve state-of-the-art accuracy are inherently slow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18ABFD3-B1BF-7714-E5AC-5A277927E30E}"/>
              </a:ext>
            </a:extLst>
          </p:cNvPr>
          <p:cNvSpPr txBox="1"/>
          <p:nvPr/>
        </p:nvSpPr>
        <p:spPr>
          <a:xfrm>
            <a:off x="6527697" y="2759836"/>
            <a:ext cx="4094224" cy="600164"/>
          </a:xfrm>
          <a:prstGeom prst="rect">
            <a:avLst/>
          </a:prstGeom>
          <a:noFill/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/>
              <a:t>Manual Design = Suboptimal</a:t>
            </a:r>
          </a:p>
          <a:p>
            <a:r>
              <a:rPr lang="en-US" sz="1100" b="1" dirty="0"/>
              <a:t>Problem:</a:t>
            </a:r>
            <a:r>
              <a:rPr lang="en-US" sz="1100" dirty="0"/>
              <a:t> Human-designed architectures are based on intuition, not systematic optimization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0F4103C-12BB-6CC6-883A-A6D685905992}"/>
              </a:ext>
            </a:extLst>
          </p:cNvPr>
          <p:cNvSpPr txBox="1"/>
          <p:nvPr/>
        </p:nvSpPr>
        <p:spPr>
          <a:xfrm>
            <a:off x="6531274" y="3410414"/>
            <a:ext cx="4087070" cy="600164"/>
          </a:xfrm>
          <a:prstGeom prst="rect">
            <a:avLst/>
          </a:prstGeom>
          <a:noFill/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/>
              <a:t>One-Size-Fits-All ≠ Optimal</a:t>
            </a:r>
          </a:p>
          <a:p>
            <a:r>
              <a:rPr lang="en-US" sz="1100" b="1" dirty="0"/>
              <a:t>Problem:</a:t>
            </a:r>
            <a:r>
              <a:rPr lang="en-US" sz="1100" dirty="0"/>
              <a:t> Same model architecture used regardless of deployment constraints</a:t>
            </a:r>
          </a:p>
        </p:txBody>
      </p:sp>
    </p:spTree>
    <p:extLst>
      <p:ext uri="{BB962C8B-B14F-4D97-AF65-F5344CB8AC3E}">
        <p14:creationId xmlns:p14="http://schemas.microsoft.com/office/powerpoint/2010/main" val="3225106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E1489051-2350-B484-5E43-8A7E4B8FB854}"/>
              </a:ext>
            </a:extLst>
          </p:cNvPr>
          <p:cNvSpPr/>
          <p:nvPr/>
        </p:nvSpPr>
        <p:spPr>
          <a:xfrm>
            <a:off x="2068945" y="1690687"/>
            <a:ext cx="8072582" cy="309082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1E40AF"/>
                </a:solidFill>
                <a:latin typeface="-apple-system"/>
                <a:ea typeface="+mj-ea"/>
                <a:cs typeface="+mj-cs"/>
              </a:rPr>
              <a:t>Performance-Efficiency Trade-off: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A696F0-0ADB-C040-6EC6-E690C3AFDA0B}"/>
              </a:ext>
            </a:extLst>
          </p:cNvPr>
          <p:cNvSpPr txBox="1"/>
          <p:nvPr/>
        </p:nvSpPr>
        <p:spPr>
          <a:xfrm>
            <a:off x="3763961" y="2513681"/>
            <a:ext cx="1725104" cy="738664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400" b="1" dirty="0"/>
              <a:t>Traditional:</a:t>
            </a:r>
            <a:br>
              <a:rPr lang="en-US" sz="1400" b="1" dirty="0"/>
            </a:br>
            <a:r>
              <a:rPr lang="en-US" sz="1400" dirty="0"/>
              <a:t>Choose between accuracy OR speed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63CA9F-7D50-CE52-6AE9-A7C0242BBC9E}"/>
              </a:ext>
            </a:extLst>
          </p:cNvPr>
          <p:cNvSpPr txBox="1"/>
          <p:nvPr/>
        </p:nvSpPr>
        <p:spPr>
          <a:xfrm>
            <a:off x="6723975" y="2526860"/>
            <a:ext cx="1621409" cy="738664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400" b="1" dirty="0"/>
              <a:t>KD + NAS:</a:t>
            </a:r>
            <a:br>
              <a:rPr lang="en-US" sz="1400" b="1" dirty="0"/>
            </a:br>
            <a:r>
              <a:rPr lang="en-US" sz="1400" dirty="0"/>
              <a:t>Get BOTH accuracy AND speed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9D1DB79-E542-7FAB-A1E5-13C81619C2D3}"/>
              </a:ext>
            </a:extLst>
          </p:cNvPr>
          <p:cNvCxnSpPr/>
          <p:nvPr/>
        </p:nvCxnSpPr>
        <p:spPr>
          <a:xfrm>
            <a:off x="5625951" y="2892440"/>
            <a:ext cx="942680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8D0B557-4ECE-81B7-3B0C-4EF3F46F91F6}"/>
              </a:ext>
            </a:extLst>
          </p:cNvPr>
          <p:cNvSpPr txBox="1"/>
          <p:nvPr/>
        </p:nvSpPr>
        <p:spPr>
          <a:xfrm>
            <a:off x="3377946" y="3767834"/>
            <a:ext cx="1421090" cy="430887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100" b="1" i="0" dirty="0">
                <a:effectLst/>
                <a:latin typeface="Segoe UI" panose="020B0502040204020203" pitchFamily="34" charset="0"/>
              </a:rPr>
              <a:t>95% → 92%</a:t>
            </a:r>
          </a:p>
          <a:p>
            <a:pPr algn="ctr"/>
            <a:r>
              <a:rPr lang="en-US" sz="1100" b="0" i="0" dirty="0">
                <a:effectLst/>
                <a:latin typeface="Segoe UI" panose="020B0502040204020203" pitchFamily="34" charset="0"/>
              </a:rPr>
              <a:t>Accuracy Retention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05AD29-4899-357F-FADF-B528D4FF7B85}"/>
              </a:ext>
            </a:extLst>
          </p:cNvPr>
          <p:cNvSpPr txBox="1"/>
          <p:nvPr/>
        </p:nvSpPr>
        <p:spPr>
          <a:xfrm>
            <a:off x="5219904" y="3764908"/>
            <a:ext cx="1621409" cy="430887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100" b="1" i="0">
                <a:effectLst/>
                <a:latin typeface="Segoe UI" panose="020B0502040204020203" pitchFamily="34" charset="0"/>
              </a:defRPr>
            </a:lvl1pPr>
          </a:lstStyle>
          <a:p>
            <a:r>
              <a:rPr lang="en-US" dirty="0"/>
              <a:t>18 → 30+</a:t>
            </a:r>
          </a:p>
          <a:p>
            <a:r>
              <a:rPr lang="en-US" dirty="0"/>
              <a:t>FPS Improvement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501783-1D06-EB63-1450-1AE006EC444D}"/>
              </a:ext>
            </a:extLst>
          </p:cNvPr>
          <p:cNvSpPr txBox="1"/>
          <p:nvPr/>
        </p:nvSpPr>
        <p:spPr>
          <a:xfrm>
            <a:off x="7283392" y="3764907"/>
            <a:ext cx="1289115" cy="430887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100" b="1" i="0">
                <a:effectLst/>
                <a:latin typeface="Segoe UI" panose="020B0502040204020203" pitchFamily="34" charset="0"/>
              </a:defRPr>
            </a:lvl1pPr>
          </a:lstStyle>
          <a:p>
            <a:r>
              <a:rPr lang="en-US" dirty="0"/>
              <a:t>130MB → 6MB</a:t>
            </a:r>
          </a:p>
          <a:p>
            <a:r>
              <a:rPr lang="en-US" dirty="0"/>
              <a:t>Size Reduction</a:t>
            </a:r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F4DE54FC-83B2-2D10-F138-8F91DD3C0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8BD2F4-E479-83BF-8DAB-8BF7E6B6422B}"/>
              </a:ext>
            </a:extLst>
          </p:cNvPr>
          <p:cNvSpPr txBox="1"/>
          <p:nvPr/>
        </p:nvSpPr>
        <p:spPr>
          <a:xfrm>
            <a:off x="2854035" y="1880528"/>
            <a:ext cx="76477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effectLst/>
                <a:latin typeface="Courier New" panose="02070309020205020404" pitchFamily="49" charset="0"/>
              </a:rPr>
              <a:t>Breaking the Performance-Efficiency Trade-off: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457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945573" y="57415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1E40AF"/>
                </a:solidFill>
                <a:latin typeface="-apple-system"/>
              </a:rPr>
              <a:t>Neural Architecture Search (NAS)</a:t>
            </a:r>
          </a:p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6EBC5D-F1CA-18A5-7F84-CD5201194139}"/>
              </a:ext>
            </a:extLst>
          </p:cNvPr>
          <p:cNvSpPr/>
          <p:nvPr/>
        </p:nvSpPr>
        <p:spPr>
          <a:xfrm>
            <a:off x="2451701" y="1632866"/>
            <a:ext cx="1307592" cy="85953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0" i="0" dirty="0">
                <a:solidFill>
                  <a:srgbClr val="FFFFFF"/>
                </a:solidFill>
                <a:effectLst/>
              </a:rPr>
              <a:t>Search Space</a:t>
            </a:r>
            <a:br>
              <a:rPr lang="en-US" sz="1200" dirty="0"/>
            </a:br>
            <a:r>
              <a:rPr lang="en-US" sz="1200" b="0" i="0" dirty="0">
                <a:solidFill>
                  <a:srgbClr val="FFFFFF"/>
                </a:solidFill>
                <a:effectLst/>
              </a:rPr>
              <a:t>Definition</a:t>
            </a:r>
            <a:endParaRPr lang="en-US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815C4C-B59A-9E3F-2978-2DE03EA58B5C}"/>
              </a:ext>
            </a:extLst>
          </p:cNvPr>
          <p:cNvSpPr/>
          <p:nvPr/>
        </p:nvSpPr>
        <p:spPr>
          <a:xfrm>
            <a:off x="4250021" y="1632866"/>
            <a:ext cx="1307592" cy="85953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Architecture</a:t>
            </a:r>
            <a:br>
              <a:rPr lang="en-US" sz="1200" dirty="0">
                <a:solidFill>
                  <a:srgbClr val="FFFFFF"/>
                </a:solidFill>
              </a:rPr>
            </a:br>
            <a:r>
              <a:rPr lang="en-US" sz="1200" dirty="0">
                <a:solidFill>
                  <a:srgbClr val="FFFFFF"/>
                </a:solidFill>
              </a:rPr>
              <a:t>Sampling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AEB751-5093-E40B-805D-39719F803E05}"/>
              </a:ext>
            </a:extLst>
          </p:cNvPr>
          <p:cNvSpPr/>
          <p:nvPr/>
        </p:nvSpPr>
        <p:spPr>
          <a:xfrm>
            <a:off x="6048341" y="1632866"/>
            <a:ext cx="1307592" cy="85953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Training &amp;</a:t>
            </a:r>
            <a:br>
              <a:rPr lang="en-US" sz="1200" dirty="0">
                <a:solidFill>
                  <a:srgbClr val="FFFFFF"/>
                </a:solidFill>
              </a:rPr>
            </a:br>
            <a:r>
              <a:rPr lang="en-US" sz="1200" dirty="0">
                <a:solidFill>
                  <a:srgbClr val="FFFFFF"/>
                </a:solidFill>
              </a:rPr>
              <a:t>Evaluation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51064D-ACD6-D805-2B65-7633AFB317BE}"/>
              </a:ext>
            </a:extLst>
          </p:cNvPr>
          <p:cNvSpPr/>
          <p:nvPr/>
        </p:nvSpPr>
        <p:spPr>
          <a:xfrm>
            <a:off x="7921337" y="1632866"/>
            <a:ext cx="1307592" cy="85953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Best Architecture</a:t>
            </a:r>
            <a:br>
              <a:rPr lang="en-US" sz="1200" dirty="0">
                <a:solidFill>
                  <a:srgbClr val="FFFFFF"/>
                </a:solidFill>
              </a:rPr>
            </a:br>
            <a:r>
              <a:rPr lang="en-US" sz="1200" dirty="0">
                <a:solidFill>
                  <a:srgbClr val="FFFFFF"/>
                </a:solidFill>
              </a:rPr>
              <a:t>Selection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DF9BE5-FBFC-93AC-FE7E-100FECB73FD0}"/>
              </a:ext>
            </a:extLst>
          </p:cNvPr>
          <p:cNvCxnSpPr/>
          <p:nvPr/>
        </p:nvCxnSpPr>
        <p:spPr>
          <a:xfrm>
            <a:off x="2853440" y="2756559"/>
            <a:ext cx="5870448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itle 21">
            <a:extLst>
              <a:ext uri="{FF2B5EF4-FFF2-40B4-BE49-F238E27FC236}">
                <a16:creationId xmlns:a16="http://schemas.microsoft.com/office/drawing/2014/main" id="{02BADA62-F628-D63A-FBEE-7108FE1D8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6964" y="307303"/>
            <a:ext cx="10515600" cy="1325563"/>
          </a:xfrm>
        </p:spPr>
        <p:txBody>
          <a:bodyPr/>
          <a:lstStyle/>
          <a:p>
            <a:r>
              <a:rPr lang="en-US" dirty="0"/>
              <a:t>   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8A3EDCF-C759-6F65-A8A5-32390E73C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458" y="3056323"/>
            <a:ext cx="1943200" cy="274334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9150FA0-9B59-7950-2964-D325DC385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422" y="3076009"/>
            <a:ext cx="4016224" cy="2368908"/>
          </a:xfrm>
          <a:prstGeom prst="rect">
            <a:avLst/>
          </a:prstGeom>
        </p:spPr>
      </p:pic>
      <p:pic>
        <p:nvPicPr>
          <p:cNvPr id="36" name="Graphic 35" descr="Magnifying glass with solid fill">
            <a:extLst>
              <a:ext uri="{FF2B5EF4-FFF2-40B4-BE49-F238E27FC236}">
                <a16:creationId xmlns:a16="http://schemas.microsoft.com/office/drawing/2014/main" id="{202BA034-8570-62F1-2A62-DF5819849F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0977" y="391490"/>
            <a:ext cx="547723" cy="54772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B539E847-E95F-0537-7786-6C24B925B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6593" y="3073045"/>
            <a:ext cx="3142743" cy="2838713"/>
          </a:xfrm>
          <a:prstGeom prst="rect">
            <a:avLst/>
          </a:prstGeom>
        </p:spPr>
      </p:pic>
      <p:pic>
        <p:nvPicPr>
          <p:cNvPr id="42" name="Graphic 41" descr="Badge 1 with solid fill">
            <a:extLst>
              <a:ext uri="{FF2B5EF4-FFF2-40B4-BE49-F238E27FC236}">
                <a16:creationId xmlns:a16="http://schemas.microsoft.com/office/drawing/2014/main" id="{08D658B8-BA34-3488-9324-12FB039CA4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7293" y="5872443"/>
            <a:ext cx="523221" cy="523221"/>
          </a:xfrm>
          <a:prstGeom prst="rect">
            <a:avLst/>
          </a:prstGeom>
        </p:spPr>
      </p:pic>
      <p:pic>
        <p:nvPicPr>
          <p:cNvPr id="45" name="Graphic 44" descr="Badge with solid fill">
            <a:extLst>
              <a:ext uri="{FF2B5EF4-FFF2-40B4-BE49-F238E27FC236}">
                <a16:creationId xmlns:a16="http://schemas.microsoft.com/office/drawing/2014/main" id="{B867B08E-8181-826B-4124-2D0EF46696E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65443" y="5911758"/>
            <a:ext cx="523221" cy="523221"/>
          </a:xfrm>
          <a:prstGeom prst="rect">
            <a:avLst/>
          </a:prstGeom>
        </p:spPr>
      </p:pic>
      <p:pic>
        <p:nvPicPr>
          <p:cNvPr id="46" name="Graphic 45" descr="Badge 3 with solid fill">
            <a:extLst>
              <a:ext uri="{FF2B5EF4-FFF2-40B4-BE49-F238E27FC236}">
                <a16:creationId xmlns:a16="http://schemas.microsoft.com/office/drawing/2014/main" id="{55D8DEBF-FDA0-06C9-00FD-53A67348156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665079" y="5911758"/>
            <a:ext cx="523222" cy="52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921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3200" b="1">
                <a:solidFill>
                  <a:srgbClr val="1E40AF"/>
                </a:solidFill>
                <a:latin typeface="-apple-system"/>
              </a:rPr>
              <a:t>Neural Architecture Search (NAS) : Best Config</a:t>
            </a:r>
            <a:endParaRPr lang="en-US" sz="32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/>
              <a:t>Master Thesis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7971E4-1E2E-0D37-67A4-6E8002185B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299" t="36822" r="-750" b="28612"/>
          <a:stretch/>
        </p:blipFill>
        <p:spPr>
          <a:xfrm>
            <a:off x="5859626" y="2549763"/>
            <a:ext cx="4190764" cy="13902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DE8FAC9-68EB-55E9-4B3D-3BAF6EA08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680" y="1714279"/>
            <a:ext cx="2667137" cy="3206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769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1E40AF"/>
                </a:solidFill>
                <a:latin typeface="-apple-system"/>
              </a:rPr>
              <a:t>Knowledge Distillation</a:t>
            </a:r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F4DE54FC-83B2-2D10-F138-8F91DD3C0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758" y="1593562"/>
            <a:ext cx="10515600" cy="1325563"/>
          </a:xfrm>
        </p:spPr>
        <p:txBody>
          <a:bodyPr/>
          <a:lstStyle/>
          <a:p>
            <a:r>
              <a:rPr lang="en-US" dirty="0"/>
              <a:t>  </a:t>
            </a:r>
            <a:br>
              <a:rPr lang="en-US" b="1" dirty="0"/>
            </a:br>
            <a:endParaRPr lang="en-US" dirty="0"/>
          </a:p>
        </p:txBody>
      </p:sp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11BF609-4E06-C625-E21F-8F7A0F3EED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877" y="365125"/>
            <a:ext cx="483696" cy="48369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8E1804-B998-6BF5-7116-0777EBF7A782}"/>
              </a:ext>
            </a:extLst>
          </p:cNvPr>
          <p:cNvSpPr txBox="1"/>
          <p:nvPr/>
        </p:nvSpPr>
        <p:spPr>
          <a:xfrm>
            <a:off x="1028700" y="2115618"/>
            <a:ext cx="2655750" cy="461665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200" b="1" dirty="0"/>
              <a:t>Teacher Model: YOLOv8x </a:t>
            </a:r>
          </a:p>
          <a:p>
            <a:r>
              <a:rPr lang="en-US" sz="1200" b="1" dirty="0"/>
              <a:t>Large, Accurate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AE51EB-521F-5968-1833-2F07B14EFC08}"/>
              </a:ext>
            </a:extLst>
          </p:cNvPr>
          <p:cNvSpPr txBox="1"/>
          <p:nvPr/>
        </p:nvSpPr>
        <p:spPr>
          <a:xfrm>
            <a:off x="1010229" y="2929041"/>
            <a:ext cx="2674221" cy="461665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200" b="1" dirty="0"/>
              <a:t>Knowledge Transfer</a:t>
            </a:r>
          </a:p>
          <a:p>
            <a:r>
              <a:rPr lang="en-US" sz="1200" b="1" dirty="0"/>
              <a:t>Soft Targets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F4293C-39C6-83C8-D6B9-F35587B19F39}"/>
              </a:ext>
            </a:extLst>
          </p:cNvPr>
          <p:cNvSpPr txBox="1"/>
          <p:nvPr/>
        </p:nvSpPr>
        <p:spPr>
          <a:xfrm>
            <a:off x="1010229" y="3704556"/>
            <a:ext cx="2674220" cy="461665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200" b="1" dirty="0"/>
              <a:t>Student Model: Custom YOLOv8</a:t>
            </a:r>
          </a:p>
          <a:p>
            <a:r>
              <a:rPr lang="en-US" sz="1200" b="1" dirty="0"/>
              <a:t>Small, Efficient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43BCF8-C30B-B4F5-3C08-D690A32C2C7D}"/>
              </a:ext>
            </a:extLst>
          </p:cNvPr>
          <p:cNvCxnSpPr>
            <a:cxnSpLocks/>
          </p:cNvCxnSpPr>
          <p:nvPr/>
        </p:nvCxnSpPr>
        <p:spPr>
          <a:xfrm>
            <a:off x="2253068" y="2651171"/>
            <a:ext cx="0" cy="2209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FDA4052-D0AB-E97E-DC24-7B08E4F89116}"/>
              </a:ext>
            </a:extLst>
          </p:cNvPr>
          <p:cNvCxnSpPr>
            <a:cxnSpLocks/>
          </p:cNvCxnSpPr>
          <p:nvPr/>
        </p:nvCxnSpPr>
        <p:spPr>
          <a:xfrm>
            <a:off x="2253068" y="3438208"/>
            <a:ext cx="0" cy="2209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3EDFD478-DFAB-3112-FEB6-B4D4B598C3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7636" y="2198785"/>
            <a:ext cx="4076497" cy="1776557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3EF635-BC66-44BD-294E-2C67D312811F}"/>
              </a:ext>
            </a:extLst>
          </p:cNvPr>
          <p:cNvCxnSpPr>
            <a:cxnSpLocks/>
          </p:cNvCxnSpPr>
          <p:nvPr/>
        </p:nvCxnSpPr>
        <p:spPr>
          <a:xfrm flipV="1">
            <a:off x="3684449" y="2456873"/>
            <a:ext cx="1303187" cy="472168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410204E-5456-84DF-74A0-8F49596A1A30}"/>
              </a:ext>
            </a:extLst>
          </p:cNvPr>
          <p:cNvCxnSpPr>
            <a:cxnSpLocks/>
          </p:cNvCxnSpPr>
          <p:nvPr/>
        </p:nvCxnSpPr>
        <p:spPr>
          <a:xfrm>
            <a:off x="3684449" y="3390706"/>
            <a:ext cx="1303187" cy="31385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B130316-83A4-173A-5341-0E00459F387A}"/>
              </a:ext>
            </a:extLst>
          </p:cNvPr>
          <p:cNvSpPr txBox="1"/>
          <p:nvPr/>
        </p:nvSpPr>
        <p:spPr>
          <a:xfrm>
            <a:off x="9173567" y="1464051"/>
            <a:ext cx="225366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</a:rPr>
              <a:t>qi </a:t>
            </a:r>
            <a:r>
              <a:rPr lang="en-US" altLang="en-US" sz="1100" dirty="0">
                <a:solidFill>
                  <a:schemeClr val="bg1">
                    <a:lumMod val="75000"/>
                  </a:schemeClr>
                </a:solidFill>
              </a:rPr>
              <a:t>= probability for class </a:t>
            </a:r>
            <a:r>
              <a:rPr lang="en-US" altLang="en-US" sz="1100" dirty="0" err="1">
                <a:solidFill>
                  <a:schemeClr val="bg1">
                    <a:lumMod val="75000"/>
                  </a:schemeClr>
                </a:solidFill>
              </a:rPr>
              <a:t>i</a:t>
            </a:r>
            <a:r>
              <a:rPr lang="en-US" altLang="en-US" sz="1100" dirty="0">
                <a:solidFill>
                  <a:schemeClr val="bg1">
                    <a:lumMod val="75000"/>
                  </a:schemeClr>
                </a:solidFill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100" dirty="0">
                <a:solidFill>
                  <a:schemeClr val="bg1">
                    <a:lumMod val="75000"/>
                  </a:schemeClr>
                </a:solidFill>
              </a:rPr>
              <a:t>zi = logit (raw output) for class </a:t>
            </a:r>
            <a:r>
              <a:rPr lang="en-US" altLang="en-US" sz="1100" dirty="0" err="1">
                <a:solidFill>
                  <a:schemeClr val="bg1">
                    <a:lumMod val="75000"/>
                  </a:schemeClr>
                </a:solidFill>
              </a:rPr>
              <a:t>i</a:t>
            </a:r>
            <a:r>
              <a:rPr lang="en-US" altLang="en-US" sz="1100" dirty="0">
                <a:solidFill>
                  <a:schemeClr val="bg1">
                    <a:lumMod val="75000"/>
                  </a:schemeClr>
                </a:solidFill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100" dirty="0">
                <a:solidFill>
                  <a:schemeClr val="bg1">
                    <a:lumMod val="75000"/>
                  </a:schemeClr>
                </a:solidFill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100" dirty="0" err="1">
                <a:solidFill>
                  <a:schemeClr val="bg1">
                    <a:lumMod val="75000"/>
                  </a:schemeClr>
                </a:solidFill>
              </a:rPr>
              <a:t>Σj</a:t>
            </a:r>
            <a:r>
              <a:rPr lang="en-US" altLang="en-US" sz="1100" dirty="0">
                <a:solidFill>
                  <a:schemeClr val="bg1">
                    <a:lumMod val="75000"/>
                  </a:schemeClr>
                </a:solidFill>
              </a:rPr>
              <a:t> = sum over all classes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45AAAB-1CCF-A7EA-F3E5-6CA1464E04FA}"/>
              </a:ext>
            </a:extLst>
          </p:cNvPr>
          <p:cNvSpPr txBox="1"/>
          <p:nvPr/>
        </p:nvSpPr>
        <p:spPr>
          <a:xfrm>
            <a:off x="9173567" y="3989260"/>
            <a:ext cx="2909454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</a:rPr>
              <a:t>α = weighting parameter (0 to 1)</a:t>
            </a: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</a:rPr>
              <a:t>Lhard = hard loss (cross-entropy with ground truth)</a:t>
            </a: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</a:rPr>
              <a:t>Lsoft = soft loss (KL divergence with teacher predictions)</a:t>
            </a: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</a:rPr>
              <a:t>(1−α) = complementary weight for soft loss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F722E9-1043-0C32-4B97-E12F14AB401F}"/>
              </a:ext>
            </a:extLst>
          </p:cNvPr>
          <p:cNvSpPr txBox="1"/>
          <p:nvPr/>
        </p:nvSpPr>
        <p:spPr>
          <a:xfrm>
            <a:off x="9173567" y="2266450"/>
            <a:ext cx="23875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accent1">
                    <a:lumMod val="75000"/>
                  </a:schemeClr>
                </a:solidFill>
              </a:rPr>
              <a:t>Temperature controls how "soft" or "hard" the teacher's predictions are, directly affecting how much knowledge can be transferred.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C0EC588-6C0F-A0B9-21C5-5F5D57700508}"/>
              </a:ext>
            </a:extLst>
          </p:cNvPr>
          <p:cNvCxnSpPr>
            <a:cxnSpLocks/>
          </p:cNvCxnSpPr>
          <p:nvPr/>
        </p:nvCxnSpPr>
        <p:spPr>
          <a:xfrm flipV="1">
            <a:off x="9064133" y="2180567"/>
            <a:ext cx="2480167" cy="27645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96A1447-8FDA-B1FD-BF4D-2EED7BDC00B0}"/>
              </a:ext>
            </a:extLst>
          </p:cNvPr>
          <p:cNvCxnSpPr>
            <a:cxnSpLocks/>
          </p:cNvCxnSpPr>
          <p:nvPr/>
        </p:nvCxnSpPr>
        <p:spPr>
          <a:xfrm flipV="1">
            <a:off x="9252779" y="3059935"/>
            <a:ext cx="2101021" cy="2455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6F44CD1F-0463-4FE0-0D58-E8040D27B187}"/>
              </a:ext>
            </a:extLst>
          </p:cNvPr>
          <p:cNvCxnSpPr>
            <a:cxnSpLocks/>
          </p:cNvCxnSpPr>
          <p:nvPr/>
        </p:nvCxnSpPr>
        <p:spPr>
          <a:xfrm flipV="1">
            <a:off x="9063205" y="3916792"/>
            <a:ext cx="2480167" cy="27645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FD2D6FF-32CC-0A1E-819A-F7508E07EE85}"/>
              </a:ext>
            </a:extLst>
          </p:cNvPr>
          <p:cNvSpPr txBox="1"/>
          <p:nvPr/>
        </p:nvSpPr>
        <p:spPr>
          <a:xfrm>
            <a:off x="9173567" y="3176259"/>
            <a:ext cx="2652021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accent1">
                    <a:lumMod val="75000"/>
                  </a:schemeClr>
                </a:solidFill>
              </a:rPr>
              <a:t>Alpha determines how much the student should trust the teacher versus the ground truth.</a:t>
            </a:r>
          </a:p>
        </p:txBody>
      </p:sp>
    </p:spTree>
    <p:extLst>
      <p:ext uri="{BB962C8B-B14F-4D97-AF65-F5344CB8AC3E}">
        <p14:creationId xmlns:p14="http://schemas.microsoft.com/office/powerpoint/2010/main" val="3264176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Knowledge Distillation Configuration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9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7A2DD2-E874-85DC-AB8A-09FAFF958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086" y="2053207"/>
            <a:ext cx="7186558" cy="2316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953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019626" y="2385476"/>
            <a:ext cx="4462290" cy="165699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4AF5AB6-DECD-602C-827C-E6873DB45E8C}"/>
              </a:ext>
            </a:extLst>
          </p:cNvPr>
          <p:cNvSpPr/>
          <p:nvPr/>
        </p:nvSpPr>
        <p:spPr>
          <a:xfrm>
            <a:off x="793930" y="3503962"/>
            <a:ext cx="5687142" cy="14966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897718" y="2135993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435208" y="1408177"/>
            <a:ext cx="6193178" cy="372160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1E40AF"/>
                </a:solidFill>
                <a:latin typeface="-apple-system"/>
              </a:rPr>
              <a:t>Knowledge Distillation : Temperature </a:t>
            </a:r>
          </a:p>
        </p:txBody>
      </p:sp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11BF609-4E06-C625-E21F-8F7A0F3EED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877" y="365125"/>
            <a:ext cx="483696" cy="4836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461877" y="1873745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</a:rPr>
              <a:t>softmax</a:t>
            </a:r>
            <a:r>
              <a:rPr lang="en-US" sz="1200" dirty="0">
                <a:solidFill>
                  <a:schemeClr val="bg1"/>
                </a:solidFill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818073" y="2165430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highlight>
                <a:srgbClr val="000000"/>
              </a:highligh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775758" y="2706484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462639" y="2417651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2. Apply Temperature Scaling: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490071" y="3249524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</a:rPr>
              <a:t>Softmax</a:t>
            </a:r>
            <a:r>
              <a:rPr lang="en-US" sz="1200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786852" y="3497962"/>
            <a:ext cx="565052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786852" y="4521841"/>
            <a:ext cx="60944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probabilities = [0.59, 0.28, 0.13] # Much softer!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1835277" y="1510551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019626" y="2523975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7088692" y="2882819"/>
            <a:ext cx="439322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5280660" y="1998711"/>
            <a:ext cx="5925312" cy="266610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1E40AF"/>
                </a:solidFill>
                <a:latin typeface="-apple-system"/>
              </a:rPr>
              <a:t>Knowledge Distillation : KL Divergence Formula </a:t>
            </a:r>
          </a:p>
        </p:txBody>
      </p:sp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11BF609-4E06-C625-E21F-8F7A0F3EED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877" y="365125"/>
            <a:ext cx="483696" cy="4836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38200" y="1219855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KL divergence measures </a:t>
            </a:r>
            <a:r>
              <a:rPr lang="en-US" b="1" dirty="0"/>
              <a:t>how different two probability distributions are</a:t>
            </a:r>
            <a:r>
              <a:rPr lang="en-US" dirty="0"/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1916049" y="2642401"/>
            <a:ext cx="2923794" cy="120386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/>
              <a:t>KL(P||Q) = </a:t>
            </a:r>
            <a:r>
              <a:rPr lang="el-GR" sz="1000" dirty="0"/>
              <a:t>Σ </a:t>
            </a:r>
            <a:r>
              <a:rPr lang="en-US" sz="1000" dirty="0"/>
              <a:t>P(x) × log(P(x)/Q(x))</a:t>
            </a:r>
          </a:p>
          <a:p>
            <a:endParaRPr lang="en-US" sz="1000" dirty="0"/>
          </a:p>
          <a:p>
            <a:r>
              <a:rPr lang="en-US" sz="1000" dirty="0"/>
              <a:t>P = target distribution (teacher probabilities)</a:t>
            </a:r>
          </a:p>
          <a:p>
            <a:r>
              <a:rPr lang="en-US" sz="1000" dirty="0"/>
              <a:t>Q = predicted distribution (student probabilities)</a:t>
            </a:r>
          </a:p>
          <a:p>
            <a:r>
              <a:rPr lang="en-US" sz="1000" dirty="0"/>
              <a:t>x = each possible outcome/class</a:t>
            </a:r>
          </a:p>
          <a:p>
            <a:r>
              <a:rPr lang="en-US" sz="1000" dirty="0"/>
              <a:t>Σ = sum over all classes</a:t>
            </a:r>
          </a:p>
          <a:p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1E40AF"/>
                </a:solidFill>
                <a:latin typeface="-apple-system"/>
              </a:rPr>
              <a:t>Knowledge Distillation : KL Divergence Calculation  </a:t>
            </a:r>
          </a:p>
        </p:txBody>
      </p:sp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11BF609-4E06-C625-E21F-8F7A0F3EED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877" y="365125"/>
            <a:ext cx="483696" cy="483696"/>
          </a:xfrm>
          <a:prstGeom prst="rect">
            <a:avLst/>
          </a:prstGeom>
        </p:spPr>
      </p:pic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638451" y="1790449"/>
            <a:ext cx="5204565" cy="349478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i="1" dirty="0">
                <a:solidFill>
                  <a:schemeClr val="bg1"/>
                </a:solidFill>
                <a:effectLst/>
              </a:rPr>
              <a:t># Teacher scaled: [2.5/2, 4.0/2, 1.2/2] = [1.25, 2.0, 0.6]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r>
              <a:rPr lang="en-US" sz="1000" i="1" dirty="0">
                <a:solidFill>
                  <a:schemeClr val="bg1"/>
                </a:solidFill>
                <a:effectLst/>
              </a:rPr>
              <a:t># Student scaled: [1.8/2, 3.2/2, 0.9/2] = [0.9, 1.6, 0.45]</a:t>
            </a:r>
          </a:p>
          <a:p>
            <a:endParaRPr lang="en-US" sz="1000" b="1" i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</a:endParaRPr>
          </a:p>
          <a:p>
            <a:r>
              <a:rPr lang="en-US" sz="1000" i="1" dirty="0">
                <a:solidFill>
                  <a:schemeClr val="bg1"/>
                </a:solidFill>
                <a:effectLst/>
              </a:rPr>
              <a:t># Teacher exponentials: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r>
              <a:rPr lang="en-US" sz="1000" i="1" dirty="0" err="1">
                <a:solidFill>
                  <a:schemeClr val="bg1"/>
                </a:solidFill>
              </a:rPr>
              <a:t>exp_t</a:t>
            </a:r>
            <a:r>
              <a:rPr lang="en-US" sz="1000" i="1" dirty="0">
                <a:solidFill>
                  <a:schemeClr val="bg1"/>
                </a:solidFill>
              </a:rPr>
              <a:t> = [exp(1.25), exp(2.0), exp(0.6)] = [3.49, 7.39, 1.82] </a:t>
            </a:r>
          </a:p>
          <a:p>
            <a:r>
              <a:rPr lang="en-US" sz="1000" i="1" dirty="0" err="1">
                <a:solidFill>
                  <a:schemeClr val="bg1"/>
                </a:solidFill>
              </a:rPr>
              <a:t>sum_t</a:t>
            </a:r>
            <a:r>
              <a:rPr lang="en-US" sz="1000" i="1" dirty="0">
                <a:solidFill>
                  <a:schemeClr val="bg1"/>
                </a:solidFill>
              </a:rPr>
              <a:t> = 3.49 + 7.39 + 1.82 = 12.70 </a:t>
            </a:r>
          </a:p>
          <a:p>
            <a:r>
              <a:rPr lang="en-US" sz="1000" i="1" dirty="0">
                <a:solidFill>
                  <a:schemeClr val="bg1"/>
                </a:solidFill>
              </a:rPr>
              <a:t># Teacher probabilities (P): </a:t>
            </a:r>
          </a:p>
          <a:p>
            <a:r>
              <a:rPr lang="en-US" sz="1000" i="1" dirty="0">
                <a:solidFill>
                  <a:schemeClr val="bg1"/>
                </a:solidFill>
              </a:rPr>
              <a:t>P = [3.49/12.70, 7.39/12.70, 1.82/12.70] = [0.275, 0.582, 0.143]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r>
              <a:rPr lang="en-US" sz="1000" i="1" dirty="0">
                <a:solidFill>
                  <a:schemeClr val="bg1"/>
                </a:solidFill>
              </a:rPr>
              <a:t># Student exponentials: </a:t>
            </a:r>
          </a:p>
          <a:p>
            <a:r>
              <a:rPr lang="en-US" sz="1000" i="1" dirty="0" err="1">
                <a:solidFill>
                  <a:schemeClr val="bg1"/>
                </a:solidFill>
              </a:rPr>
              <a:t>exp_s</a:t>
            </a:r>
            <a:r>
              <a:rPr lang="en-US" sz="1000" i="1" dirty="0">
                <a:solidFill>
                  <a:schemeClr val="bg1"/>
                </a:solidFill>
              </a:rPr>
              <a:t> = [exp(0.9), exp(1.6), exp(0.45)] = [2.46, 4.95, 1.57] </a:t>
            </a:r>
          </a:p>
          <a:p>
            <a:r>
              <a:rPr lang="en-US" sz="1000" i="1" dirty="0" err="1">
                <a:solidFill>
                  <a:schemeClr val="bg1"/>
                </a:solidFill>
              </a:rPr>
              <a:t>sum_s</a:t>
            </a:r>
            <a:r>
              <a:rPr lang="en-US" sz="1000" i="1" dirty="0">
                <a:solidFill>
                  <a:schemeClr val="bg1"/>
                </a:solidFill>
              </a:rPr>
              <a:t> = 2.46 + 4.95 + 1.57 = 8.98 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r>
              <a:rPr lang="en-US" sz="1000" i="1" dirty="0">
                <a:solidFill>
                  <a:schemeClr val="bg1"/>
                </a:solidFill>
              </a:rPr>
              <a:t># Student </a:t>
            </a:r>
            <a:r>
              <a:rPr lang="en-US" sz="1000" i="1" dirty="0" err="1">
                <a:solidFill>
                  <a:schemeClr val="bg1"/>
                </a:solidFill>
              </a:rPr>
              <a:t>log_softmax</a:t>
            </a:r>
            <a:r>
              <a:rPr lang="en-US" sz="1000" i="1" dirty="0">
                <a:solidFill>
                  <a:schemeClr val="bg1"/>
                </a:solidFill>
              </a:rPr>
              <a:t> (input): </a:t>
            </a:r>
          </a:p>
          <a:p>
            <a:r>
              <a:rPr lang="en-US" sz="1000" i="1" dirty="0" err="1">
                <a:solidFill>
                  <a:schemeClr val="bg1"/>
                </a:solidFill>
              </a:rPr>
              <a:t>log_softmax</a:t>
            </a:r>
            <a:r>
              <a:rPr lang="en-US" sz="1000" i="1" dirty="0">
                <a:solidFill>
                  <a:schemeClr val="bg1"/>
                </a:solidFill>
              </a:rPr>
              <a:t> = [0.9 - log(8.98), 1.6 - log(8.98), 0.45 - log(8.98)] </a:t>
            </a:r>
          </a:p>
          <a:p>
            <a:r>
              <a:rPr lang="en-US" sz="1000" i="1" dirty="0" err="1">
                <a:solidFill>
                  <a:schemeClr val="bg1"/>
                </a:solidFill>
              </a:rPr>
              <a:t>log_softmax</a:t>
            </a:r>
            <a:r>
              <a:rPr lang="en-US" sz="1000" i="1" dirty="0">
                <a:solidFill>
                  <a:schemeClr val="bg1"/>
                </a:solidFill>
              </a:rPr>
              <a:t> = [0.9 - 2.195, 1.6 - 2.195, 0.45 - 2.195] </a:t>
            </a:r>
          </a:p>
          <a:p>
            <a:r>
              <a:rPr lang="en-US" sz="1000" i="1" dirty="0" err="1">
                <a:solidFill>
                  <a:schemeClr val="bg1"/>
                </a:solidFill>
              </a:rPr>
              <a:t>log_softmax</a:t>
            </a:r>
            <a:r>
              <a:rPr lang="en-US" sz="1000" i="1" dirty="0">
                <a:solidFill>
                  <a:schemeClr val="bg1"/>
                </a:solidFill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019590" y="1790449"/>
            <a:ext cx="5204565" cy="349478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i="1" dirty="0">
                <a:solidFill>
                  <a:schemeClr val="bg1"/>
                </a:solidFill>
                <a:effectLst/>
              </a:rPr>
              <a:t># </a:t>
            </a:r>
            <a:r>
              <a:rPr lang="en-US" sz="1000" i="1" dirty="0" err="1">
                <a:solidFill>
                  <a:schemeClr val="bg1"/>
                </a:solidFill>
                <a:effectLst/>
              </a:rPr>
              <a:t>PyTorch</a:t>
            </a:r>
            <a:r>
              <a:rPr lang="en-US" sz="1000" i="1" dirty="0">
                <a:solidFill>
                  <a:schemeClr val="bg1"/>
                </a:solidFill>
                <a:effectLst/>
              </a:rPr>
              <a:t> formula: KL = </a:t>
            </a:r>
            <a:r>
              <a:rPr lang="el-GR" sz="1000" i="1" dirty="0">
                <a:solidFill>
                  <a:schemeClr val="bg1"/>
                </a:solidFill>
                <a:effectLst/>
              </a:rPr>
              <a:t>Σ </a:t>
            </a:r>
            <a:r>
              <a:rPr lang="en-US" sz="1000" i="1" dirty="0">
                <a:solidFill>
                  <a:schemeClr val="bg1"/>
                </a:solidFill>
                <a:effectLst/>
              </a:rPr>
              <a:t>target(x) × [log(target(x)) - input(x)]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i="1" dirty="0">
                <a:solidFill>
                  <a:schemeClr val="bg1"/>
                </a:solidFill>
                <a:effectLst/>
              </a:rPr>
              <a:t># For Car class:</a:t>
            </a:r>
          </a:p>
          <a:p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r>
              <a:rPr lang="en-US" sz="1000" dirty="0" err="1">
                <a:solidFill>
                  <a:schemeClr val="bg1"/>
                </a:solidFill>
              </a:rPr>
              <a:t>kl_car</a:t>
            </a:r>
            <a:r>
              <a:rPr lang="en-US" sz="1000" dirty="0">
                <a:solidFill>
                  <a:schemeClr val="bg1"/>
                </a:solidFill>
              </a:rPr>
              <a:t>     </a:t>
            </a:r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0.275</a:t>
            </a:r>
            <a:r>
              <a:rPr lang="en-US" sz="1000" dirty="0">
                <a:solidFill>
                  <a:schemeClr val="bg1"/>
                </a:solidFill>
              </a:rPr>
              <a:t> × </a:t>
            </a:r>
            <a:r>
              <a:rPr lang="en-US" sz="1000" dirty="0">
                <a:solidFill>
                  <a:schemeClr val="bg1"/>
                </a:solidFill>
                <a:effectLst/>
              </a:rPr>
              <a:t>[</a:t>
            </a:r>
            <a:r>
              <a:rPr lang="en-US" sz="1000" dirty="0">
                <a:solidFill>
                  <a:schemeClr val="bg1"/>
                </a:solidFill>
              </a:rPr>
              <a:t>log</a:t>
            </a:r>
            <a:r>
              <a:rPr lang="en-US" sz="1000" dirty="0">
                <a:solidFill>
                  <a:schemeClr val="bg1"/>
                </a:solidFill>
                <a:effectLst/>
              </a:rPr>
              <a:t>(0.275)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-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(-1.295)]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pPr lvl="1"/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0.275</a:t>
            </a:r>
            <a:r>
              <a:rPr lang="en-US" sz="1000" dirty="0">
                <a:solidFill>
                  <a:schemeClr val="bg1"/>
                </a:solidFill>
              </a:rPr>
              <a:t> × </a:t>
            </a:r>
            <a:r>
              <a:rPr lang="en-US" sz="1000" dirty="0">
                <a:solidFill>
                  <a:schemeClr val="bg1"/>
                </a:solidFill>
                <a:effectLst/>
              </a:rPr>
              <a:t>[-1.291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-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(-1.295)]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pPr lvl="1"/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0.275</a:t>
            </a:r>
            <a:r>
              <a:rPr lang="en-US" sz="1000" dirty="0">
                <a:solidFill>
                  <a:schemeClr val="bg1"/>
                </a:solidFill>
              </a:rPr>
              <a:t> × </a:t>
            </a:r>
            <a:r>
              <a:rPr lang="en-US" sz="1000" dirty="0">
                <a:solidFill>
                  <a:schemeClr val="bg1"/>
                </a:solidFill>
                <a:effectLst/>
              </a:rPr>
              <a:t>[-1.291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+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1.295]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pPr lvl="1"/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0.275</a:t>
            </a:r>
            <a:r>
              <a:rPr lang="en-US" sz="1000" dirty="0">
                <a:solidFill>
                  <a:schemeClr val="bg1"/>
                </a:solidFill>
              </a:rPr>
              <a:t> × </a:t>
            </a:r>
            <a:r>
              <a:rPr lang="en-US" sz="1000" dirty="0">
                <a:solidFill>
                  <a:schemeClr val="bg1"/>
                </a:solidFill>
                <a:effectLst/>
              </a:rPr>
              <a:t>0.004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0.0011</a:t>
            </a:r>
          </a:p>
          <a:p>
            <a:pPr lvl="1"/>
            <a:r>
              <a:rPr lang="en-US" sz="1000" dirty="0">
                <a:solidFill>
                  <a:schemeClr val="bg1"/>
                </a:solidFill>
              </a:rPr>
              <a:t># For Truck class:</a:t>
            </a:r>
            <a:endParaRPr lang="en-US" sz="1000" i="1" dirty="0">
              <a:solidFill>
                <a:schemeClr val="bg1"/>
              </a:solidFill>
            </a:endParaRPr>
          </a:p>
          <a:p>
            <a:r>
              <a:rPr lang="en-US" sz="1000" dirty="0" err="1">
                <a:solidFill>
                  <a:schemeClr val="bg1"/>
                </a:solidFill>
              </a:rPr>
              <a:t>kl_truck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0.582</a:t>
            </a:r>
            <a:r>
              <a:rPr lang="en-US" sz="1000" dirty="0">
                <a:solidFill>
                  <a:schemeClr val="bg1"/>
                </a:solidFill>
              </a:rPr>
              <a:t> × </a:t>
            </a:r>
            <a:r>
              <a:rPr lang="en-US" sz="1000" dirty="0">
                <a:solidFill>
                  <a:schemeClr val="bg1"/>
                </a:solidFill>
                <a:effectLst/>
              </a:rPr>
              <a:t>[</a:t>
            </a:r>
            <a:r>
              <a:rPr lang="en-US" sz="1000" dirty="0">
                <a:solidFill>
                  <a:schemeClr val="bg1"/>
                </a:solidFill>
              </a:rPr>
              <a:t>log</a:t>
            </a:r>
            <a:r>
              <a:rPr lang="en-US" sz="1000" dirty="0">
                <a:solidFill>
                  <a:schemeClr val="bg1"/>
                </a:solidFill>
                <a:effectLst/>
              </a:rPr>
              <a:t>(0.582)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-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(-0.595)]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pPr lvl="1"/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0.582</a:t>
            </a:r>
            <a:r>
              <a:rPr lang="en-US" sz="1000" dirty="0">
                <a:solidFill>
                  <a:schemeClr val="bg1"/>
                </a:solidFill>
              </a:rPr>
              <a:t> × </a:t>
            </a:r>
            <a:r>
              <a:rPr lang="en-US" sz="1000" dirty="0">
                <a:solidFill>
                  <a:schemeClr val="bg1"/>
                </a:solidFill>
                <a:effectLst/>
              </a:rPr>
              <a:t>[-0.541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-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(-0.595)]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pPr lvl="1"/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0.582</a:t>
            </a:r>
            <a:r>
              <a:rPr lang="en-US" sz="1000" dirty="0">
                <a:solidFill>
                  <a:schemeClr val="bg1"/>
                </a:solidFill>
              </a:rPr>
              <a:t> × </a:t>
            </a:r>
            <a:r>
              <a:rPr lang="en-US" sz="1000" dirty="0">
                <a:solidFill>
                  <a:schemeClr val="bg1"/>
                </a:solidFill>
                <a:effectLst/>
              </a:rPr>
              <a:t>[-0.541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+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0.595]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pPr lvl="1"/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0.582</a:t>
            </a:r>
            <a:r>
              <a:rPr lang="en-US" sz="1000" dirty="0">
                <a:solidFill>
                  <a:schemeClr val="bg1"/>
                </a:solidFill>
              </a:rPr>
              <a:t> × </a:t>
            </a:r>
            <a:r>
              <a:rPr lang="en-US" sz="1000" dirty="0">
                <a:solidFill>
                  <a:schemeClr val="bg1"/>
                </a:solidFill>
                <a:effectLst/>
              </a:rPr>
              <a:t>0.054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0.0314</a:t>
            </a:r>
          </a:p>
          <a:p>
            <a:pPr lvl="1"/>
            <a:endParaRPr lang="en-US" sz="1000" i="1" dirty="0">
              <a:solidFill>
                <a:schemeClr val="bg1"/>
              </a:solidFill>
            </a:endParaRPr>
          </a:p>
          <a:p>
            <a:pPr lvl="1"/>
            <a:r>
              <a:rPr lang="en-US" sz="1000" i="1" dirty="0">
                <a:solidFill>
                  <a:schemeClr val="bg1"/>
                </a:solidFill>
                <a:effectLst/>
              </a:rPr>
              <a:t># For Bus class: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r>
              <a:rPr lang="en-US" sz="1000" dirty="0" err="1">
                <a:solidFill>
                  <a:schemeClr val="bg1"/>
                </a:solidFill>
              </a:rPr>
              <a:t>kl_bus</a:t>
            </a:r>
            <a:r>
              <a:rPr lang="en-US" sz="1000" dirty="0">
                <a:solidFill>
                  <a:schemeClr val="bg1"/>
                </a:solidFill>
              </a:rPr>
              <a:t>    </a:t>
            </a:r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0.143</a:t>
            </a:r>
            <a:r>
              <a:rPr lang="en-US" sz="1000" dirty="0">
                <a:solidFill>
                  <a:schemeClr val="bg1"/>
                </a:solidFill>
              </a:rPr>
              <a:t> × </a:t>
            </a:r>
            <a:r>
              <a:rPr lang="en-US" sz="1000" dirty="0">
                <a:solidFill>
                  <a:schemeClr val="bg1"/>
                </a:solidFill>
                <a:effectLst/>
              </a:rPr>
              <a:t>[</a:t>
            </a:r>
            <a:r>
              <a:rPr lang="en-US" sz="1000" dirty="0">
                <a:solidFill>
                  <a:schemeClr val="bg1"/>
                </a:solidFill>
              </a:rPr>
              <a:t>log</a:t>
            </a:r>
            <a:r>
              <a:rPr lang="en-US" sz="1000" dirty="0">
                <a:solidFill>
                  <a:schemeClr val="bg1"/>
                </a:solidFill>
                <a:effectLst/>
              </a:rPr>
              <a:t>(0.143)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-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(-1.745)]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pPr lvl="1"/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0.143</a:t>
            </a:r>
            <a:r>
              <a:rPr lang="en-US" sz="1000" dirty="0">
                <a:solidFill>
                  <a:schemeClr val="bg1"/>
                </a:solidFill>
              </a:rPr>
              <a:t> × </a:t>
            </a:r>
            <a:r>
              <a:rPr lang="en-US" sz="1000" dirty="0">
                <a:solidFill>
                  <a:schemeClr val="bg1"/>
                </a:solidFill>
                <a:effectLst/>
              </a:rPr>
              <a:t>[-1.944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-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(-1.745)]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pPr lvl="1"/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0.143</a:t>
            </a:r>
            <a:r>
              <a:rPr lang="en-US" sz="1000" dirty="0">
                <a:solidFill>
                  <a:schemeClr val="bg1"/>
                </a:solidFill>
              </a:rPr>
              <a:t> × </a:t>
            </a:r>
            <a:r>
              <a:rPr lang="en-US" sz="1000" dirty="0">
                <a:solidFill>
                  <a:schemeClr val="bg1"/>
                </a:solidFill>
                <a:effectLst/>
              </a:rPr>
              <a:t>[-1.944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+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1.745]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pPr lvl="1"/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0.143</a:t>
            </a:r>
            <a:r>
              <a:rPr lang="en-US" sz="1000" dirty="0">
                <a:solidFill>
                  <a:schemeClr val="bg1"/>
                </a:solidFill>
              </a:rPr>
              <a:t> × </a:t>
            </a:r>
            <a:r>
              <a:rPr lang="en-US" sz="1000" dirty="0">
                <a:solidFill>
                  <a:schemeClr val="bg1"/>
                </a:solidFill>
                <a:effectLst/>
              </a:rPr>
              <a:t>(-0.199)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-0.0285</a:t>
            </a:r>
          </a:p>
          <a:p>
            <a:pPr lvl="1"/>
            <a:endParaRPr lang="en-US" sz="1000" i="1" dirty="0">
              <a:solidFill>
                <a:schemeClr val="bg1"/>
              </a:solidFill>
              <a:effectLst/>
            </a:endParaRPr>
          </a:p>
          <a:p>
            <a:r>
              <a:rPr lang="en-US" sz="1000" i="1" dirty="0">
                <a:solidFill>
                  <a:schemeClr val="bg1"/>
                </a:solidFill>
                <a:effectLst/>
              </a:rPr>
              <a:t># Total KL divergence: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r>
              <a:rPr lang="en-US" sz="1000" dirty="0">
                <a:solidFill>
                  <a:schemeClr val="bg1"/>
                </a:solidFill>
              </a:rPr>
              <a:t>KL </a:t>
            </a:r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0.0011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+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0.0314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+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(-0.0285)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=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lang="en-US" sz="1000" dirty="0">
                <a:solidFill>
                  <a:schemeClr val="bg1"/>
                </a:solidFill>
                <a:effectLst/>
              </a:rPr>
              <a:t>0.004</a:t>
            </a:r>
            <a:endParaRPr lang="en-US" sz="1000" i="1" dirty="0">
              <a:solidFill>
                <a:schemeClr val="bg1"/>
              </a:solidFill>
            </a:endParaRP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79122" y="537072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60940" y="5370721"/>
            <a:ext cx="523221" cy="52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YoloV8n Config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470B50-4742-57EA-E337-7EF457A72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102" y="1004048"/>
            <a:ext cx="5512083" cy="499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Knowledge Distillation Performance Comparison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ED50B0-36FD-6A28-AC69-694AFAD2A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6482" y="1294105"/>
            <a:ext cx="8153819" cy="9779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CDFC44-8C3B-32E0-454F-8397C61F8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482" y="2562112"/>
            <a:ext cx="4026107" cy="15113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8ACBFD-6F0A-0398-246E-C9E2E68AA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1883" y="4357333"/>
            <a:ext cx="4000706" cy="12065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96A1DA9-9D3C-5780-CF5C-F060BAB66D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6195" y="2970230"/>
            <a:ext cx="3778898" cy="225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419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908227" y="340258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1E40AF"/>
                </a:solidFill>
                <a:latin typeface="-apple-system"/>
              </a:rPr>
              <a:t>Jenkins Pipeline Implementation</a:t>
            </a:r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02BADA62-F628-D63A-FBEE-7108FE1D8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6964" y="307303"/>
            <a:ext cx="10515600" cy="1325563"/>
          </a:xfrm>
        </p:spPr>
        <p:txBody>
          <a:bodyPr/>
          <a:lstStyle/>
          <a:p>
            <a:r>
              <a:rPr lang="en-US" dirty="0"/>
              <a:t>   </a:t>
            </a:r>
          </a:p>
        </p:txBody>
      </p:sp>
      <p:pic>
        <p:nvPicPr>
          <p:cNvPr id="6" name="Graphic 5" descr="Arrow circle with solid fill">
            <a:extLst>
              <a:ext uri="{FF2B5EF4-FFF2-40B4-BE49-F238E27FC236}">
                <a16:creationId xmlns:a16="http://schemas.microsoft.com/office/drawing/2014/main" id="{EEFCE6DC-E426-6B6D-643A-73E9113725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9777" y="331161"/>
            <a:ext cx="638923" cy="6389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83DC0E-BD56-6F04-34C6-F46184A9AC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6084" y="1641963"/>
            <a:ext cx="7615805" cy="3789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0848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MLOps Architecture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4DBDB9-A6C8-A747-A704-71D09AFBE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882" y="1247663"/>
            <a:ext cx="8274475" cy="4362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874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Dataset Validation &amp; Augmentation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87EDB7-E4EE-A211-3D4A-640860549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25284"/>
            <a:ext cx="10015670" cy="4207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8209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Application: Highway Vehicle Tracking 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3964" y="1238271"/>
            <a:ext cx="6940907" cy="4540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1553</Words>
  <Application>Microsoft Office PowerPoint</Application>
  <PresentationFormat>Widescreen</PresentationFormat>
  <Paragraphs>229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    </vt:lpstr>
      <vt:lpstr>Research Overview </vt:lpstr>
      <vt:lpstr>  </vt:lpstr>
      <vt:lpstr> </vt:lpstr>
      <vt:lpstr>   </vt:lpstr>
      <vt:lpstr>Neural Architecture Search (NAS) : Best Config</vt:lpstr>
      <vt:lpstr>   </vt:lpstr>
      <vt:lpstr>Knowledge Distillation Configuration</vt:lpstr>
      <vt:lpstr>   </vt:lpstr>
      <vt:lpstr>    </vt:lpstr>
      <vt:lpstr>    </vt:lpstr>
      <vt:lpstr>YoloV8n Config</vt:lpstr>
      <vt:lpstr>Knowledge Distillation Performance Comparison</vt:lpstr>
      <vt:lpstr>   </vt:lpstr>
      <vt:lpstr>MLOps Architecture</vt:lpstr>
      <vt:lpstr>Dataset Validation &amp; Augmentation</vt:lpstr>
      <vt:lpstr>Application: Highway Vehicle Tracking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234</cp:revision>
  <dcterms:created xsi:type="dcterms:W3CDTF">2025-01-17T06:21:01Z</dcterms:created>
  <dcterms:modified xsi:type="dcterms:W3CDTF">2025-05-29T15:19:45Z</dcterms:modified>
</cp:coreProperties>
</file>