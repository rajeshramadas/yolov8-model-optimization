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2"/>
  </p:notesMasterIdLst>
  <p:sldIdLst>
    <p:sldId id="257" r:id="rId3"/>
    <p:sldId id="334" r:id="rId4"/>
    <p:sldId id="345" r:id="rId5"/>
    <p:sldId id="346" r:id="rId6"/>
    <p:sldId id="347" r:id="rId7"/>
    <p:sldId id="349" r:id="rId8"/>
    <p:sldId id="365" r:id="rId9"/>
    <p:sldId id="366" r:id="rId10"/>
    <p:sldId id="348" r:id="rId11"/>
    <p:sldId id="338" r:id="rId12"/>
    <p:sldId id="340" r:id="rId13"/>
    <p:sldId id="341" r:id="rId14"/>
    <p:sldId id="351" r:id="rId15"/>
    <p:sldId id="360" r:id="rId16"/>
    <p:sldId id="362" r:id="rId17"/>
    <p:sldId id="364" r:id="rId18"/>
    <p:sldId id="358" r:id="rId19"/>
    <p:sldId id="361" r:id="rId20"/>
    <p:sldId id="350" r:id="rId21"/>
    <p:sldId id="329" r:id="rId22"/>
    <p:sldId id="355" r:id="rId23"/>
    <p:sldId id="353" r:id="rId24"/>
    <p:sldId id="356" r:id="rId25"/>
    <p:sldId id="357" r:id="rId26"/>
    <p:sldId id="354" r:id="rId27"/>
    <p:sldId id="352" r:id="rId28"/>
    <p:sldId id="343" r:id="rId29"/>
    <p:sldId id="344" r:id="rId30"/>
    <p:sldId id="32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ltralytics/ultralytics" TargetMode="Externa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jeshRamadas/yolov8-model-optimization/tree/main/02-Implementation/knowledge_distillation" TargetMode="External"/><Relationship Id="rId2" Type="http://schemas.openxmlformats.org/officeDocument/2006/relationships/hyperlink" Target="https://github.com/RajeshRamadas/yolov8-model-optimization/tree/main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universe.roboflow.com/roboflow-100/vehicles-q0x2v" TargetMode="External"/><Relationship Id="rId5" Type="http://schemas.openxmlformats.org/officeDocument/2006/relationships/hyperlink" Target="https://github.com/RajeshRamadas/yolov8-model-optimization/tree/main/01-Project-management" TargetMode="External"/><Relationship Id="rId4" Type="http://schemas.openxmlformats.org/officeDocument/2006/relationships/hyperlink" Target="https://github.com/RajeshRamadas/highway-vehicle-tracker/tree/75d96c9aa849d52c155dc343237ff121f7ebbb99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9480" y="3812594"/>
            <a:ext cx="9144000" cy="1655762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154427" y="1774863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Enhancing Machine Learning Development </a:t>
            </a:r>
            <a:br>
              <a:rPr lang="en-US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</a:b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823833" y="3880796"/>
            <a:ext cx="6768223" cy="195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			 Rajesh Kumar Ramadas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Matriculation:			 92125100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Of Study    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University Supervisor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Dr. Aditya </a:t>
            </a:r>
            <a:r>
              <a:rPr lang="en-US" sz="1200" b="1" kern="100" dirty="0" err="1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Mushyam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Name 	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Master Thesis 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Submission Date 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June 2025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200" b="1" dirty="0">
              <a:solidFill>
                <a:srgbClr val="002060"/>
              </a:solidFill>
              <a:effectLst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853240" y="959936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2DC6B0-70D3-520A-2B97-E0488135ADF4}"/>
              </a:ext>
            </a:extLst>
          </p:cNvPr>
          <p:cNvSpPr txBox="1"/>
          <p:nvPr/>
        </p:nvSpPr>
        <p:spPr>
          <a:xfrm>
            <a:off x="4170039" y="3395736"/>
            <a:ext cx="38519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https://github.com/RajeshRamadas/yolov8-model-optimization</a:t>
            </a:r>
          </a:p>
        </p:txBody>
      </p:sp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734" y="15901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653723" y="47553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557592" y="26570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867362" y="16458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3047012" y="37062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71" y="26819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4141" y="16637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4140" y="37222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8773" y="4711442"/>
            <a:ext cx="558819" cy="55881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642FF37-D7EB-DF0B-5C2F-87B7DAF841A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endParaRPr lang="en-US" sz="28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028700" y="2438400"/>
            <a:ext cx="10353963" cy="14870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198649" y="2517463"/>
            <a:ext cx="0" cy="1271662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8280" y="2789512"/>
            <a:ext cx="903546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Thesis investigates the application of Neural Architecture Search &amp; knowledge distillation techniques for edge-optimized object detection in MLOps pipelines, specifically addressing the computational constraints of highway vehicle tracking systems.</a:t>
            </a:r>
          </a:p>
        </p:txBody>
      </p:sp>
      <p:pic>
        <p:nvPicPr>
          <p:cNvPr id="14" name="Graphic 13" descr="Flask with solid fill">
            <a:extLst>
              <a:ext uri="{FF2B5EF4-FFF2-40B4-BE49-F238E27FC236}">
                <a16:creationId xmlns:a16="http://schemas.microsoft.com/office/drawing/2014/main" id="{EF7590FB-1B04-BA26-1CA7-659794E18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255" y="2636737"/>
            <a:ext cx="801630" cy="801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0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251414" y="1331397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426094" y="1366982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E43AA36-FF3B-64F7-B66D-3FDE9FF84A10}"/>
              </a:ext>
            </a:extLst>
          </p:cNvPr>
          <p:cNvSpPr txBox="1"/>
          <p:nvPr/>
        </p:nvSpPr>
        <p:spPr>
          <a:xfrm rot="16200000">
            <a:off x="845025" y="1626334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E7DC0-C86E-E03A-6728-57472B16D8DA}"/>
              </a:ext>
            </a:extLst>
          </p:cNvPr>
          <p:cNvSpPr txBox="1"/>
          <p:nvPr/>
        </p:nvSpPr>
        <p:spPr>
          <a:xfrm>
            <a:off x="1600775" y="1586603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Large-scale ML models (YOLOv8x) achieve high accuracy but are computationally expensive and unsuitable for real-time edge deployment in highway vehicle tracking systems.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9CF27-C61D-5869-FA4E-6A43CF08FD64}"/>
              </a:ext>
            </a:extLst>
          </p:cNvPr>
          <p:cNvSpPr/>
          <p:nvPr/>
        </p:nvSpPr>
        <p:spPr>
          <a:xfrm>
            <a:off x="1251414" y="2611094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994335-3654-93A8-3A86-BA0110F31EE6}"/>
              </a:ext>
            </a:extLst>
          </p:cNvPr>
          <p:cNvCxnSpPr>
            <a:cxnSpLocks/>
          </p:cNvCxnSpPr>
          <p:nvPr/>
        </p:nvCxnSpPr>
        <p:spPr>
          <a:xfrm>
            <a:off x="1426094" y="2646679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4069244-711C-1A99-3B1D-5E6C5D860D45}"/>
              </a:ext>
            </a:extLst>
          </p:cNvPr>
          <p:cNvSpPr txBox="1"/>
          <p:nvPr/>
        </p:nvSpPr>
        <p:spPr>
          <a:xfrm rot="16200000">
            <a:off x="845025" y="2932590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QUESTION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0CA04B-8182-5DD9-52E8-7A4085D334AC}"/>
              </a:ext>
            </a:extLst>
          </p:cNvPr>
          <p:cNvSpPr txBox="1"/>
          <p:nvPr/>
        </p:nvSpPr>
        <p:spPr>
          <a:xfrm>
            <a:off x="1600775" y="2866300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How can knowledge distillation enable efficient model while maintaining detection accuracy for vehicle tracking applications?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A322E9-659C-9A73-A5E1-EC4BBF12DDFA}"/>
              </a:ext>
            </a:extLst>
          </p:cNvPr>
          <p:cNvSpPr/>
          <p:nvPr/>
        </p:nvSpPr>
        <p:spPr>
          <a:xfrm>
            <a:off x="1251414" y="3890792"/>
            <a:ext cx="9555131" cy="1669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0759E-2B17-EEEF-D00F-9E53B4FBEC7C}"/>
              </a:ext>
            </a:extLst>
          </p:cNvPr>
          <p:cNvCxnSpPr>
            <a:cxnSpLocks/>
          </p:cNvCxnSpPr>
          <p:nvPr/>
        </p:nvCxnSpPr>
        <p:spPr>
          <a:xfrm>
            <a:off x="1426094" y="3926376"/>
            <a:ext cx="0" cy="1417827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47BD84-B68D-9EC1-B3B4-6C284FCEDDFB}"/>
              </a:ext>
            </a:extLst>
          </p:cNvPr>
          <p:cNvSpPr txBox="1"/>
          <p:nvPr/>
        </p:nvSpPr>
        <p:spPr>
          <a:xfrm rot="16200000">
            <a:off x="495033" y="4238460"/>
            <a:ext cx="1888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81FA6E-A22D-CC21-A91F-F81E6AC8A8D0}"/>
              </a:ext>
            </a:extLst>
          </p:cNvPr>
          <p:cNvSpPr txBox="1"/>
          <p:nvPr/>
        </p:nvSpPr>
        <p:spPr>
          <a:xfrm>
            <a:off x="1600774" y="4207024"/>
            <a:ext cx="90354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Implementation of knowledge distillation techniques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Neural Architecture Search (NAS) for optimal model design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MLOps pipeline integration with automated CI/CD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Performance evaluation on highway vehicle tracking dataset</a:t>
            </a:r>
          </a:p>
        </p:txBody>
      </p:sp>
      <p:pic>
        <p:nvPicPr>
          <p:cNvPr id="37" name="Graphic 36" descr="Iceberg with solid fill">
            <a:extLst>
              <a:ext uri="{FF2B5EF4-FFF2-40B4-BE49-F238E27FC236}">
                <a16:creationId xmlns:a16="http://schemas.microsoft.com/office/drawing/2014/main" id="{83A093D2-7336-46D8-9532-994DB7FE3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720" y="1563567"/>
            <a:ext cx="823497" cy="823497"/>
          </a:xfrm>
          <a:prstGeom prst="rect">
            <a:avLst/>
          </a:prstGeom>
        </p:spPr>
      </p:pic>
      <p:pic>
        <p:nvPicPr>
          <p:cNvPr id="38" name="Graphic 37" descr="Question mark with solid fill">
            <a:extLst>
              <a:ext uri="{FF2B5EF4-FFF2-40B4-BE49-F238E27FC236}">
                <a16:creationId xmlns:a16="http://schemas.microsoft.com/office/drawing/2014/main" id="{A5D1018B-B4D5-9870-6241-C5360EF04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98" y="2775050"/>
            <a:ext cx="810874" cy="810874"/>
          </a:xfrm>
          <a:prstGeom prst="rect">
            <a:avLst/>
          </a:prstGeom>
        </p:spPr>
      </p:pic>
      <p:pic>
        <p:nvPicPr>
          <p:cNvPr id="39" name="Graphic 38" descr="Open book with solid fill">
            <a:extLst>
              <a:ext uri="{FF2B5EF4-FFF2-40B4-BE49-F238E27FC236}">
                <a16:creationId xmlns:a16="http://schemas.microsoft.com/office/drawing/2014/main" id="{FBD4F5B3-79F3-AADD-CFC8-C416D9298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734" y="4128654"/>
            <a:ext cx="747160" cy="7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Approach Limitations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760707" y="1364488"/>
            <a:ext cx="0" cy="17758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CD1E4BA5-F6F7-3EDF-9B40-A5490FB2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F5953D9-AB1A-397F-561C-F8389C114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247609"/>
              </p:ext>
            </p:extLst>
          </p:nvPr>
        </p:nvGraphicFramePr>
        <p:xfrm>
          <a:off x="1028699" y="1922291"/>
          <a:ext cx="828155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240">
                  <a:extLst>
                    <a:ext uri="{9D8B030D-6E8A-4147-A177-3AD203B41FA5}">
                      <a16:colId xmlns:a16="http://schemas.microsoft.com/office/drawing/2014/main" val="1206936283"/>
                    </a:ext>
                  </a:extLst>
                </a:gridCol>
                <a:gridCol w="1172769">
                  <a:extLst>
                    <a:ext uri="{9D8B030D-6E8A-4147-A177-3AD203B41FA5}">
                      <a16:colId xmlns:a16="http://schemas.microsoft.com/office/drawing/2014/main" val="4252689379"/>
                    </a:ext>
                  </a:extLst>
                </a:gridCol>
                <a:gridCol w="1004741">
                  <a:extLst>
                    <a:ext uri="{9D8B030D-6E8A-4147-A177-3AD203B41FA5}">
                      <a16:colId xmlns:a16="http://schemas.microsoft.com/office/drawing/2014/main" val="1132552525"/>
                    </a:ext>
                  </a:extLst>
                </a:gridCol>
                <a:gridCol w="1940781">
                  <a:extLst>
                    <a:ext uri="{9D8B030D-6E8A-4147-A177-3AD203B41FA5}">
                      <a16:colId xmlns:a16="http://schemas.microsoft.com/office/drawing/2014/main" val="3610875779"/>
                    </a:ext>
                  </a:extLst>
                </a:gridCol>
                <a:gridCol w="3289024">
                  <a:extLst>
                    <a:ext uri="{9D8B030D-6E8A-4147-A177-3AD203B41FA5}">
                      <a16:colId xmlns:a16="http://schemas.microsoft.com/office/drawing/2014/main" val="4277186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mAP@0.5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Size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Inference Speed (CPU)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89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130MB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~15–20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High accuracy, slow on CPU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03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6MB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30–60+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Fast, lightweight, lower accuracy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9251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15920F5-5AFA-9AD1-3FE7-302014FD2FB5}"/>
              </a:ext>
            </a:extLst>
          </p:cNvPr>
          <p:cNvSpPr txBox="1"/>
          <p:nvPr/>
        </p:nvSpPr>
        <p:spPr>
          <a:xfrm>
            <a:off x="917513" y="1711688"/>
            <a:ext cx="23934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📍 </a:t>
            </a:r>
            <a:r>
              <a:rPr lang="en-US" sz="900" dirty="0">
                <a:hlinkClick r:id="rId2"/>
              </a:rPr>
              <a:t>https://github.com/ultralytics/ultralytics</a:t>
            </a:r>
            <a:endParaRPr lang="en-US" sz="9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9A722E-754B-1CEB-87CA-BD430B7A7941}"/>
              </a:ext>
            </a:extLst>
          </p:cNvPr>
          <p:cNvCxnSpPr>
            <a:cxnSpLocks/>
          </p:cNvCxnSpPr>
          <p:nvPr/>
        </p:nvCxnSpPr>
        <p:spPr>
          <a:xfrm>
            <a:off x="777887" y="3539652"/>
            <a:ext cx="0" cy="136485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E832ABB-2D11-6B8E-0CBB-202FCD5CC870}"/>
              </a:ext>
            </a:extLst>
          </p:cNvPr>
          <p:cNvSpPr txBox="1"/>
          <p:nvPr/>
        </p:nvSpPr>
        <p:spPr>
          <a:xfrm>
            <a:off x="1028700" y="13550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Performance vs Efficiency Trade-off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46AC35-74D4-AA41-EFF8-97ACC0DFF3B3}"/>
              </a:ext>
            </a:extLst>
          </p:cNvPr>
          <p:cNvSpPr txBox="1"/>
          <p:nvPr/>
        </p:nvSpPr>
        <p:spPr>
          <a:xfrm>
            <a:off x="1085850" y="3588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Key Limitations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9244E-D6CF-1242-715A-75806523E235}"/>
              </a:ext>
            </a:extLst>
          </p:cNvPr>
          <p:cNvSpPr txBox="1"/>
          <p:nvPr/>
        </p:nvSpPr>
        <p:spPr>
          <a:xfrm>
            <a:off x="1085850" y="3957656"/>
            <a:ext cx="8519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Binary Choice: Traditional approaches force selection between accuracy OR speed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Manual Design: Human-designed architectures based on intuition, not systematic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One-Size-Fits-All: Same model architecture regardless of deployment constraints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Limited Knowledge Transfer: No mechanism to transfer learned representations from large to small models</a:t>
            </a:r>
          </a:p>
        </p:txBody>
      </p:sp>
    </p:spTree>
    <p:extLst>
      <p:ext uri="{BB962C8B-B14F-4D97-AF65-F5344CB8AC3E}">
        <p14:creationId xmlns:p14="http://schemas.microsoft.com/office/powerpoint/2010/main" val="3297805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 (NAS)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526284" y="2973636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9183" y="3470030"/>
            <a:ext cx="903546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[0.33, 0.5, 0.67, 1.0]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[0.25, 0.5, 0.75, 1.0] </a:t>
            </a:r>
          </a:p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advanced_search_space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optimizer: [SGD, Adam,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AdamW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kernel_size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[1, 3, 5, 7]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[320, 448, 640]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80F052-34B7-1F15-D8E7-31F8E309701F}"/>
              </a:ext>
            </a:extLst>
          </p:cNvPr>
          <p:cNvSpPr/>
          <p:nvPr/>
        </p:nvSpPr>
        <p:spPr>
          <a:xfrm>
            <a:off x="1459346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F3134-CC5B-3C95-943D-3DECF23ADCC7}"/>
              </a:ext>
            </a:extLst>
          </p:cNvPr>
          <p:cNvSpPr/>
          <p:nvPr/>
        </p:nvSpPr>
        <p:spPr>
          <a:xfrm>
            <a:off x="3560619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998F4B-802F-B74C-759F-3D435F65AEAD}"/>
              </a:ext>
            </a:extLst>
          </p:cNvPr>
          <p:cNvSpPr/>
          <p:nvPr/>
        </p:nvSpPr>
        <p:spPr>
          <a:xfrm>
            <a:off x="5661892" y="1073825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418E1C-7B94-2BE7-ED74-6FD4B5057791}"/>
              </a:ext>
            </a:extLst>
          </p:cNvPr>
          <p:cNvSpPr/>
          <p:nvPr/>
        </p:nvSpPr>
        <p:spPr>
          <a:xfrm>
            <a:off x="7763165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3632F-B1D9-B8E2-8149-4D09383342B0}"/>
              </a:ext>
            </a:extLst>
          </p:cNvPr>
          <p:cNvSpPr txBox="1"/>
          <p:nvPr/>
        </p:nvSpPr>
        <p:spPr>
          <a:xfrm>
            <a:off x="1609183" y="116939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Search Space </a:t>
            </a:r>
          </a:p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C324B-1280-FC51-5C47-3C04A6A6CA9B}"/>
              </a:ext>
            </a:extLst>
          </p:cNvPr>
          <p:cNvSpPr txBox="1"/>
          <p:nvPr/>
        </p:nvSpPr>
        <p:spPr>
          <a:xfrm>
            <a:off x="1609183" y="1637022"/>
            <a:ext cx="17687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Define architectural parameters and constraints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976D4-E208-B2D8-8E27-81750DDA4DBB}"/>
              </a:ext>
            </a:extLst>
          </p:cNvPr>
          <p:cNvSpPr txBox="1"/>
          <p:nvPr/>
        </p:nvSpPr>
        <p:spPr>
          <a:xfrm>
            <a:off x="3643492" y="1184317"/>
            <a:ext cx="1762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 Sampling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C4215-701C-A15A-3B26-2DE59520E33A}"/>
              </a:ext>
            </a:extLst>
          </p:cNvPr>
          <p:cNvSpPr txBox="1"/>
          <p:nvPr/>
        </p:nvSpPr>
        <p:spPr>
          <a:xfrm>
            <a:off x="3643492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candidate architectures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548A29-13AE-27E0-5B0F-54FE5ADB84E8}"/>
              </a:ext>
            </a:extLst>
          </p:cNvPr>
          <p:cNvSpPr txBox="1"/>
          <p:nvPr/>
        </p:nvSpPr>
        <p:spPr>
          <a:xfrm>
            <a:off x="5730910" y="1184317"/>
            <a:ext cx="1621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&amp; Evaluation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9DD9-18F8-62B9-E539-53B510748644}"/>
              </a:ext>
            </a:extLst>
          </p:cNvPr>
          <p:cNvSpPr txBox="1"/>
          <p:nvPr/>
        </p:nvSpPr>
        <p:spPr>
          <a:xfrm>
            <a:off x="5730910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Assess performance metrics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39858-17D4-F444-A85F-30A313DD5F71}"/>
              </a:ext>
            </a:extLst>
          </p:cNvPr>
          <p:cNvSpPr txBox="1"/>
          <p:nvPr/>
        </p:nvSpPr>
        <p:spPr>
          <a:xfrm>
            <a:off x="7883238" y="118431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 Architecture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F518B-A1E5-56D7-5999-F9B7146DD167}"/>
              </a:ext>
            </a:extLst>
          </p:cNvPr>
          <p:cNvSpPr txBox="1"/>
          <p:nvPr/>
        </p:nvSpPr>
        <p:spPr>
          <a:xfrm>
            <a:off x="7883238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Select optimal configuration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5C96F-14A8-B37B-A3E0-56F5C03CF11F}"/>
              </a:ext>
            </a:extLst>
          </p:cNvPr>
          <p:cNvSpPr txBox="1"/>
          <p:nvPr/>
        </p:nvSpPr>
        <p:spPr>
          <a:xfrm>
            <a:off x="1621881" y="2972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Space Parameters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5EE559-66F5-C0FB-350C-C9EC4BD7CCC2}"/>
              </a:ext>
            </a:extLst>
          </p:cNvPr>
          <p:cNvCxnSpPr>
            <a:cxnSpLocks/>
          </p:cNvCxnSpPr>
          <p:nvPr/>
        </p:nvCxnSpPr>
        <p:spPr>
          <a:xfrm>
            <a:off x="6610902" y="3107564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6B2DFA-768F-E9D7-FE45-4EF30BC0BFDA}"/>
              </a:ext>
            </a:extLst>
          </p:cNvPr>
          <p:cNvSpPr txBox="1"/>
          <p:nvPr/>
        </p:nvSpPr>
        <p:spPr>
          <a:xfrm>
            <a:off x="6879681" y="3098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 Results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07D62C-961A-DBD4-DD01-DBE903FAF8C1}"/>
              </a:ext>
            </a:extLst>
          </p:cNvPr>
          <p:cNvSpPr txBox="1"/>
          <p:nvPr/>
        </p:nvSpPr>
        <p:spPr>
          <a:xfrm>
            <a:off x="6953571" y="3670084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0.67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0.5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 optimizer: Adam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kernel size: 3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img_size:640</a:t>
            </a:r>
          </a:p>
        </p:txBody>
      </p:sp>
      <p:pic>
        <p:nvPicPr>
          <p:cNvPr id="35" name="Graphic 34" descr="Badge with solid fill">
            <a:extLst>
              <a:ext uri="{FF2B5EF4-FFF2-40B4-BE49-F238E27FC236}">
                <a16:creationId xmlns:a16="http://schemas.microsoft.com/office/drawing/2014/main" id="{1F944E7F-CAF9-0DDD-0FDD-4ADDAD19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4369" y="2038407"/>
            <a:ext cx="307330" cy="307330"/>
          </a:xfrm>
          <a:prstGeom prst="rect">
            <a:avLst/>
          </a:prstGeom>
        </p:spPr>
      </p:pic>
      <p:pic>
        <p:nvPicPr>
          <p:cNvPr id="36" name="Graphic 35" descr="Badge 1 with solid fill">
            <a:extLst>
              <a:ext uri="{FF2B5EF4-FFF2-40B4-BE49-F238E27FC236}">
                <a16:creationId xmlns:a16="http://schemas.microsoft.com/office/drawing/2014/main" id="{5DEC8387-2921-2E4D-A75C-B6991FD2A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8500" y="2055514"/>
            <a:ext cx="307330" cy="307330"/>
          </a:xfrm>
          <a:prstGeom prst="rect">
            <a:avLst/>
          </a:prstGeom>
        </p:spPr>
      </p:pic>
      <p:pic>
        <p:nvPicPr>
          <p:cNvPr id="37" name="Graphic 36" descr="Badge 3 with solid fill">
            <a:extLst>
              <a:ext uri="{FF2B5EF4-FFF2-40B4-BE49-F238E27FC236}">
                <a16:creationId xmlns:a16="http://schemas.microsoft.com/office/drawing/2014/main" id="{9340F889-D927-4B00-8391-77785B4AF8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5260" y="2054184"/>
            <a:ext cx="307331" cy="307331"/>
          </a:xfrm>
          <a:prstGeom prst="rect">
            <a:avLst/>
          </a:prstGeom>
        </p:spPr>
      </p:pic>
      <p:pic>
        <p:nvPicPr>
          <p:cNvPr id="38" name="Graphic 37" descr="Badge 4 with solid fill">
            <a:extLst>
              <a:ext uri="{FF2B5EF4-FFF2-40B4-BE49-F238E27FC236}">
                <a16:creationId xmlns:a16="http://schemas.microsoft.com/office/drawing/2014/main" id="{589F80ED-D930-8546-E0D4-8302F3A2F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12750" y="2024977"/>
            <a:ext cx="328240" cy="3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Implementation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09B04C-7D19-FB5D-E43D-A46C118BD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232" y="1155195"/>
            <a:ext cx="5148072" cy="447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158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Result Analysis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129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Methodology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724915" y="2798332"/>
            <a:ext cx="0" cy="177366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5D8030-E5D8-0F66-0613-DE5D9E810928}"/>
              </a:ext>
            </a:extLst>
          </p:cNvPr>
          <p:cNvSpPr/>
          <p:nvPr/>
        </p:nvSpPr>
        <p:spPr>
          <a:xfrm>
            <a:off x="1708619" y="1213694"/>
            <a:ext cx="2061441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70681BD-344F-06BD-102A-D00D9605FA1F}"/>
              </a:ext>
            </a:extLst>
          </p:cNvPr>
          <p:cNvSpPr/>
          <p:nvPr/>
        </p:nvSpPr>
        <p:spPr>
          <a:xfrm>
            <a:off x="4127103" y="1220143"/>
            <a:ext cx="25353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5D0EB6-2B0B-816D-733E-0BC011EEC5D4}"/>
              </a:ext>
            </a:extLst>
          </p:cNvPr>
          <p:cNvSpPr/>
          <p:nvPr/>
        </p:nvSpPr>
        <p:spPr>
          <a:xfrm>
            <a:off x="7026167" y="1214504"/>
            <a:ext cx="23702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C9C2DC78-7210-79A7-CF42-CC0D396B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D5424-44C8-68FC-5A46-CA6A0F07D5D3}"/>
              </a:ext>
            </a:extLst>
          </p:cNvPr>
          <p:cNvSpPr txBox="1"/>
          <p:nvPr/>
        </p:nvSpPr>
        <p:spPr>
          <a:xfrm>
            <a:off x="4362631" y="1438953"/>
            <a:ext cx="2373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81D74-35B6-A389-70BB-A60801CDA56E}"/>
              </a:ext>
            </a:extLst>
          </p:cNvPr>
          <p:cNvSpPr txBox="1"/>
          <p:nvPr/>
        </p:nvSpPr>
        <p:spPr>
          <a:xfrm>
            <a:off x="4344157" y="1294474"/>
            <a:ext cx="2410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Knowledge Transfer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DD957-8B00-672F-7D07-76AD4573CB4B}"/>
              </a:ext>
            </a:extLst>
          </p:cNvPr>
          <p:cNvSpPr txBox="1"/>
          <p:nvPr/>
        </p:nvSpPr>
        <p:spPr>
          <a:xfrm>
            <a:off x="7315380" y="1254287"/>
            <a:ext cx="2189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3A370-512B-CB8D-A021-51749002069A}"/>
              </a:ext>
            </a:extLst>
          </p:cNvPr>
          <p:cNvSpPr txBox="1"/>
          <p:nvPr/>
        </p:nvSpPr>
        <p:spPr>
          <a:xfrm>
            <a:off x="1896520" y="1294474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Teacher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67C288-C39B-B411-0B91-94FBE4A3FA57}"/>
              </a:ext>
            </a:extLst>
          </p:cNvPr>
          <p:cNvSpPr txBox="1"/>
          <p:nvPr/>
        </p:nvSpPr>
        <p:spPr>
          <a:xfrm>
            <a:off x="1959734" y="1727672"/>
            <a:ext cx="12376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YOLOv8x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Large, Accurate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C01A44-1169-A367-8835-74B7140D3931}"/>
              </a:ext>
            </a:extLst>
          </p:cNvPr>
          <p:cNvSpPr txBox="1"/>
          <p:nvPr/>
        </p:nvSpPr>
        <p:spPr>
          <a:xfrm>
            <a:off x="4344157" y="1737320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Soft Targets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Temperature Scaling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ECF302-E909-A794-494E-CBA821B9DC93}"/>
              </a:ext>
            </a:extLst>
          </p:cNvPr>
          <p:cNvSpPr txBox="1"/>
          <p:nvPr/>
        </p:nvSpPr>
        <p:spPr>
          <a:xfrm>
            <a:off x="7315380" y="1748627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Custom YOLOv8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Small, Efficient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AFB13BD-E501-6182-53AF-2056BABFC5AF}"/>
              </a:ext>
            </a:extLst>
          </p:cNvPr>
          <p:cNvCxnSpPr/>
          <p:nvPr/>
        </p:nvCxnSpPr>
        <p:spPr>
          <a:xfrm flipV="1">
            <a:off x="3863867" y="1727672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CC8B16F-7DA2-59A3-1277-AD387A8B1D55}"/>
              </a:ext>
            </a:extLst>
          </p:cNvPr>
          <p:cNvCxnSpPr/>
          <p:nvPr/>
        </p:nvCxnSpPr>
        <p:spPr>
          <a:xfrm flipV="1">
            <a:off x="6770724" y="1732496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DF94B6-FA74-2153-BED9-A1B8B21F8373}"/>
              </a:ext>
            </a:extLst>
          </p:cNvPr>
          <p:cNvSpPr txBox="1"/>
          <p:nvPr/>
        </p:nvSpPr>
        <p:spPr>
          <a:xfrm>
            <a:off x="1882856" y="2712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Mathematical Framework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9A9AC2-BD5A-1599-EAE0-2CF1ABA67E10}"/>
              </a:ext>
            </a:extLst>
          </p:cNvPr>
          <p:cNvSpPr txBox="1"/>
          <p:nvPr/>
        </p:nvSpPr>
        <p:spPr>
          <a:xfrm>
            <a:off x="1762700" y="4909060"/>
            <a:ext cx="6511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Current Configuration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BE3DF51-44C1-AEAE-F670-5A9C9179AA90}"/>
              </a:ext>
            </a:extLst>
          </p:cNvPr>
          <p:cNvCxnSpPr>
            <a:cxnSpLocks/>
          </p:cNvCxnSpPr>
          <p:nvPr/>
        </p:nvCxnSpPr>
        <p:spPr>
          <a:xfrm>
            <a:off x="1721231" y="4955167"/>
            <a:ext cx="0" cy="115080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C8ACDA-2372-C3B3-D452-9326A263556A}"/>
              </a:ext>
            </a:extLst>
          </p:cNvPr>
          <p:cNvSpPr txBox="1"/>
          <p:nvPr/>
        </p:nvSpPr>
        <p:spPr>
          <a:xfrm>
            <a:off x="1781268" y="5285959"/>
            <a:ext cx="5874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(T): 3.0 - Controls softness of probability distribution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(α): 0.5 - Balance between knowledge distillation and hard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Optimization: Standard YOLO loss + KL divergence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171AEB7-BD78-2C20-C350-4D91CB437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23" y="3199580"/>
            <a:ext cx="2254366" cy="93984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0534EEC-6682-D636-C8C8-119833CE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857" y="3199580"/>
            <a:ext cx="2759977" cy="93984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4BAB575-2720-A824-092F-3EAD47270646}"/>
              </a:ext>
            </a:extLst>
          </p:cNvPr>
          <p:cNvSpPr txBox="1"/>
          <p:nvPr/>
        </p:nvSpPr>
        <p:spPr>
          <a:xfrm>
            <a:off x="7315380" y="3223052"/>
            <a:ext cx="3260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determines how much the student should trust the teacher versus the ground truth.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1DAA3-70BC-A7B3-4A94-E27B25CD90C6}"/>
              </a:ext>
            </a:extLst>
          </p:cNvPr>
          <p:cNvSpPr txBox="1"/>
          <p:nvPr/>
        </p:nvSpPr>
        <p:spPr>
          <a:xfrm>
            <a:off x="7315380" y="3599951"/>
            <a:ext cx="29924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controls how "soft" or "hard" the teacher's predictions are, directly affecting how much knowledge can be transferred.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51A17A-A8DE-DD80-73B1-48878B55E018}"/>
              </a:ext>
            </a:extLst>
          </p:cNvPr>
          <p:cNvSpPr txBox="1"/>
          <p:nvPr/>
        </p:nvSpPr>
        <p:spPr>
          <a:xfrm>
            <a:off x="2006097" y="4114852"/>
            <a:ext cx="22536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 = probability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 = logit (raw output)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Σj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sum over all classes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8E6D-2F30-D303-ABE1-9E2ED24DD93E}"/>
              </a:ext>
            </a:extLst>
          </p:cNvPr>
          <p:cNvSpPr txBox="1"/>
          <p:nvPr/>
        </p:nvSpPr>
        <p:spPr>
          <a:xfrm>
            <a:off x="4314832" y="4124230"/>
            <a:ext cx="2909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 = weighting parameter (0 to 1)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Lhard = hard loss (cross-entropy with ground truth)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Lsoft = soft loss (KL divergence with teacher predictions)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(1−α) = complementary weight for soft loss</a:t>
            </a:r>
          </a:p>
        </p:txBody>
      </p:sp>
    </p:spTree>
    <p:extLst>
      <p:ext uri="{BB962C8B-B14F-4D97-AF65-F5344CB8AC3E}">
        <p14:creationId xmlns:p14="http://schemas.microsoft.com/office/powerpoint/2010/main" val="3185198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50484" y="1324798"/>
            <a:ext cx="4786252" cy="1656994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6237270" y="1960195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5753268" y="1324798"/>
            <a:ext cx="6193178" cy="372160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5801429" y="1697947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6157625" y="1989632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6115310" y="2530686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5802191" y="2241853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2. Apply Temperature Scaling: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5829623" y="3073726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6043277" y="3345563"/>
            <a:ext cx="5650524" cy="1169551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5975575" y="4393561"/>
            <a:ext cx="51704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probabilities = [0.59, 0.28, 0.13] # Much softer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7174829" y="1334753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50485" y="1463297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819551" y="1822141"/>
            <a:ext cx="48646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71529-5BA4-5184-F475-883BBD91B33E}"/>
              </a:ext>
            </a:extLst>
          </p:cNvPr>
          <p:cNvSpPr txBox="1">
            <a:spLocks/>
          </p:cNvSpPr>
          <p:nvPr/>
        </p:nvSpPr>
        <p:spPr>
          <a:xfrm>
            <a:off x="636023" y="348289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Distillation: Temperature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29491B7-5677-6075-F783-48CCBB1C17CB}"/>
              </a:ext>
            </a:extLst>
          </p:cNvPr>
          <p:cNvCxnSpPr>
            <a:cxnSpLocks/>
          </p:cNvCxnSpPr>
          <p:nvPr/>
        </p:nvCxnSpPr>
        <p:spPr>
          <a:xfrm>
            <a:off x="636023" y="1324798"/>
            <a:ext cx="0" cy="16569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4767178" y="2095945"/>
            <a:ext cx="6210299" cy="266610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690372" y="30718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Formula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75145" y="1121140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KL divergence measures </a:t>
            </a:r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how different two probability distributions are</a:t>
            </a: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986028" y="2093646"/>
            <a:ext cx="3634538" cy="163784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KL(P||Q)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P(x) × log(P(x)/Q(x))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target distribution (teacher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Q = predicted distribution (student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x = each possible outcome/class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= sum over all classes</a:t>
            </a:r>
          </a:p>
          <a:p>
            <a:endParaRPr lang="en-US" sz="1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8B436D-76BF-E3F5-6E0D-9144D38C0B97}"/>
              </a:ext>
            </a:extLst>
          </p:cNvPr>
          <p:cNvCxnSpPr>
            <a:cxnSpLocks/>
          </p:cNvCxnSpPr>
          <p:nvPr/>
        </p:nvCxnSpPr>
        <p:spPr>
          <a:xfrm>
            <a:off x="856673" y="2090637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518584" y="268685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Calculation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768096" y="1282449"/>
            <a:ext cx="5204565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scaled: [2.5/2, 4.0/2, 1.2/2] = [1.25, 2.0, 0.6]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scaled: [1.8/2, 3.2/2, 0.9/2] = [0.9, 1.6, 0.45]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[exp(1.25), exp(2.0), exp(0.6)] = [3.49, 7.39, 1.82]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3.49 + 7.39 + 1.82 = 12.70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probabilities (P):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[3.49/12.70, 7.39/12.70, 1.82/12.70] = [0.275, 0.582, 0.143]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[exp(0.9), exp(1.6), exp(0.45)] = [2.46, 4.95, 1.57]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2.46 + 4.95 + 1.57 = 8.98 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(input):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log(8.98), 1.6 - log(8.98), 0.45 - log(8.98)]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[0.9 - 2.195, 1.6 - 2.195, 0.45 - 2.195]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149235" y="1282449"/>
            <a:ext cx="5524181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PyTorch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formula: KL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target(x) × [log(target(x)) - input(x)] #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For Car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= 0.275 × [log(0.275)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+ 1.295]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0.004 = 0.0011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Truck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= 0.582 × [log(0.582)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+ 0.595]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0.054 = 0.0314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Bus class: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	= 0.143 × [log(0.143)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+ 1.745]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(-0.199) = -0.0285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Total KL divergence: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 = 0.0011 + 0.0314 + (-0.0285) = 0.004</a:t>
            </a: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9440" y="425401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195" y="4254010"/>
            <a:ext cx="523221" cy="52322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2F96A8AF-2C0A-6860-C148-B6CAFA413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ea typeface="+mn-ea"/>
                <a:cs typeface="+mn-cs"/>
              </a:rPr>
              <a:t>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BF364C-CAB6-8C32-6E15-0C38398E15D8}"/>
              </a:ext>
            </a:extLst>
          </p:cNvPr>
          <p:cNvCxnSpPr>
            <a:cxnSpLocks/>
          </p:cNvCxnSpPr>
          <p:nvPr/>
        </p:nvCxnSpPr>
        <p:spPr>
          <a:xfrm>
            <a:off x="671946" y="1282449"/>
            <a:ext cx="0" cy="349478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516273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MLOps Implementation</a:t>
            </a: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2491509" y="10040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Automated Pipeline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2394501" y="991850"/>
            <a:ext cx="0" cy="501806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687A0D-E6AC-2A2C-919D-D5A594BB424C}"/>
              </a:ext>
            </a:extLst>
          </p:cNvPr>
          <p:cNvSpPr/>
          <p:nvPr/>
        </p:nvSpPr>
        <p:spPr>
          <a:xfrm>
            <a:off x="2755899" y="1578312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810BF6-24DF-3345-1D3D-5FE3793F3F37}"/>
              </a:ext>
            </a:extLst>
          </p:cNvPr>
          <p:cNvSpPr/>
          <p:nvPr/>
        </p:nvSpPr>
        <p:spPr>
          <a:xfrm>
            <a:off x="2755897" y="2056500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A891D4E-5FD0-64CF-B4F6-058D2E05D07A}"/>
              </a:ext>
            </a:extLst>
          </p:cNvPr>
          <p:cNvSpPr/>
          <p:nvPr/>
        </p:nvSpPr>
        <p:spPr>
          <a:xfrm>
            <a:off x="2755897" y="2534686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6272BE9-4CE6-C078-34B1-3989022A4CDF}"/>
              </a:ext>
            </a:extLst>
          </p:cNvPr>
          <p:cNvSpPr/>
          <p:nvPr/>
        </p:nvSpPr>
        <p:spPr>
          <a:xfrm>
            <a:off x="2755896" y="3026049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35B9139-AFB4-B35B-E9CC-7E0B9ACCE221}"/>
              </a:ext>
            </a:extLst>
          </p:cNvPr>
          <p:cNvSpPr/>
          <p:nvPr/>
        </p:nvSpPr>
        <p:spPr>
          <a:xfrm>
            <a:off x="2755896" y="3476456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DC8844-4650-DE10-7294-8C5B8C2685DD}"/>
              </a:ext>
            </a:extLst>
          </p:cNvPr>
          <p:cNvSpPr/>
          <p:nvPr/>
        </p:nvSpPr>
        <p:spPr>
          <a:xfrm>
            <a:off x="2755894" y="3954644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EC780C9-CABB-A4CF-9DEB-8E65F2B9DB40}"/>
              </a:ext>
            </a:extLst>
          </p:cNvPr>
          <p:cNvSpPr/>
          <p:nvPr/>
        </p:nvSpPr>
        <p:spPr>
          <a:xfrm>
            <a:off x="2755894" y="4432830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7BDE5F-8A30-7925-99A8-D856479973B3}"/>
              </a:ext>
            </a:extLst>
          </p:cNvPr>
          <p:cNvSpPr/>
          <p:nvPr/>
        </p:nvSpPr>
        <p:spPr>
          <a:xfrm>
            <a:off x="2755893" y="4924193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7AAC3C8-907C-3F91-144D-0F8985384B1E}"/>
              </a:ext>
            </a:extLst>
          </p:cNvPr>
          <p:cNvSpPr/>
          <p:nvPr/>
        </p:nvSpPr>
        <p:spPr>
          <a:xfrm>
            <a:off x="2755892" y="5416077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5EAAC-FB59-E618-11EF-D314AB161DD8}"/>
              </a:ext>
            </a:extLst>
          </p:cNvPr>
          <p:cNvSpPr txBox="1"/>
          <p:nvPr/>
        </p:nvSpPr>
        <p:spPr>
          <a:xfrm>
            <a:off x="2851473" y="165307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Initialize Workspace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388F94-835C-59D9-8E78-9AE1718E77D9}"/>
              </a:ext>
            </a:extLst>
          </p:cNvPr>
          <p:cNvSpPr txBox="1"/>
          <p:nvPr/>
        </p:nvSpPr>
        <p:spPr>
          <a:xfrm>
            <a:off x="2851473" y="210095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Virtual Environment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E043B8-04E5-57A4-DBA7-8442B15ABF83}"/>
              </a:ext>
            </a:extLst>
          </p:cNvPr>
          <p:cNvSpPr txBox="1"/>
          <p:nvPr/>
        </p:nvSpPr>
        <p:spPr>
          <a:xfrm>
            <a:off x="2851473" y="2570255"/>
            <a:ext cx="1487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Dataset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333A44-2682-1FC9-5DA3-0F0941182200}"/>
              </a:ext>
            </a:extLst>
          </p:cNvPr>
          <p:cNvSpPr txBox="1"/>
          <p:nvPr/>
        </p:nvSpPr>
        <p:spPr>
          <a:xfrm>
            <a:off x="2851473" y="3058293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Validation &amp;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CA7A8C-6083-88A7-7BE7-397EDD805E05}"/>
              </a:ext>
            </a:extLst>
          </p:cNvPr>
          <p:cNvSpPr txBox="1"/>
          <p:nvPr/>
        </p:nvSpPr>
        <p:spPr>
          <a:xfrm>
            <a:off x="2851473" y="3548436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0E4182-DF9F-DDBB-F2A4-572241203541}"/>
              </a:ext>
            </a:extLst>
          </p:cNvPr>
          <p:cNvSpPr txBox="1"/>
          <p:nvPr/>
        </p:nvSpPr>
        <p:spPr>
          <a:xfrm>
            <a:off x="2851473" y="402216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34CFC-6770-BDA5-C8A2-72F8F445A776}"/>
              </a:ext>
            </a:extLst>
          </p:cNvPr>
          <p:cNvSpPr txBox="1"/>
          <p:nvPr/>
        </p:nvSpPr>
        <p:spPr>
          <a:xfrm>
            <a:off x="2851473" y="4528678"/>
            <a:ext cx="2551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057271-5AB1-8666-BE18-B49DA2648253}"/>
              </a:ext>
            </a:extLst>
          </p:cNvPr>
          <p:cNvSpPr txBox="1"/>
          <p:nvPr/>
        </p:nvSpPr>
        <p:spPr>
          <a:xfrm>
            <a:off x="2851473" y="5003550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Best Model to S3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C1E06-8FEE-C1ED-F2AB-28BCCD63C837}"/>
              </a:ext>
            </a:extLst>
          </p:cNvPr>
          <p:cNvSpPr txBox="1"/>
          <p:nvPr/>
        </p:nvSpPr>
        <p:spPr>
          <a:xfrm>
            <a:off x="2851473" y="546288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Reports &amp; Trigger Mail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8169EC-45E8-1FB0-195D-73972330D8BE}"/>
              </a:ext>
            </a:extLst>
          </p:cNvPr>
          <p:cNvSpPr txBox="1"/>
          <p:nvPr/>
        </p:nvSpPr>
        <p:spPr>
          <a:xfrm>
            <a:off x="6353526" y="970529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Technology Stack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EBB97F5-F944-8420-98BD-A932EFE518D7}"/>
              </a:ext>
            </a:extLst>
          </p:cNvPr>
          <p:cNvCxnSpPr>
            <a:cxnSpLocks/>
          </p:cNvCxnSpPr>
          <p:nvPr/>
        </p:nvCxnSpPr>
        <p:spPr>
          <a:xfrm>
            <a:off x="6274963" y="1018044"/>
            <a:ext cx="0" cy="131790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6406663" y="1339861"/>
            <a:ext cx="3609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CI/CD: Jenkins with automated pipeline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Storage: Amazon S3 for model artifacts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 Libraries: YOLOv8, scikit-learn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Control: Git/GitHub with 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3816114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: Computer Vision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2FB5F9-C6D7-4F85-5CF2-16688B7F91E6}"/>
              </a:ext>
            </a:extLst>
          </p:cNvPr>
          <p:cNvSpPr txBox="1"/>
          <p:nvPr/>
        </p:nvSpPr>
        <p:spPr>
          <a:xfrm>
            <a:off x="838200" y="1004048"/>
            <a:ext cx="1060136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Part of the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Roboflow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100 (RF100) benchmark initiative by Intel to evaluate object detection model generalizability.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Originally created by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Yudha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Bhakti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Nugraha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and Kris.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Contains 12 vehicle classes, including various types of buses, cars, and trucks.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Supports object detection tasks and is compatible with YOLOv5 and above.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Publicly available dataset with high engagement in terms of views and downloads.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8FD801-F04A-A25E-8D4E-D58F8C048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473" y="3028710"/>
            <a:ext cx="8948989" cy="20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4067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before Augmentation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aph of a graph">
            <a:extLst>
              <a:ext uri="{FF2B5EF4-FFF2-40B4-BE49-F238E27FC236}">
                <a16:creationId xmlns:a16="http://schemas.microsoft.com/office/drawing/2014/main" id="{572525B9-17F7-B919-E4F6-F6F75C39A9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9292" y="1859630"/>
            <a:ext cx="5995625" cy="2997813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8ED13D-BE5E-D5F6-8D0D-C8EDC8DF5F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48" y="1901518"/>
            <a:ext cx="3997085" cy="2997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734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Augmentation Technique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01FB76-2118-8BCA-3D04-04C39561FB88}"/>
              </a:ext>
            </a:extLst>
          </p:cNvPr>
          <p:cNvSpPr txBox="1"/>
          <p:nvPr/>
        </p:nvSpPr>
        <p:spPr>
          <a:xfrm>
            <a:off x="7518317" y="1156025"/>
            <a:ext cx="2811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 Processing Results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2877416-5CDF-FE25-F988-B97E4C3B7250}"/>
              </a:ext>
            </a:extLst>
          </p:cNvPr>
          <p:cNvCxnSpPr>
            <a:cxnSpLocks/>
          </p:cNvCxnSpPr>
          <p:nvPr/>
        </p:nvCxnSpPr>
        <p:spPr>
          <a:xfrm>
            <a:off x="7479036" y="1199482"/>
            <a:ext cx="0" cy="2127749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C4AD157-2A94-028F-9FE8-ADAECFF5A683}"/>
              </a:ext>
            </a:extLst>
          </p:cNvPr>
          <p:cNvSpPr txBox="1"/>
          <p:nvPr/>
        </p:nvSpPr>
        <p:spPr>
          <a:xfrm>
            <a:off x="7582919" y="1572905"/>
            <a:ext cx="43500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 training images: 2,634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Augmented images generated: 27,260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training set size: 29,894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Balances class distribution to improve model generalization.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 balance improvement: Disparity reduced from 15-20% to 3-5%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mAP@50 improvement: From 0.45 to 0.97 with same training configuration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F84544-6937-6CE4-4596-B291E6CF0334}"/>
              </a:ext>
            </a:extLst>
          </p:cNvPr>
          <p:cNvSpPr txBox="1"/>
          <p:nvPr/>
        </p:nvSpPr>
        <p:spPr>
          <a:xfrm>
            <a:off x="838200" y="1156025"/>
            <a:ext cx="4245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Targeted Augmentation Strategy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4D3690-3D27-E15A-EEC6-6DC12AE157E9}"/>
              </a:ext>
            </a:extLst>
          </p:cNvPr>
          <p:cNvCxnSpPr>
            <a:cxnSpLocks/>
          </p:cNvCxnSpPr>
          <p:nvPr/>
        </p:nvCxnSpPr>
        <p:spPr>
          <a:xfrm>
            <a:off x="798920" y="1199482"/>
            <a:ext cx="0" cy="120442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3D0D0B2-F6A0-5615-873C-9FCA0E83440A}"/>
              </a:ext>
            </a:extLst>
          </p:cNvPr>
          <p:cNvSpPr txBox="1"/>
          <p:nvPr/>
        </p:nvSpPr>
        <p:spPr>
          <a:xfrm>
            <a:off x="902803" y="1572905"/>
            <a:ext cx="63361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Minority Class Identification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Classes with object percentages below a configurable threshold (default: 10%) are tagged as "minority".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Augmentation Factor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Each image containing minority classes is augmented multiple times (default: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B8E16A-2B3B-054C-FF38-7CB2C1781732}"/>
              </a:ext>
            </a:extLst>
          </p:cNvPr>
          <p:cNvSpPr txBox="1"/>
          <p:nvPr/>
        </p:nvSpPr>
        <p:spPr>
          <a:xfrm>
            <a:off x="902803" y="2773344"/>
            <a:ext cx="36449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Applied Augmentation Techniques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4AA347A-A7C7-E1CE-A309-177BEEC1D7F9}"/>
              </a:ext>
            </a:extLst>
          </p:cNvPr>
          <p:cNvCxnSpPr>
            <a:cxnSpLocks/>
          </p:cNvCxnSpPr>
          <p:nvPr/>
        </p:nvCxnSpPr>
        <p:spPr>
          <a:xfrm>
            <a:off x="798920" y="2783938"/>
            <a:ext cx="0" cy="301918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300966C-E087-4ABD-885E-9E888CCD5FB4}"/>
              </a:ext>
            </a:extLst>
          </p:cNvPr>
          <p:cNvSpPr txBox="1"/>
          <p:nvPr/>
        </p:nvSpPr>
        <p:spPr>
          <a:xfrm>
            <a:off x="902803" y="2904232"/>
            <a:ext cx="3175422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RandomBrightnessContrast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HueSaturationValue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RandomRotate90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Blur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RandomShadow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RandomFog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Affine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RandomSunFlare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ISONoise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RandomSnow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CLAHE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ChannelShuffle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ColorJitter</a:t>
            </a:r>
            <a:r>
              <a:rPr lang="en-US" dirty="0"/>
              <a:t>	</a:t>
            </a:r>
          </a:p>
        </p:txBody>
      </p:sp>
      <p:pic>
        <p:nvPicPr>
          <p:cNvPr id="18" name="Picture 17" descr="A traffic jam on a road&#10;&#10;AI-generated content may be incorrect.">
            <a:extLst>
              <a:ext uri="{FF2B5EF4-FFF2-40B4-BE49-F238E27FC236}">
                <a16:creationId xmlns:a16="http://schemas.microsoft.com/office/drawing/2014/main" id="{22BB86AC-257C-70A6-5122-36CE6A3FD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5215" y="3754114"/>
            <a:ext cx="1724238" cy="1293178"/>
          </a:xfrm>
          <a:prstGeom prst="rect">
            <a:avLst/>
          </a:prstGeom>
        </p:spPr>
      </p:pic>
      <p:pic>
        <p:nvPicPr>
          <p:cNvPr id="21" name="Picture 20" descr="A traffic jam on a highway">
            <a:extLst>
              <a:ext uri="{FF2B5EF4-FFF2-40B4-BE49-F238E27FC236}">
                <a16:creationId xmlns:a16="http://schemas.microsoft.com/office/drawing/2014/main" id="{3C4B4E74-5771-7940-EDBB-CEA676F1F1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0517" y="3742904"/>
            <a:ext cx="1754124" cy="131559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12AB34-CE46-5BE6-844F-ED57D2BB7A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4374" y="3742906"/>
            <a:ext cx="1724237" cy="131559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592C334-0883-603F-9D4D-988ADDE0E47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339"/>
          <a:stretch/>
        </p:blipFill>
        <p:spPr>
          <a:xfrm>
            <a:off x="9599677" y="3742904"/>
            <a:ext cx="1754124" cy="131559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67A64A3-64CB-13A2-46A2-E8307329BE81}"/>
              </a:ext>
            </a:extLst>
          </p:cNvPr>
          <p:cNvSpPr txBox="1"/>
          <p:nvPr/>
        </p:nvSpPr>
        <p:spPr>
          <a:xfrm>
            <a:off x="4677334" y="5233464"/>
            <a:ext cx="1846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BEFORE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73F073-F599-B9F1-1AA9-E0D8C9775F65}"/>
              </a:ext>
            </a:extLst>
          </p:cNvPr>
          <p:cNvSpPr txBox="1"/>
          <p:nvPr/>
        </p:nvSpPr>
        <p:spPr>
          <a:xfrm>
            <a:off x="8706492" y="5233463"/>
            <a:ext cx="17379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AFTER AUGMENTATION</a:t>
            </a:r>
          </a:p>
        </p:txBody>
      </p:sp>
    </p:spTree>
    <p:extLst>
      <p:ext uri="{BB962C8B-B14F-4D97-AF65-F5344CB8AC3E}">
        <p14:creationId xmlns:p14="http://schemas.microsoft.com/office/powerpoint/2010/main" val="30763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Training Configuration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856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Best Model Selection - </a:t>
            </a:r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Metrics 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0186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 Neural Architecture Search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124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Custom Config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B16431-2563-E35B-71C8-D6A78969B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729" y="1223608"/>
            <a:ext cx="3397383" cy="4410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013C2F-8136-2184-5113-E1A2B9637D9B}"/>
              </a:ext>
            </a:extLst>
          </p:cNvPr>
          <p:cNvCxnSpPr>
            <a:cxnSpLocks/>
          </p:cNvCxnSpPr>
          <p:nvPr/>
        </p:nvCxnSpPr>
        <p:spPr>
          <a:xfrm>
            <a:off x="1059873" y="1263976"/>
            <a:ext cx="0" cy="441078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825445C4-6081-57DA-FE4A-D4B0BEA9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9546B38-531B-4070-3AAD-30EB1D9C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31FA89-38B3-0FA8-A8D8-795F1ED5F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949" y="1263976"/>
            <a:ext cx="3214801" cy="4410784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254662D-9590-E3D1-B66B-D209FC73BA6B}"/>
              </a:ext>
            </a:extLst>
          </p:cNvPr>
          <p:cNvCxnSpPr/>
          <p:nvPr/>
        </p:nvCxnSpPr>
        <p:spPr>
          <a:xfrm>
            <a:off x="4913744" y="3200400"/>
            <a:ext cx="1078992" cy="0"/>
          </a:xfrm>
          <a:prstGeom prst="straightConnector1">
            <a:avLst/>
          </a:prstGeom>
          <a:ln w="825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0BB5C8-C136-C6A7-54EE-1C836AB4222A}"/>
              </a:ext>
            </a:extLst>
          </p:cNvPr>
          <p:cNvSpPr txBox="1"/>
          <p:nvPr/>
        </p:nvSpPr>
        <p:spPr>
          <a:xfrm>
            <a:off x="1579417" y="5772772"/>
            <a:ext cx="19415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NAS BEST MODEL CONFIG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51CCB-06B5-B220-0E8A-15536D177A37}"/>
              </a:ext>
            </a:extLst>
          </p:cNvPr>
          <p:cNvSpPr txBox="1"/>
          <p:nvPr/>
        </p:nvSpPr>
        <p:spPr>
          <a:xfrm>
            <a:off x="7006296" y="5772771"/>
            <a:ext cx="25234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Teacher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oup of graphs showing the growth of a number of individuals">
            <a:extLst>
              <a:ext uri="{FF2B5EF4-FFF2-40B4-BE49-F238E27FC236}">
                <a16:creationId xmlns:a16="http://schemas.microsoft.com/office/drawing/2014/main" id="{63ACD4ED-E6D0-6A63-9216-3E1FE6CB6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058" y="1819600"/>
            <a:ext cx="6210300" cy="3105150"/>
          </a:xfrm>
          <a:prstGeom prst="rect">
            <a:avLst/>
          </a:prstGeom>
        </p:spPr>
      </p:pic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4542966E-8336-4856-40AC-A1E33F3CE8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484" y="1933250"/>
            <a:ext cx="3988667" cy="299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246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Custom Student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65D7E2-FC4E-2C1D-6510-DC66F0BF1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28800"/>
            <a:ext cx="4267200" cy="3200400"/>
          </a:xfrm>
          <a:prstGeom prst="rect">
            <a:avLst/>
          </a:prstGeom>
        </p:spPr>
      </p:pic>
      <p:pic>
        <p:nvPicPr>
          <p:cNvPr id="11" name="Picture 10" descr="A group of graphs showing the growth of a number of individuals">
            <a:extLst>
              <a:ext uri="{FF2B5EF4-FFF2-40B4-BE49-F238E27FC236}">
                <a16:creationId xmlns:a16="http://schemas.microsoft.com/office/drawing/2014/main" id="{9F1FF512-A1EA-9526-5986-395D035AF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050" y="1828800"/>
            <a:ext cx="6381750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4818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Yolov8n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A5B51E23-129E-8C8A-7964-7F2BE3137E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24" y="1810940"/>
            <a:ext cx="4314825" cy="3236119"/>
          </a:xfrm>
          <a:prstGeom prst="rect">
            <a:avLst/>
          </a:prstGeom>
        </p:spPr>
      </p:pic>
      <p:pic>
        <p:nvPicPr>
          <p:cNvPr id="10" name="Picture 9" descr="A group of graphs showing the growth of a number of individuals">
            <a:extLst>
              <a:ext uri="{FF2B5EF4-FFF2-40B4-BE49-F238E27FC236}">
                <a16:creationId xmlns:a16="http://schemas.microsoft.com/office/drawing/2014/main" id="{548DEBB6-8B07-2581-D48E-5EE0B4DCF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073" y="1810940"/>
            <a:ext cx="6698460" cy="33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682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Vs Custom Yolov8n  Vs Teacher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08D266C-BA74-CF28-F549-9166C8C4E2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701" y="2083201"/>
            <a:ext cx="3371850" cy="2247900"/>
          </a:xfrm>
          <a:prstGeom prst="rect">
            <a:avLst/>
          </a:prstGeom>
        </p:spPr>
      </p:pic>
      <p:pic>
        <p:nvPicPr>
          <p:cNvPr id="11" name="Picture 10" descr="A graph of a graph showing different colors&#10;&#10;AI-generated content may be incorrect.">
            <a:extLst>
              <a:ext uri="{FF2B5EF4-FFF2-40B4-BE49-F238E27FC236}">
                <a16:creationId xmlns:a16="http://schemas.microsoft.com/office/drawing/2014/main" id="{A71CE207-451F-C141-A268-4C9207B884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827" y="2082799"/>
            <a:ext cx="3371850" cy="2247900"/>
          </a:xfrm>
          <a:prstGeom prst="rect">
            <a:avLst/>
          </a:prstGeom>
        </p:spPr>
      </p:pic>
      <p:pic>
        <p:nvPicPr>
          <p:cNvPr id="13" name="Picture 12" descr="A graph of a graph of confidence&#10;&#10;AI-generated content may be incorrect.">
            <a:extLst>
              <a:ext uri="{FF2B5EF4-FFF2-40B4-BE49-F238E27FC236}">
                <a16:creationId xmlns:a16="http://schemas.microsoft.com/office/drawing/2014/main" id="{AEDF0FA9-283C-D4A5-C497-10C2DEF8EA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5325" y="2082799"/>
            <a:ext cx="3372453" cy="224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4749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Performance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01D7B-A765-3A6E-E266-99D7C1506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946" y="3727338"/>
            <a:ext cx="7145737" cy="1685919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6391AE-13F5-AA55-F1A2-22BAD6FC4FA5}"/>
              </a:ext>
            </a:extLst>
          </p:cNvPr>
          <p:cNvCxnSpPr>
            <a:cxnSpLocks/>
          </p:cNvCxnSpPr>
          <p:nvPr/>
        </p:nvCxnSpPr>
        <p:spPr>
          <a:xfrm>
            <a:off x="1609356" y="3242834"/>
            <a:ext cx="0" cy="217042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5825E8-6BB8-43CC-C0CE-0B53756D2C95}"/>
              </a:ext>
            </a:extLst>
          </p:cNvPr>
          <p:cNvSpPr txBox="1"/>
          <p:nvPr/>
        </p:nvSpPr>
        <p:spPr>
          <a:xfrm>
            <a:off x="1853946" y="32428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Comprehensive Performance Metrics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3561D4-BA41-F057-7950-00F4DBFA6DD8}"/>
              </a:ext>
            </a:extLst>
          </p:cNvPr>
          <p:cNvSpPr/>
          <p:nvPr/>
        </p:nvSpPr>
        <p:spPr>
          <a:xfrm>
            <a:off x="1798528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4711725-6F6E-314A-0721-1B105EC4D8C6}"/>
              </a:ext>
            </a:extLst>
          </p:cNvPr>
          <p:cNvSpPr/>
          <p:nvPr/>
        </p:nvSpPr>
        <p:spPr>
          <a:xfrm>
            <a:off x="1940212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-1% vs Baseline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AC6A7-B743-5628-F3C3-07EBB30032B3}"/>
              </a:ext>
            </a:extLst>
          </p:cNvPr>
          <p:cNvSpPr/>
          <p:nvPr/>
        </p:nvSpPr>
        <p:spPr>
          <a:xfrm>
            <a:off x="359392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CA16F70-A41B-DFC0-06AE-F914134D2235}"/>
              </a:ext>
            </a:extLst>
          </p:cNvPr>
          <p:cNvSpPr/>
          <p:nvPr/>
        </p:nvSpPr>
        <p:spPr>
          <a:xfrm>
            <a:off x="3735605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mAP@50 Retention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D94BE60-40FB-3193-3E04-09FDED8E399D}"/>
              </a:ext>
            </a:extLst>
          </p:cNvPr>
          <p:cNvSpPr/>
          <p:nvPr/>
        </p:nvSpPr>
        <p:spPr>
          <a:xfrm>
            <a:off x="539761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F48FFA2-BD69-51F5-CAE3-4FECD606BCD0}"/>
              </a:ext>
            </a:extLst>
          </p:cNvPr>
          <p:cNvSpPr/>
          <p:nvPr/>
        </p:nvSpPr>
        <p:spPr>
          <a:xfrm>
            <a:off x="5468453" y="2396809"/>
            <a:ext cx="1387708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Real-time Performance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E66524-AD0D-5B23-D847-29A643E58EF3}"/>
              </a:ext>
            </a:extLst>
          </p:cNvPr>
          <p:cNvSpPr/>
          <p:nvPr/>
        </p:nvSpPr>
        <p:spPr>
          <a:xfrm>
            <a:off x="7185573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C89E30F-3865-F40A-F688-FC4887A1309B}"/>
              </a:ext>
            </a:extLst>
          </p:cNvPr>
          <p:cNvSpPr/>
          <p:nvPr/>
        </p:nvSpPr>
        <p:spPr>
          <a:xfrm>
            <a:off x="7327257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76.92% Size Reduction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C92407-26F4-BBF8-07F9-61F1D30503D0}"/>
              </a:ext>
            </a:extLst>
          </p:cNvPr>
          <p:cNvSpPr txBox="1"/>
          <p:nvPr/>
        </p:nvSpPr>
        <p:spPr>
          <a:xfrm>
            <a:off x="2073920" y="1480694"/>
            <a:ext cx="99738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97.74%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145AB-5F48-5E0A-CB66-EDDAD8021B87}"/>
              </a:ext>
            </a:extLst>
          </p:cNvPr>
          <p:cNvSpPr txBox="1"/>
          <p:nvPr/>
        </p:nvSpPr>
        <p:spPr>
          <a:xfrm>
            <a:off x="3869313" y="1480694"/>
            <a:ext cx="8611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99.5%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9D9539-A762-9E0D-FFE4-406FD0BF355B}"/>
              </a:ext>
            </a:extLst>
          </p:cNvPr>
          <p:cNvSpPr txBox="1"/>
          <p:nvPr/>
        </p:nvSpPr>
        <p:spPr>
          <a:xfrm>
            <a:off x="5800085" y="1480694"/>
            <a:ext cx="5918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6D9C6-522E-E4C4-5B55-17C68BD17FE5}"/>
              </a:ext>
            </a:extLst>
          </p:cNvPr>
          <p:cNvSpPr txBox="1"/>
          <p:nvPr/>
        </p:nvSpPr>
        <p:spPr>
          <a:xfrm>
            <a:off x="7537909" y="1508449"/>
            <a:ext cx="84350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30MB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01A7F-1C80-10A6-00D7-FC5671FE388F}"/>
              </a:ext>
            </a:extLst>
          </p:cNvPr>
          <p:cNvSpPr txBox="1"/>
          <p:nvPr/>
        </p:nvSpPr>
        <p:spPr>
          <a:xfrm>
            <a:off x="1964712" y="1938775"/>
            <a:ext cx="1240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Final Model Accuracy </a:t>
            </a:r>
          </a:p>
          <a:p>
            <a:r>
              <a:rPr lang="en-US" sz="900" dirty="0"/>
              <a:t>        (mAP@50)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880CCD-2435-C2EC-65DA-2155DE446A3B}"/>
              </a:ext>
            </a:extLst>
          </p:cNvPr>
          <p:cNvSpPr txBox="1"/>
          <p:nvPr/>
        </p:nvSpPr>
        <p:spPr>
          <a:xfrm>
            <a:off x="3780006" y="1974137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Knowledge Retention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C67C7-2BBC-F123-836E-CC879C289B05}"/>
              </a:ext>
            </a:extLst>
          </p:cNvPr>
          <p:cNvSpPr txBox="1"/>
          <p:nvPr/>
        </p:nvSpPr>
        <p:spPr>
          <a:xfrm>
            <a:off x="5694323" y="2008025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FPS Achieved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54264F-4C98-E0F6-1714-90F12AED7D68}"/>
              </a:ext>
            </a:extLst>
          </p:cNvPr>
          <p:cNvSpPr txBox="1"/>
          <p:nvPr/>
        </p:nvSpPr>
        <p:spPr>
          <a:xfrm>
            <a:off x="7603968" y="1959832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Model Size</a:t>
            </a:r>
          </a:p>
        </p:txBody>
      </p:sp>
    </p:spTree>
    <p:extLst>
      <p:ext uri="{BB962C8B-B14F-4D97-AF65-F5344CB8AC3E}">
        <p14:creationId xmlns:p14="http://schemas.microsoft.com/office/powerpoint/2010/main" val="1681518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CEAB88A-11F8-B83F-E7B7-9D70A96AE663}"/>
              </a:ext>
            </a:extLst>
          </p:cNvPr>
          <p:cNvSpPr/>
          <p:nvPr/>
        </p:nvSpPr>
        <p:spPr>
          <a:xfrm>
            <a:off x="1106054" y="4261401"/>
            <a:ext cx="9395691" cy="993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846C1-DDB4-BA8A-64D9-39E1EB5663D2}"/>
              </a:ext>
            </a:extLst>
          </p:cNvPr>
          <p:cNvSpPr/>
          <p:nvPr/>
        </p:nvSpPr>
        <p:spPr>
          <a:xfrm>
            <a:off x="1106054" y="1414233"/>
            <a:ext cx="9395691" cy="14868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65911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endParaRPr lang="en-US" sz="27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1106054" y="141423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Key Achievements</a:t>
            </a:r>
          </a:p>
          <a:p>
            <a:endParaRPr lang="en-US" b="1" dirty="0">
              <a:solidFill>
                <a:srgbClr val="00206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1009046" y="1402035"/>
            <a:ext cx="0" cy="149900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1175430" y="1760259"/>
            <a:ext cx="64525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Successfully broke the traditional performance-efficiency trade-off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Achieved 99.5% knowledge retention from teacher to student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Maintained high accuracy (97.74%) while achieving real-time performance (30+ FPS)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Reduced model size by 76% (130MB → 30MB)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Implemented production-ready MLOps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3E408-3E00-3833-41D6-2D7040061AB5}"/>
              </a:ext>
            </a:extLst>
          </p:cNvPr>
          <p:cNvSpPr/>
          <p:nvPr/>
        </p:nvSpPr>
        <p:spPr>
          <a:xfrm>
            <a:off x="1106054" y="3011172"/>
            <a:ext cx="9395691" cy="11367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2D7BC-B1AA-396E-015E-7A5C01FF00DE}"/>
              </a:ext>
            </a:extLst>
          </p:cNvPr>
          <p:cNvSpPr txBox="1"/>
          <p:nvPr/>
        </p:nvSpPr>
        <p:spPr>
          <a:xfrm>
            <a:off x="1106054" y="30111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Practical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D60F60-D6B6-1E84-44A8-51E98A8F2EA9}"/>
              </a:ext>
            </a:extLst>
          </p:cNvPr>
          <p:cNvCxnSpPr>
            <a:cxnSpLocks/>
          </p:cNvCxnSpPr>
          <p:nvPr/>
        </p:nvCxnSpPr>
        <p:spPr>
          <a:xfrm>
            <a:off x="1009046" y="2998975"/>
            <a:ext cx="0" cy="11489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9EC7B5-B25E-7F04-2F16-F9FC908630C1}"/>
              </a:ext>
            </a:extLst>
          </p:cNvPr>
          <p:cNvSpPr txBox="1"/>
          <p:nvPr/>
        </p:nvSpPr>
        <p:spPr>
          <a:xfrm>
            <a:off x="1175430" y="3370428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Highway vehicle tracking and counting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Edge deployment for real-time traffic monitoring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Scalable MLOps framework for model optimization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FCD6B6-FE4A-A3E9-2E4D-33A79550368B}"/>
              </a:ext>
            </a:extLst>
          </p:cNvPr>
          <p:cNvSpPr txBox="1"/>
          <p:nvPr/>
        </p:nvSpPr>
        <p:spPr>
          <a:xfrm>
            <a:off x="1106055" y="4234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Research Directions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64AD2A-D065-8138-8C4C-245CBCA6ECE1}"/>
              </a:ext>
            </a:extLst>
          </p:cNvPr>
          <p:cNvCxnSpPr>
            <a:cxnSpLocks/>
          </p:cNvCxnSpPr>
          <p:nvPr/>
        </p:nvCxnSpPr>
        <p:spPr>
          <a:xfrm>
            <a:off x="1009047" y="4222112"/>
            <a:ext cx="0" cy="110809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9A7E39-4E54-F97F-B219-D38303C68EF7}"/>
              </a:ext>
            </a:extLst>
          </p:cNvPr>
          <p:cNvSpPr txBox="1"/>
          <p:nvPr/>
        </p:nvSpPr>
        <p:spPr>
          <a:xfrm>
            <a:off x="1175431" y="4551310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Extension to other object detection architectures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Multi-teacher knowledge distillation approaches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architecture adaptation based on hardware constraints</a:t>
            </a:r>
          </a:p>
        </p:txBody>
      </p:sp>
    </p:spTree>
    <p:extLst>
      <p:ext uri="{BB962C8B-B14F-4D97-AF65-F5344CB8AC3E}">
        <p14:creationId xmlns:p14="http://schemas.microsoft.com/office/powerpoint/2010/main" val="37162946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 : Highway Vehicle Tracking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5" y="1238271"/>
            <a:ext cx="6940907" cy="4540483"/>
          </a:xfrm>
          <a:prstGeom prst="rect">
            <a:avLst/>
          </a:prstGeom>
        </p:spPr>
      </p:pic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C4648A69-C729-B783-6CA1-6175995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258E6F15-D03A-4DB0-EB5A-5B186E229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</a:t>
            </a:r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12F00-0AAC-E395-90E7-3C30B396E75F}"/>
              </a:ext>
            </a:extLst>
          </p:cNvPr>
          <p:cNvSpPr txBox="1"/>
          <p:nvPr/>
        </p:nvSpPr>
        <p:spPr>
          <a:xfrm>
            <a:off x="838200" y="1227436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Repository:</a:t>
            </a:r>
            <a:endParaRPr lang="en-US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https://github.com/RajeshRamadas/yolov8-model-optimization/tree/main/02-Implementation/knowledge_distillation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https://github.com/RajeshRamadas/highway-vehicle-tracker/tree/75d96c9aa849d52c155dc343237ff121f7ebbb99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 &amp; Documentation 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https://github.com/RajeshRamadas/yolov8-model-optimization/tree/main/01-Project-management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https://universe.roboflow.com/roboflow-100/vehicles-q0x2v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20FBD6F-FD9C-0725-2B11-20388D64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C652EA5-E94A-FBAB-CFFA-97694049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958639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2358</Words>
  <Application>Microsoft Office PowerPoint</Application>
  <PresentationFormat>Widescreen</PresentationFormat>
  <Paragraphs>393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Abadi</vt:lpstr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Research Overview </vt:lpstr>
      <vt:lpstr>    </vt:lpstr>
      <vt:lpstr>    </vt:lpstr>
      <vt:lpstr>  </vt:lpstr>
      <vt:lpstr>PowerPoint Presentation</vt:lpstr>
      <vt:lpstr>PowerPoint Presentation</vt:lpstr>
      <vt:lpstr>PowerPoint Presentation</vt:lpstr>
      <vt:lpstr>  </vt:lpstr>
      <vt:lpstr>        </vt:lpstr>
      <vt:lpstr>    </vt:lpstr>
      <vt:lpstr>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Yolov8n Custom Config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: Highway Vehicle Tracking  </vt:lpstr>
      <vt:lpstr>Repository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423</cp:revision>
  <dcterms:created xsi:type="dcterms:W3CDTF">2025-01-17T06:21:01Z</dcterms:created>
  <dcterms:modified xsi:type="dcterms:W3CDTF">2025-06-01T12:36:37Z</dcterms:modified>
</cp:coreProperties>
</file>