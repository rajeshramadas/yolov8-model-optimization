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1"/>
  </p:notesMasterIdLst>
  <p:sldIdLst>
    <p:sldId id="257" r:id="rId3"/>
    <p:sldId id="334" r:id="rId4"/>
    <p:sldId id="346" r:id="rId5"/>
    <p:sldId id="347" r:id="rId6"/>
    <p:sldId id="369" r:id="rId7"/>
    <p:sldId id="370" r:id="rId8"/>
    <p:sldId id="349" r:id="rId9"/>
    <p:sldId id="367" r:id="rId10"/>
    <p:sldId id="361" r:id="rId11"/>
    <p:sldId id="368" r:id="rId12"/>
    <p:sldId id="329" r:id="rId13"/>
    <p:sldId id="365" r:id="rId14"/>
    <p:sldId id="348" r:id="rId15"/>
    <p:sldId id="338" r:id="rId16"/>
    <p:sldId id="340" r:id="rId17"/>
    <p:sldId id="341" r:id="rId18"/>
    <p:sldId id="351" r:id="rId19"/>
    <p:sldId id="360" r:id="rId20"/>
    <p:sldId id="362" r:id="rId21"/>
    <p:sldId id="364" r:id="rId22"/>
    <p:sldId id="355" r:id="rId23"/>
    <p:sldId id="353" r:id="rId24"/>
    <p:sldId id="356" r:id="rId25"/>
    <p:sldId id="354" r:id="rId26"/>
    <p:sldId id="352" r:id="rId27"/>
    <p:sldId id="343" r:id="rId28"/>
    <p:sldId id="344" r:id="rId29"/>
    <p:sldId id="32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universe.roboflow.com/roboflow-100/vehicles-q0x2v" TargetMode="Externa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8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 Architecture</a:t>
            </a:r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diagram of a flowchart">
            <a:extLst>
              <a:ext uri="{FF2B5EF4-FFF2-40B4-BE49-F238E27FC236}">
                <a16:creationId xmlns:a16="http://schemas.microsoft.com/office/drawing/2014/main" id="{7C0236EF-3CCA-F86A-6C43-D04C9FCFAD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2466" y="1421323"/>
            <a:ext cx="5671718" cy="22588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783AD48-98CC-3534-BF3B-7BF56E2425AE}"/>
              </a:ext>
            </a:extLst>
          </p:cNvPr>
          <p:cNvSpPr txBox="1"/>
          <p:nvPr/>
        </p:nvSpPr>
        <p:spPr>
          <a:xfrm>
            <a:off x="5454057" y="3894889"/>
            <a:ext cx="558012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</a:rPr>
              <a:t>YOLO Architecture: Key Components</a:t>
            </a:r>
          </a:p>
          <a:p>
            <a:endParaRPr lang="en-US" sz="1400" b="1" u="sng" dirty="0">
              <a:solidFill>
                <a:srgbClr val="002060"/>
              </a:solidFill>
              <a:latin typeface="Segoe UI" panose="020B0502040204020203" pitchFamily="34" charset="0"/>
            </a:endParaRPr>
          </a:p>
          <a:p>
            <a:r>
              <a:rPr lang="en-US" sz="1400" b="1" dirty="0">
                <a:solidFill>
                  <a:srgbClr val="002060"/>
                </a:solidFill>
                <a:latin typeface="Segoe UI" panose="020B0502040204020203" pitchFamily="34" charset="0"/>
              </a:rPr>
              <a:t>Backbone</a:t>
            </a: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: Extracts features from input images (edges, textures) and generates multi-scale representations.</a:t>
            </a:r>
          </a:p>
          <a:p>
            <a:endParaRPr lang="en-US" sz="1400" dirty="0">
              <a:solidFill>
                <a:srgbClr val="002060"/>
              </a:solidFill>
              <a:latin typeface="Segoe UI" panose="020B0502040204020203" pitchFamily="34" charset="0"/>
            </a:endParaRPr>
          </a:p>
          <a:p>
            <a:r>
              <a:rPr lang="en-US" sz="1400" b="1" dirty="0">
                <a:solidFill>
                  <a:srgbClr val="002060"/>
                </a:solidFill>
                <a:latin typeface="Segoe UI" panose="020B0502040204020203" pitchFamily="34" charset="0"/>
              </a:rPr>
              <a:t>Neck</a:t>
            </a: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: Fuses features from different scales, integrates contextual information, and reduces resolution for efficient computation.</a:t>
            </a:r>
          </a:p>
          <a:p>
            <a:endParaRPr lang="en-US" sz="1400" dirty="0">
              <a:solidFill>
                <a:srgbClr val="002060"/>
              </a:solidFill>
              <a:latin typeface="Segoe UI" panose="020B0502040204020203" pitchFamily="34" charset="0"/>
            </a:endParaRPr>
          </a:p>
          <a:p>
            <a:r>
              <a:rPr lang="en-US" sz="1400" b="1" dirty="0">
                <a:solidFill>
                  <a:srgbClr val="002060"/>
                </a:solidFill>
                <a:latin typeface="Segoe UI" panose="020B0502040204020203" pitchFamily="34" charset="0"/>
              </a:rPr>
              <a:t>Head</a:t>
            </a: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: Outputs bounding boxes and confidence scores, and sorts detected objects by category.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C0B4818-A89D-532B-DDB7-0595842B1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436420"/>
            <a:ext cx="3783358" cy="470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611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Width vs Depth Scaling </a:t>
            </a:r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8172A5-95B4-936C-1A7C-0E2FBB812EC1}"/>
              </a:ext>
            </a:extLst>
          </p:cNvPr>
          <p:cNvSpPr txBox="1"/>
          <p:nvPr/>
        </p:nvSpPr>
        <p:spPr>
          <a:xfrm>
            <a:off x="954981" y="3207300"/>
            <a:ext cx="332310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 of repeats in blocks </a:t>
            </a: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 C2f, C3, or Bottleneck.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[-1, 6, C2f, [256, True]] (Example)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repeats = max(round(6 * 0.33), 1) = 2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[-1, 2, C2f, [256, True]]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repeats = max(round(6 * 1), 1) = 6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[-1, 6, C2f, [256, True]]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C835E4-EE6E-E2A8-D982-8A2D1D2D6CCB}"/>
              </a:ext>
            </a:extLst>
          </p:cNvPr>
          <p:cNvSpPr txBox="1"/>
          <p:nvPr/>
        </p:nvSpPr>
        <p:spPr>
          <a:xfrm>
            <a:off x="943367" y="2868746"/>
            <a:ext cx="496213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Depth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F247B9C-69F0-9BCE-4DE3-1F1BC648C670}"/>
              </a:ext>
            </a:extLst>
          </p:cNvPr>
          <p:cNvCxnSpPr>
            <a:cxnSpLocks/>
          </p:cNvCxnSpPr>
          <p:nvPr/>
        </p:nvCxnSpPr>
        <p:spPr>
          <a:xfrm>
            <a:off x="838200" y="2873871"/>
            <a:ext cx="0" cy="310111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D066F55-ADA6-9230-9F57-1435445552C5}"/>
              </a:ext>
            </a:extLst>
          </p:cNvPr>
          <p:cNvSpPr txBox="1"/>
          <p:nvPr/>
        </p:nvSpPr>
        <p:spPr>
          <a:xfrm>
            <a:off x="4289699" y="3191254"/>
            <a:ext cx="314325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 of output channels (filters) in </a:t>
            </a: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Conv/C2f/SPPF.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1, Conv, [256, 3, 2]] </a:t>
            </a:r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(Example)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filters = int(256 * 0.25) = 64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1, Conv, [64, 3, 2]]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filters = int(256 * 1) = 256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1, Conv, [256, 3, 2]]</a:t>
            </a:r>
            <a:endParaRPr lang="en-US" sz="12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474FFF-84E9-68DC-CF6E-2F1064733047}"/>
              </a:ext>
            </a:extLst>
          </p:cNvPr>
          <p:cNvSpPr txBox="1"/>
          <p:nvPr/>
        </p:nvSpPr>
        <p:spPr>
          <a:xfrm>
            <a:off x="4284014" y="288187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Width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965049A-1BC7-0B54-58E7-5E419E1DBB34}"/>
              </a:ext>
            </a:extLst>
          </p:cNvPr>
          <p:cNvCxnSpPr>
            <a:cxnSpLocks/>
          </p:cNvCxnSpPr>
          <p:nvPr/>
        </p:nvCxnSpPr>
        <p:spPr>
          <a:xfrm>
            <a:off x="4178847" y="2929218"/>
            <a:ext cx="7223" cy="291099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856965-7AAB-7AEE-0CFB-5F75540326F0}"/>
              </a:ext>
            </a:extLst>
          </p:cNvPr>
          <p:cNvSpPr txBox="1"/>
          <p:nvPr/>
        </p:nvSpPr>
        <p:spPr>
          <a:xfrm>
            <a:off x="7677149" y="3235770"/>
            <a:ext cx="434164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 of output channels (filters) in </a:t>
            </a: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Conv/C2f/SPPF.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[-1, 1, Conv, [1024, 3, 2]] # 7-P5/32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[-1, 3, C2f, [1024, True]]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[-1, 1, SPPF, [1024, 5]] # 9</a:t>
            </a:r>
          </a:p>
          <a:p>
            <a:endParaRPr lang="it-IT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scales: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l: [1.0, 1.0, 512]   # depth, width, max_channels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x: [1.0, 1.25, 512]</a:t>
            </a:r>
          </a:p>
          <a:p>
            <a:endParaRPr lang="it-IT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it-IT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1, Conv, [512, 3, 2]] # 7-P5/32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3, C2f, [512, True]]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1, SPPF, [512, 5]] # 9</a:t>
            </a:r>
          </a:p>
          <a:p>
            <a:endParaRPr lang="it-IT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E5B33F-C67B-9586-59DD-E2568F03F71B}"/>
              </a:ext>
            </a:extLst>
          </p:cNvPr>
          <p:cNvSpPr txBox="1"/>
          <p:nvPr/>
        </p:nvSpPr>
        <p:spPr>
          <a:xfrm>
            <a:off x="7566298" y="291100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 Channels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DCC2469-9F5A-E7EA-5411-F33745642597}"/>
              </a:ext>
            </a:extLst>
          </p:cNvPr>
          <p:cNvCxnSpPr>
            <a:cxnSpLocks/>
          </p:cNvCxnSpPr>
          <p:nvPr/>
        </p:nvCxnSpPr>
        <p:spPr>
          <a:xfrm>
            <a:off x="7566298" y="2973734"/>
            <a:ext cx="0" cy="285334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8323F857-B748-4F01-22C6-9E0E216C0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367" y="1337484"/>
            <a:ext cx="6520522" cy="106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625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Training Configuration 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43C1D3-2637-7076-86B7-ADEE06D1A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5" y="2102780"/>
            <a:ext cx="1219767" cy="28286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DAE2F3-F6EE-18F1-6B96-AF1EE8E01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697" y="1321820"/>
            <a:ext cx="1372363" cy="9272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BD0BE11-9FC9-F497-938F-03D42650B1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2749" y="2515471"/>
            <a:ext cx="1356467" cy="895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DA132B7-BA2E-C766-32F4-92E9BD1ED0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29" y="3729198"/>
            <a:ext cx="1356467" cy="895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 useBgFill="1">
        <p:nvSpPr>
          <p:cNvPr id="24" name="Left Brace 23">
            <a:extLst>
              <a:ext uri="{FF2B5EF4-FFF2-40B4-BE49-F238E27FC236}">
                <a16:creationId xmlns:a16="http://schemas.microsoft.com/office/drawing/2014/main" id="{C160F9AC-98D3-BF34-14DA-E9A1F14640FE}"/>
              </a:ext>
            </a:extLst>
          </p:cNvPr>
          <p:cNvSpPr/>
          <p:nvPr/>
        </p:nvSpPr>
        <p:spPr>
          <a:xfrm>
            <a:off x="2439687" y="1229905"/>
            <a:ext cx="969674" cy="4732273"/>
          </a:xfrm>
          <a:prstGeom prst="leftBrace">
            <a:avLst>
              <a:gd name="adj1" fmla="val 8333"/>
              <a:gd name="adj2" fmla="val 51039"/>
            </a:avLst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000080"/>
              </a:highlight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E0339A-22C7-4C14-3F91-C748C33AABBD}"/>
              </a:ext>
            </a:extLst>
          </p:cNvPr>
          <p:cNvSpPr txBox="1"/>
          <p:nvPr/>
        </p:nvSpPr>
        <p:spPr>
          <a:xfrm rot="16200000">
            <a:off x="-198918" y="3347383"/>
            <a:ext cx="1382110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search_space.json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CC77BD-CE43-21DC-B5D7-E788AE0805CD}"/>
              </a:ext>
            </a:extLst>
          </p:cNvPr>
          <p:cNvSpPr txBox="1"/>
          <p:nvPr/>
        </p:nvSpPr>
        <p:spPr>
          <a:xfrm rot="16200000">
            <a:off x="2595681" y="3300093"/>
            <a:ext cx="1287532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trial_configs.json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FB22467-39A7-B73E-A865-58F747961B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4662" y="3729198"/>
            <a:ext cx="3827709" cy="2079069"/>
          </a:xfrm>
          <a:prstGeom prst="rect">
            <a:avLst/>
          </a:prstGeom>
        </p:spPr>
      </p:pic>
      <p:sp useBgFill="1">
        <p:nvSpPr>
          <p:cNvPr id="29" name="Left Brace 28">
            <a:extLst>
              <a:ext uri="{FF2B5EF4-FFF2-40B4-BE49-F238E27FC236}">
                <a16:creationId xmlns:a16="http://schemas.microsoft.com/office/drawing/2014/main" id="{5CE16F9C-A956-FB67-B9C5-57C3AE474F7F}"/>
              </a:ext>
            </a:extLst>
          </p:cNvPr>
          <p:cNvSpPr/>
          <p:nvPr/>
        </p:nvSpPr>
        <p:spPr>
          <a:xfrm>
            <a:off x="5479393" y="1700784"/>
            <a:ext cx="969674" cy="4005072"/>
          </a:xfrm>
          <a:prstGeom prst="leftBrace">
            <a:avLst>
              <a:gd name="adj1" fmla="val 8333"/>
              <a:gd name="adj2" fmla="val 51039"/>
            </a:avLst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000080"/>
              </a:highlight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EA23C7-2409-857A-7D5E-3C06EC8F4D7A}"/>
              </a:ext>
            </a:extLst>
          </p:cNvPr>
          <p:cNvSpPr txBox="1"/>
          <p:nvPr/>
        </p:nvSpPr>
        <p:spPr>
          <a:xfrm rot="16200000">
            <a:off x="7006920" y="4630232"/>
            <a:ext cx="1653017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A883909-E5B8-0174-955B-7AAA782238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9329" y="4914080"/>
            <a:ext cx="1356467" cy="9113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7D40BD4-EC2C-CB55-480C-C34311BD91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4662" y="1569705"/>
            <a:ext cx="3827709" cy="1859295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FA0138C-09E8-053A-A8B0-1700FE9B2BD7}"/>
              </a:ext>
            </a:extLst>
          </p:cNvPr>
          <p:cNvSpPr txBox="1"/>
          <p:nvPr/>
        </p:nvSpPr>
        <p:spPr>
          <a:xfrm rot="16200000">
            <a:off x="7235772" y="2407676"/>
            <a:ext cx="1241045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Yolov8n  Config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620BBA7-0193-DC2B-17B4-EADEB0D06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0046" y="4313043"/>
            <a:ext cx="1356467" cy="9113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A48BC75-B4D3-3717-3F68-20C68A3163D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75999"/>
          <a:stretch/>
        </p:blipFill>
        <p:spPr>
          <a:xfrm>
            <a:off x="6267944" y="2014994"/>
            <a:ext cx="1288569" cy="11245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8169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621770B-A395-5BD0-992B-2ED22ABA011B}"/>
              </a:ext>
            </a:extLst>
          </p:cNvPr>
          <p:cNvSpPr/>
          <p:nvPr/>
        </p:nvSpPr>
        <p:spPr>
          <a:xfrm>
            <a:off x="5742432" y="2306484"/>
            <a:ext cx="6007608" cy="224028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Best Model Selection - </a:t>
            </a:r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Metrics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31026F-DF40-2E5B-7989-8AFED6781E7D}"/>
              </a:ext>
            </a:extLst>
          </p:cNvPr>
          <p:cNvSpPr txBox="1"/>
          <p:nvPr/>
        </p:nvSpPr>
        <p:spPr>
          <a:xfrm>
            <a:off x="838200" y="1377789"/>
            <a:ext cx="4298116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Accuracy (mAP50-95)</a:t>
            </a:r>
          </a:p>
          <a:p>
            <a:pPr algn="l"/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Primary metric: Mean Average Precision at </a:t>
            </a:r>
            <a:r>
              <a:rPr lang="en-US" sz="11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IoU</a:t>
            </a: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thresholds 0.5-0.95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0.0 - 1.0 (higher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1.0 (highest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Directly measures detection quality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5C9E7F-CD17-3CFB-1527-AC226E4B7D68}"/>
              </a:ext>
            </a:extLst>
          </p:cNvPr>
          <p:cNvSpPr txBox="1"/>
          <p:nvPr/>
        </p:nvSpPr>
        <p:spPr>
          <a:xfrm>
            <a:off x="838200" y="2695313"/>
            <a:ext cx="4298116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Inference Speed (FPS)</a:t>
            </a:r>
          </a:p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Measures: Frames processed per second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0+ (higher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0.3 (moderate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Real-time deployment capability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B17689-1D69-4A13-5735-4CCC681274CE}"/>
              </a:ext>
            </a:extLst>
          </p:cNvPr>
          <p:cNvSpPr txBox="1"/>
          <p:nvPr/>
        </p:nvSpPr>
        <p:spPr>
          <a:xfrm>
            <a:off x="838200" y="4012837"/>
            <a:ext cx="4200144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 Size (MB)</a:t>
            </a:r>
          </a:p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Measures: Model file size in megabytes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0+ (smaller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0.2 (lower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Memory usage and deployment efficiency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48EAC0-17B8-52C9-E6BC-51197790731B}"/>
              </a:ext>
            </a:extLst>
          </p:cNvPr>
          <p:cNvSpPr txBox="1"/>
          <p:nvPr/>
        </p:nvSpPr>
        <p:spPr>
          <a:xfrm>
            <a:off x="7330006" y="2398921"/>
            <a:ext cx="35859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Combined Score Calculation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B103D-FA36-24B1-ECB6-E60AC0A0C9C3}"/>
              </a:ext>
            </a:extLst>
          </p:cNvPr>
          <p:cNvSpPr txBox="1"/>
          <p:nvPr/>
        </p:nvSpPr>
        <p:spPr>
          <a:xfrm>
            <a:off x="5973318" y="2844544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Combined Score = (1.0 × norm_mAP) + (0.3 × norm_FPS) + (0.2 × norm_Size)</a:t>
            </a:r>
            <a:endParaRPr lang="en-US" sz="1200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118743-BA1B-DE37-1AAE-1F9AA5878E14}"/>
              </a:ext>
            </a:extLst>
          </p:cNvPr>
          <p:cNvSpPr txBox="1"/>
          <p:nvPr/>
        </p:nvSpPr>
        <p:spPr>
          <a:xfrm>
            <a:off x="5973318" y="3459458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Accuracy =&gt; Weight: 1.0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35F9DB-171B-FB5B-9719-3BDA87D94178}"/>
              </a:ext>
            </a:extLst>
          </p:cNvPr>
          <p:cNvSpPr txBox="1"/>
          <p:nvPr/>
        </p:nvSpPr>
        <p:spPr>
          <a:xfrm>
            <a:off x="5973318" y="3152001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Speed =&gt; Weight: 0.3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4AE790-799F-0A86-78DF-18B79F1763E3}"/>
              </a:ext>
            </a:extLst>
          </p:cNvPr>
          <p:cNvSpPr txBox="1"/>
          <p:nvPr/>
        </p:nvSpPr>
        <p:spPr>
          <a:xfrm>
            <a:off x="5987360" y="3753052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Size =&gt;  Weight: 0.2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B73D80-D2FD-E9AC-0D10-009BDEFED738}"/>
              </a:ext>
            </a:extLst>
          </p:cNvPr>
          <p:cNvSpPr txBox="1"/>
          <p:nvPr/>
        </p:nvSpPr>
        <p:spPr>
          <a:xfrm>
            <a:off x="5927598" y="4100187"/>
            <a:ext cx="562127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0" i="1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*All metrics normalized to 0-1 scale for fair comparison</a:t>
            </a:r>
            <a:endParaRPr lang="en-US" sz="105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3018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Result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E5233-EC65-9635-CF63-DF428697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254" y="1060196"/>
            <a:ext cx="5958897" cy="13564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25859B6-204D-29B5-2CDB-CAC4F53C1294}"/>
              </a:ext>
            </a:extLst>
          </p:cNvPr>
          <p:cNvSpPr txBox="1"/>
          <p:nvPr/>
        </p:nvSpPr>
        <p:spPr>
          <a:xfrm>
            <a:off x="1620255" y="4084209"/>
            <a:ext cx="5958896" cy="101566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Key Trade-offs Observed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 4 wins with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optimal balance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: 73% accuracy, 142 FPS, 38MB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 2 has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highest accuracy (76%)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 but 6x larger size and slower inference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Trials 5 &amp; 0 are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smallest/fastest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 but with unacceptable accuracy loss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Architecture parameters significantly impact the accuracy-speed-size triangle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57D500-B7C8-D6D8-A193-35A41895D29E}"/>
              </a:ext>
            </a:extLst>
          </p:cNvPr>
          <p:cNvSpPr txBox="1"/>
          <p:nvPr/>
        </p:nvSpPr>
        <p:spPr>
          <a:xfrm>
            <a:off x="1620255" y="2479869"/>
            <a:ext cx="47168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b="1" dirty="0">
                <a:solidFill>
                  <a:srgbClr val="002060"/>
                </a:solidFill>
                <a:latin typeface="Segoe UI" panose="020B0502040204020203" pitchFamily="34" charset="0"/>
              </a:rPr>
              <a:t>Step-by-Step Calculation for Trial 4</a:t>
            </a: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mAP50-95:</a:t>
            </a:r>
          </a:p>
          <a:p>
            <a:r>
              <a:rPr lang="en-US" sz="600" b="1" i="0" dirty="0" err="1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norm_mAP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0.7309 (already normalized)</a:t>
            </a:r>
            <a:endParaRPr lang="en-US" sz="600" b="1" dirty="0">
              <a:solidFill>
                <a:srgbClr val="002060"/>
              </a:solidFill>
              <a:latin typeface="Segoe UI" panose="020B0502040204020203" pitchFamily="34" charset="0"/>
            </a:endParaRP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FPS:</a:t>
            </a:r>
          </a:p>
          <a:p>
            <a:r>
              <a:rPr lang="en-US" sz="600" b="1" i="0" dirty="0" err="1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norm_FPS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min(141.64 / 100, 1.0) = min(1.4164, 1.0) = 1.0000</a:t>
            </a:r>
          </a:p>
          <a:p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Size (smaller is better):</a:t>
            </a:r>
            <a:endParaRPr lang="en-US" sz="600" u="sng" dirty="0">
              <a:solidFill>
                <a:srgbClr val="002060"/>
              </a:solidFill>
              <a:latin typeface="Courier New" panose="02070309020205020404" pitchFamily="49" charset="0"/>
            </a:endParaRPr>
          </a:p>
          <a:p>
            <a:r>
              <a:rPr lang="nl-NL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norm_Size </a:t>
            </a:r>
            <a:r>
              <a:rPr lang="nl-NL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max(0, 1.0 - min(37.80 / 100, 0.9))</a:t>
            </a:r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         = max(0, 1.0 - min(0.378, 0.9)) = max(0, 1.0 - 0.378) = 0.6220</a:t>
            </a:r>
          </a:p>
          <a:p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Combined Score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(1.0 × 0.7309) + (0.3 × 1.0000) + (0.2 × 0.6220)</a:t>
            </a:r>
          </a:p>
          <a:p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	    = 0.7309 + 0.3000 + 0.1244 = 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1.1553</a:t>
            </a:r>
            <a:endParaRPr lang="en-US" sz="600" b="1" dirty="0">
              <a:solidFill>
                <a:srgbClr val="00206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228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729" y="1223608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31FA89-38B3-0FA8-A8D8-795F1ED5F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49" y="1263976"/>
            <a:ext cx="3214801" cy="441078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54662D-9590-E3D1-B66B-D209FC73BA6B}"/>
              </a:ext>
            </a:extLst>
          </p:cNvPr>
          <p:cNvCxnSpPr/>
          <p:nvPr/>
        </p:nvCxnSpPr>
        <p:spPr>
          <a:xfrm>
            <a:off x="4913744" y="3200400"/>
            <a:ext cx="1078992" cy="0"/>
          </a:xfrm>
          <a:prstGeom prst="straightConnector1">
            <a:avLst/>
          </a:prstGeom>
          <a:ln w="825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0BB5C8-C136-C6A7-54EE-1C836AB4222A}"/>
              </a:ext>
            </a:extLst>
          </p:cNvPr>
          <p:cNvSpPr txBox="1"/>
          <p:nvPr/>
        </p:nvSpPr>
        <p:spPr>
          <a:xfrm>
            <a:off x="1579417" y="5772772"/>
            <a:ext cx="1941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NAS BEST MODEL CONFIG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51CCB-06B5-B220-0E8A-15536D177A37}"/>
              </a:ext>
            </a:extLst>
          </p:cNvPr>
          <p:cNvSpPr txBox="1"/>
          <p:nvPr/>
        </p:nvSpPr>
        <p:spPr>
          <a:xfrm>
            <a:off x="7006296" y="5772771"/>
            <a:ext cx="25234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Implementation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09B04C-7D19-FB5D-E43D-A46C118BD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232" y="1155195"/>
            <a:ext cx="5148072" cy="447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158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05626F-59A2-8B25-3385-A333056F6452}"/>
              </a:ext>
            </a:extLst>
          </p:cNvPr>
          <p:cNvSpPr txBox="1"/>
          <p:nvPr/>
        </p:nvSpPr>
        <p:spPr>
          <a:xfrm>
            <a:off x="3088013" y="82956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Distilling the Knowledge in a Neural Network by Geoffrey Hinton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516273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353526" y="970529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274963" y="1018044"/>
            <a:ext cx="0" cy="131790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406663" y="1339861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: Computer Vision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2FB5F9-C6D7-4F85-5CF2-16688B7F91E6}"/>
              </a:ext>
            </a:extLst>
          </p:cNvPr>
          <p:cNvSpPr txBox="1"/>
          <p:nvPr/>
        </p:nvSpPr>
        <p:spPr>
          <a:xfrm>
            <a:off x="838200" y="1004048"/>
            <a:ext cx="106013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Part of the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Roboflow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100 (RF100) benchmark initiative by Intel to evaluate object detection model generalizability.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Originally created by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Yudha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Bhakti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Nugraha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Kris.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Contains 12 vehicle classes, including various types of buses, cars, and trucks.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Supports object detection tasks and is compatible with YOLOv5 and above.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Publicly available dataset with high engagement in terms of views and downloads.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DB5AFC-4439-9324-A934-8663EBDCA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56" y="2749006"/>
            <a:ext cx="9208732" cy="1634481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9295B-4E57-4488-CFE3-E28C1B480BE4}"/>
              </a:ext>
            </a:extLst>
          </p:cNvPr>
          <p:cNvCxnSpPr>
            <a:cxnSpLocks/>
          </p:cNvCxnSpPr>
          <p:nvPr/>
        </p:nvCxnSpPr>
        <p:spPr>
          <a:xfrm>
            <a:off x="948113" y="2742633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6F0DAE-658F-B55F-709C-862691434925}"/>
              </a:ext>
            </a:extLst>
          </p:cNvPr>
          <p:cNvSpPr txBox="1"/>
          <p:nvPr/>
        </p:nvSpPr>
        <p:spPr>
          <a:xfrm>
            <a:off x="4887178" y="4528007"/>
            <a:ext cx="1382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FILE : DATA.YAML</a:t>
            </a:r>
          </a:p>
        </p:txBody>
      </p:sp>
    </p:spTree>
    <p:extLst>
      <p:ext uri="{BB962C8B-B14F-4D97-AF65-F5344CB8AC3E}">
        <p14:creationId xmlns:p14="http://schemas.microsoft.com/office/powerpoint/2010/main" val="732406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before Augmentation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a graph">
            <a:extLst>
              <a:ext uri="{FF2B5EF4-FFF2-40B4-BE49-F238E27FC236}">
                <a16:creationId xmlns:a16="http://schemas.microsoft.com/office/drawing/2014/main" id="{572525B9-17F7-B919-E4F6-F6F75C39A9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9292" y="1859630"/>
            <a:ext cx="5995625" cy="2997813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8ED13D-BE5E-D5F6-8D0D-C8EDC8DF5F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48" y="1901518"/>
            <a:ext cx="3997085" cy="2997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9D57A3-2AC6-2DAD-12A8-583233106B29}"/>
              </a:ext>
            </a:extLst>
          </p:cNvPr>
          <p:cNvSpPr txBox="1"/>
          <p:nvPr/>
        </p:nvSpPr>
        <p:spPr>
          <a:xfrm>
            <a:off x="2004528" y="5191397"/>
            <a:ext cx="12875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Confusion matrix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F955D1-1CED-DCBF-1955-1D6B5A76C1AE}"/>
              </a:ext>
            </a:extLst>
          </p:cNvPr>
          <p:cNvSpPr txBox="1"/>
          <p:nvPr/>
        </p:nvSpPr>
        <p:spPr>
          <a:xfrm>
            <a:off x="7807920" y="5191397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</p:spTree>
    <p:extLst>
      <p:ext uri="{BB962C8B-B14F-4D97-AF65-F5344CB8AC3E}">
        <p14:creationId xmlns:p14="http://schemas.microsoft.com/office/powerpoint/2010/main" val="40427346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Augmentation Technique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7518317" y="1156025"/>
            <a:ext cx="2811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7479036" y="1199482"/>
            <a:ext cx="0" cy="212774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7582919" y="1572905"/>
            <a:ext cx="43500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Balances class distribution to improve model generalization.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0.45 to 0.97 with same training configuration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F84544-6937-6CE4-4596-B291E6CF0334}"/>
              </a:ext>
            </a:extLst>
          </p:cNvPr>
          <p:cNvSpPr txBox="1"/>
          <p:nvPr/>
        </p:nvSpPr>
        <p:spPr>
          <a:xfrm>
            <a:off x="838200" y="1156025"/>
            <a:ext cx="4245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Targeted Augmentation Strategy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4D3690-3D27-E15A-EEC6-6DC12AE157E9}"/>
              </a:ext>
            </a:extLst>
          </p:cNvPr>
          <p:cNvCxnSpPr>
            <a:cxnSpLocks/>
          </p:cNvCxnSpPr>
          <p:nvPr/>
        </p:nvCxnSpPr>
        <p:spPr>
          <a:xfrm>
            <a:off x="798920" y="1199482"/>
            <a:ext cx="0" cy="120442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3D0D0B2-F6A0-5615-873C-9FCA0E83440A}"/>
              </a:ext>
            </a:extLst>
          </p:cNvPr>
          <p:cNvSpPr txBox="1"/>
          <p:nvPr/>
        </p:nvSpPr>
        <p:spPr>
          <a:xfrm>
            <a:off x="902803" y="1572905"/>
            <a:ext cx="63361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Minority Class Identification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Classes with object percentages below a configurable threshold (default: 10%) are tagged as "minority".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Augmentation Factor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Each image containing minority classes is augmented multiple times (default: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B8E16A-2B3B-054C-FF38-7CB2C1781732}"/>
              </a:ext>
            </a:extLst>
          </p:cNvPr>
          <p:cNvSpPr txBox="1"/>
          <p:nvPr/>
        </p:nvSpPr>
        <p:spPr>
          <a:xfrm>
            <a:off x="902803" y="2773344"/>
            <a:ext cx="3644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Applied Augmentation Techniques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4AA347A-A7C7-E1CE-A309-177BEEC1D7F9}"/>
              </a:ext>
            </a:extLst>
          </p:cNvPr>
          <p:cNvCxnSpPr>
            <a:cxnSpLocks/>
          </p:cNvCxnSpPr>
          <p:nvPr/>
        </p:nvCxnSpPr>
        <p:spPr>
          <a:xfrm>
            <a:off x="798920" y="2783938"/>
            <a:ext cx="0" cy="301918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300966C-E087-4ABD-885E-9E888CCD5FB4}"/>
              </a:ext>
            </a:extLst>
          </p:cNvPr>
          <p:cNvSpPr txBox="1"/>
          <p:nvPr/>
        </p:nvSpPr>
        <p:spPr>
          <a:xfrm>
            <a:off x="902803" y="2904232"/>
            <a:ext cx="3175422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RandomBrightnessContrast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HueSaturationValue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RandomRotate90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Blur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RandomShadow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RandomFog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Affine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RandomSunFlare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ISONoise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RandomSnow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CLAHE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ChannelShuffle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ColorJitter</a:t>
            </a:r>
            <a:r>
              <a:rPr lang="en-US" dirty="0"/>
              <a:t>	</a:t>
            </a:r>
          </a:p>
        </p:txBody>
      </p:sp>
      <p:pic>
        <p:nvPicPr>
          <p:cNvPr id="18" name="Picture 17" descr="A traffic jam on a road&#10;&#10;AI-generated content may be incorrect.">
            <a:extLst>
              <a:ext uri="{FF2B5EF4-FFF2-40B4-BE49-F238E27FC236}">
                <a16:creationId xmlns:a16="http://schemas.microsoft.com/office/drawing/2014/main" id="{22BB86AC-257C-70A6-5122-36CE6A3FD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215" y="3754114"/>
            <a:ext cx="1724238" cy="1293178"/>
          </a:xfrm>
          <a:prstGeom prst="rect">
            <a:avLst/>
          </a:prstGeom>
        </p:spPr>
      </p:pic>
      <p:pic>
        <p:nvPicPr>
          <p:cNvPr id="21" name="Picture 20" descr="A traffic jam on a highway">
            <a:extLst>
              <a:ext uri="{FF2B5EF4-FFF2-40B4-BE49-F238E27FC236}">
                <a16:creationId xmlns:a16="http://schemas.microsoft.com/office/drawing/2014/main" id="{3C4B4E74-5771-7940-EDBB-CEA676F1F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517" y="3742904"/>
            <a:ext cx="1754124" cy="131559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12AB34-CE46-5BE6-844F-ED57D2BB7A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374" y="3742906"/>
            <a:ext cx="1724237" cy="131559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592C334-0883-603F-9D4D-988ADDE0E4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339"/>
          <a:stretch/>
        </p:blipFill>
        <p:spPr>
          <a:xfrm>
            <a:off x="9599677" y="3742904"/>
            <a:ext cx="1754124" cy="131559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A64A3-64CB-13A2-46A2-E8307329BE81}"/>
              </a:ext>
            </a:extLst>
          </p:cNvPr>
          <p:cNvSpPr txBox="1"/>
          <p:nvPr/>
        </p:nvSpPr>
        <p:spPr>
          <a:xfrm>
            <a:off x="4677334" y="5233464"/>
            <a:ext cx="1846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BEFORE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73F073-F599-B9F1-1AA9-E0D8C9775F65}"/>
              </a:ext>
            </a:extLst>
          </p:cNvPr>
          <p:cNvSpPr txBox="1"/>
          <p:nvPr/>
        </p:nvSpPr>
        <p:spPr>
          <a:xfrm>
            <a:off x="8706492" y="5233463"/>
            <a:ext cx="17379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AFTER AUGMENTATION</a:t>
            </a:r>
          </a:p>
        </p:txBody>
      </p:sp>
    </p:spTree>
    <p:extLst>
      <p:ext uri="{BB962C8B-B14F-4D97-AF65-F5344CB8AC3E}">
        <p14:creationId xmlns:p14="http://schemas.microsoft.com/office/powerpoint/2010/main" val="30763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Teacher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oup of graphs showing the growth of a number of individuals">
            <a:extLst>
              <a:ext uri="{FF2B5EF4-FFF2-40B4-BE49-F238E27FC236}">
                <a16:creationId xmlns:a16="http://schemas.microsoft.com/office/drawing/2014/main" id="{63ACD4ED-E6D0-6A63-9216-3E1FE6CB6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580" y="2336641"/>
            <a:ext cx="4605440" cy="2302720"/>
          </a:xfrm>
          <a:prstGeom prst="rect">
            <a:avLst/>
          </a:prstGeom>
        </p:spPr>
      </p:pic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4542966E-8336-4856-40AC-A1E33F3CE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102" y="2296883"/>
            <a:ext cx="3176314" cy="2382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3A29FB-825B-10C9-4694-A1470693F83C}"/>
              </a:ext>
            </a:extLst>
          </p:cNvPr>
          <p:cNvSpPr txBox="1"/>
          <p:nvPr/>
        </p:nvSpPr>
        <p:spPr>
          <a:xfrm>
            <a:off x="5457132" y="4872696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2" name="Picture 11" descr="A graph of a graph">
            <a:extLst>
              <a:ext uri="{FF2B5EF4-FFF2-40B4-BE49-F238E27FC236}">
                <a16:creationId xmlns:a16="http://schemas.microsoft.com/office/drawing/2014/main" id="{FFE59D8B-C835-15ED-5348-E7444B0FD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5184" y="2336639"/>
            <a:ext cx="3454082" cy="230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246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Custom Student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65D7E2-FC4E-2C1D-6510-DC66F0BF1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868" y="2474007"/>
            <a:ext cx="3085338" cy="2314004"/>
          </a:xfrm>
          <a:prstGeom prst="rect">
            <a:avLst/>
          </a:prstGeom>
        </p:spPr>
      </p:pic>
      <p:pic>
        <p:nvPicPr>
          <p:cNvPr id="11" name="Picture 10" descr="A group of graphs showing the growth of a number of individuals">
            <a:extLst>
              <a:ext uri="{FF2B5EF4-FFF2-40B4-BE49-F238E27FC236}">
                <a16:creationId xmlns:a16="http://schemas.microsoft.com/office/drawing/2014/main" id="{9F1FF512-A1EA-9526-5986-395D035AF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4176" y="2474007"/>
            <a:ext cx="4395216" cy="2197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F0BC5C-C5D2-AA86-E5E4-CB82E055C78D}"/>
              </a:ext>
            </a:extLst>
          </p:cNvPr>
          <p:cNvSpPr txBox="1"/>
          <p:nvPr/>
        </p:nvSpPr>
        <p:spPr>
          <a:xfrm>
            <a:off x="5649936" y="5098484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2" name="Picture 11" descr="A graph of a graph">
            <a:extLst>
              <a:ext uri="{FF2B5EF4-FFF2-40B4-BE49-F238E27FC236}">
                <a16:creationId xmlns:a16="http://schemas.microsoft.com/office/drawing/2014/main" id="{461E02D3-812A-2351-D1E6-F101E63B2B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915" y="2442137"/>
            <a:ext cx="3344217" cy="2229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4818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Yolov8n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A5B51E23-129E-8C8A-7964-7F2BE313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254" y="2316880"/>
            <a:ext cx="2974457" cy="2230843"/>
          </a:xfrm>
          <a:prstGeom prst="rect">
            <a:avLst/>
          </a:prstGeom>
        </p:spPr>
      </p:pic>
      <p:pic>
        <p:nvPicPr>
          <p:cNvPr id="10" name="Picture 9" descr="A group of graphs showing the growth of a number of individuals">
            <a:extLst>
              <a:ext uri="{FF2B5EF4-FFF2-40B4-BE49-F238E27FC236}">
                <a16:creationId xmlns:a16="http://schemas.microsoft.com/office/drawing/2014/main" id="{548DEBB6-8B07-2581-D48E-5EE0B4DCF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946" y="2316880"/>
            <a:ext cx="4699518" cy="23497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5CBA4A-1EBA-DFE9-8530-3340F65F8A75}"/>
              </a:ext>
            </a:extLst>
          </p:cNvPr>
          <p:cNvSpPr txBox="1"/>
          <p:nvPr/>
        </p:nvSpPr>
        <p:spPr>
          <a:xfrm>
            <a:off x="5345634" y="5095995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4" name="Picture 13" descr="A graph of different colored lines">
            <a:extLst>
              <a:ext uri="{FF2B5EF4-FFF2-40B4-BE49-F238E27FC236}">
                <a16:creationId xmlns:a16="http://schemas.microsoft.com/office/drawing/2014/main" id="{08C1C247-31A2-A6EF-6AE7-8AD11B437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4699" y="2332235"/>
            <a:ext cx="3333387" cy="222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82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354062" cy="173507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681518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65911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7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 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https://universe.roboflow.com/roboflow-100/vehicles-q0x2v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3050</Words>
  <Application>Microsoft Office PowerPoint</Application>
  <PresentationFormat>Widescreen</PresentationFormat>
  <Paragraphs>476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Abadi</vt:lpstr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Yolov8n Custom Config</vt:lpstr>
      <vt:lpstr>PowerPoint Presentation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469</cp:revision>
  <dcterms:created xsi:type="dcterms:W3CDTF">2025-01-17T06:21:01Z</dcterms:created>
  <dcterms:modified xsi:type="dcterms:W3CDTF">2025-06-13T09:53:46Z</dcterms:modified>
</cp:coreProperties>
</file>