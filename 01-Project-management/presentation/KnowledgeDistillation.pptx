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2"/>
  </p:notesMasterIdLst>
  <p:sldIdLst>
    <p:sldId id="257" r:id="rId3"/>
    <p:sldId id="333" r:id="rId4"/>
    <p:sldId id="334" r:id="rId5"/>
    <p:sldId id="335" r:id="rId6"/>
    <p:sldId id="336" r:id="rId7"/>
    <p:sldId id="339" r:id="rId8"/>
    <p:sldId id="329" r:id="rId9"/>
    <p:sldId id="337" r:id="rId10"/>
    <p:sldId id="338" r:id="rId11"/>
    <p:sldId id="340" r:id="rId12"/>
    <p:sldId id="341" r:id="rId13"/>
    <p:sldId id="325" r:id="rId14"/>
    <p:sldId id="342" r:id="rId15"/>
    <p:sldId id="324" r:id="rId16"/>
    <p:sldId id="327" r:id="rId17"/>
    <p:sldId id="330" r:id="rId18"/>
    <p:sldId id="343" r:id="rId19"/>
    <p:sldId id="344" r:id="rId20"/>
    <p:sldId id="32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F2714E-FC32-4294-838A-7AA012D11B30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9721D6-23B8-47AA-9F37-8BA5DF9ECE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31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721D6-23B8-47AA-9F37-8BA5DF9ECE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86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1DA1A-BE08-81D5-DA80-4D4E34BB4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3D516-B679-E0AF-DC41-4B4C85EF2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30166-F489-BC2F-4077-B17AFE2B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E7FB-59A9-40D8-AE84-673056C5A7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F46C5-80A3-B6E3-1FC7-377DBFD00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9A05C-BBD5-A248-102C-140562D8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96F9-263E-436D-8834-3B31AEFA7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19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48534-D608-2232-768B-A81CC7C02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196FD-CBAF-F5D3-9C57-E56E0B6B2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B8671-4D33-B71D-1F8A-7F8A8A76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E7FB-59A9-40D8-AE84-673056C5A7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29B39-C482-3AF4-9F54-057A15E60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C5F79-D7E0-B9F6-70BC-42280FB5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96F9-263E-436D-8834-3B31AEFA7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2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32782-B219-0088-E827-1B5C71F6A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E419B-4056-26A8-8E87-26DEF985E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5360A-FE4F-5378-59B1-E180ADF2B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E7FB-59A9-40D8-AE84-673056C5A7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CC3BE-5ED3-A1C7-5A19-B5E831D60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D75AA-43EC-CA25-8DCD-60DBC96DD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96F9-263E-436D-8834-3B31AEFA7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06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557F9-B299-6731-4EDF-0006D284C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2F9E9-53B2-E9A7-F14F-EF33DB038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268B86-EDA5-7990-AAFD-17E9F1608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A8004-B255-1291-D29B-0CE245336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E7FB-59A9-40D8-AE84-673056C5A7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1FFD7-2919-EB38-2871-172B56093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D4B35-2AD0-087C-7013-79EB0299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96F9-263E-436D-8834-3B31AEFA7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34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73AA5-5BED-758A-2D0B-1FD712D1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B2D9C-3040-7DCF-96CC-6C753264A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8B0CD9-4892-F862-67A6-789BE686B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865C3C-D6CD-B059-054C-1E7F2167E1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2423CE-D7C5-AB6E-962B-644B3736EF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AAEA2C-4798-D963-BEC0-16D97D7E0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E7FB-59A9-40D8-AE84-673056C5A7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D32F9-5E4D-52FC-802C-AFDDCCF2C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583300-66D9-796B-23FC-70F765380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96F9-263E-436D-8834-3B31AEFA7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656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18B41-6716-2684-3CA8-DD1476A3A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76B964-D167-71FA-A1FC-563F82F50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E7FB-59A9-40D8-AE84-673056C5A7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068FD3-58A5-32DD-6CFE-03B382D0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17E67-8E04-2AE7-3C03-AC0BF1250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96F9-263E-436D-8834-3B31AEFA7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04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812B8-A23C-01BC-E352-4AA48DDF3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E7FB-59A9-40D8-AE84-673056C5A7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831A9A-D3CE-DA81-04FC-C87D336C4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14144-E3AF-91B2-D8D0-ED78EA6B1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96F9-263E-436D-8834-3B31AEFA7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57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F0B4-37C6-19FC-845C-487E6DA51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26E0D-37BF-8696-5768-30C36CA7E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5E407-563C-14A6-AFC6-16D0E8308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21230-0A75-087C-5292-CB3E860FA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E7FB-59A9-40D8-AE84-673056C5A7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98903-4338-E741-D9BB-824C866A1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4BB55-2113-F5A9-6783-5084190A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96F9-263E-436D-8834-3B31AEFA7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67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ED696-3717-2BD2-7E6D-84DA27E37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429A3D-E719-6F0B-22CA-FFD150B240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63D1D-011F-2893-5A29-37B3CB2B9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F911F-D0E0-1328-010B-6364A8B73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E7FB-59A9-40D8-AE84-673056C5A7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B0BBA-AD36-F3AA-C705-58EC81B77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646C8-7199-F2A2-0426-DB385C62E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96F9-263E-436D-8834-3B31AEFA7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63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7A485-F90E-ED16-AFBC-5722111F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A79576-7EEF-D4A2-0AB2-7A1C24B31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41D9E-A563-22ED-303A-C383FD834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E7FB-59A9-40D8-AE84-673056C5A7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107EC-2EB6-5C06-14A3-502CDC5D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D3081-3BF9-4B4A-5F89-EF816743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96F9-263E-436D-8834-3B31AEFA7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649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F0B60E-695E-6FFD-259C-9BAFBD994C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A51A8-AFCB-0E05-EA8B-E628CADEB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25A6F-BF18-AE50-06AE-02ADC6A78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E7FB-59A9-40D8-AE84-673056C5A7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9F966-C8B1-DAE9-CB60-6BDBA57EA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273C3-0C16-AE7A-B7E0-E0E9B3466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96F9-263E-436D-8834-3B31AEFA7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340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30920-74E5-47FE-887D-DC5042FF0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EC44F9-907B-42B1-9E1C-DDFE347E2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0FAD4-5FA7-4463-9075-078DDB556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Managing Deviations in SCRUM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F5888-44AA-4928-9085-9C2C408E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University Of Applied Sciences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7E58B-B3E8-4662-8E64-4E61575F9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ED0B-3B00-448B-836B-316F7AA1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34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83031-C206-45A9-B9F5-4579F7279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4A7A-8CFB-49ED-BC2D-3F6C8E7BB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514D5-D96A-4FF0-B23C-F439E674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Managing Deviations in SCRUM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BEF8D-5AAC-4F72-80C9-F6C142A13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University Of Applied Sciences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5907D-0F39-4C40-8552-93E0EAF2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ED0B-3B00-448B-836B-316F7AA1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364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0FF9F-890D-4A49-9A42-56312560E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662DC-CD15-4E0B-B3DF-DA4844A6E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10451-65F1-4CAD-9829-0F6F1AE9F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Managing Deviations in SCRUM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79500-5489-47E9-BDCF-0F980E82E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University Of Applied Sciences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BBED0-0129-47DE-AAFD-D57937DF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ED0B-3B00-448B-836B-316F7AA1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683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94047-7DFE-4F04-88ED-B8AEC4D3F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EB2BB-032F-4ECB-A386-B91EDF75E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A6061-24C0-453A-A260-7B4DD09F7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BCA4-C1D1-4371-834F-32240F956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Managing Deviations in SCRUM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0BA73-CD5C-43CB-A7C2-90F06D68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University Of Applied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F0BC7-819F-4C8A-95E0-ACE9F8A58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ED0B-3B00-448B-836B-316F7AA1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456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FA70E-1841-4A49-9272-A463DB6B1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D1412-5697-4361-9915-C507F0BA6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44BEE-2BB3-4060-8D40-F4467EA93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353A9B-60A9-42F5-8D8D-D7F92A2D27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E9E0A7-AC11-4EEB-85C8-2094A2542E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5A5B14-C017-47BA-BADC-C08D71F18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Managing Deviations in SCRUM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67DDA5-DC51-4175-8C03-349A20F7E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University Of Applied Sciences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307F34-5F1B-4328-BB8C-1E553E551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ED0B-3B00-448B-836B-316F7AA1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287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5B35-384C-450F-A757-EE64064CD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F7CAAC-DE8A-410A-BD42-26DBD99F6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Managing Deviations in SCRUM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3F3B91-E950-40E8-AB75-C6866831B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University Of Applied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916592-4CC9-49B8-9199-F1D4B591B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ED0B-3B00-448B-836B-316F7AA1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868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5334EA-C57E-4BEC-BBF7-2DA3507FA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Managing Deviations in SCRUM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E010E8-3EC4-4230-ADAD-F3968E108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University Of Applied Sciences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5B8DF-43A0-4246-8565-08A55C9D6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ED0B-3B00-448B-836B-316F7AA1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180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B502E-50B5-498C-B4BA-7045D7A0E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22FF4-7A69-4AC6-B707-CC181EAB7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18EB8-57B6-4F5F-A01A-41494844E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0421B-1A04-4FDC-8032-7546C9DA3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Managing Deviations in SCRUM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499FA-438E-45FF-926A-C91792266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University Of Applied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1FA91-9587-4689-9972-D9F95B136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ED0B-3B00-448B-836B-316F7AA1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923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F007D-3E98-4010-B666-479462799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D3FFD2-2A9C-4EFC-8E1C-FDF1873FF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9DFD6-9AC3-46C2-84BE-9AA44872A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2F4E8-CFD1-44AD-B2F8-1D79EB38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Managing Deviations in SCRUM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E17E1-ABDF-4D66-BC09-C7000E240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University Of Applied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BCA60-D015-4A87-B3FA-FD2CC082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ED0B-3B00-448B-836B-316F7AA1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414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3B776-CCA7-4B3B-B949-A601AA01E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FFD7B-A349-4A05-8FEB-3A6603318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F9BE6-2F94-499A-B81A-EA87C14E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Managing Deviations in SCRUM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AD9F4-B677-4B65-930B-F395E1EE8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University Of Applied Sciences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07E23-F40A-4A27-B36A-D4CE179D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ED0B-3B00-448B-836B-316F7AA1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077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D1A044-DAA7-4F58-9AC2-1BEB5669E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8BDC6-476E-4B17-B9EA-EA16B9604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0C74C-1EE4-4A04-A652-D3ACAE4BA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Managing Deviations in SCRUM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D3FA2-93CB-40B9-BE9A-8F9D4C4EA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University Of Applied Sciences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93173-A68B-4F21-BF0C-2A3E26FD4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ED0B-3B00-448B-836B-316F7AA1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068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60300" y="3683633"/>
            <a:ext cx="8982000" cy="15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5867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5867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5867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5867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5867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5867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5867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5867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5867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917661" y="3377551"/>
            <a:ext cx="962400" cy="102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/>
          <p:nvPr/>
        </p:nvSpPr>
        <p:spPr>
          <a:xfrm>
            <a:off x="8879815" y="3377551"/>
            <a:ext cx="962400" cy="10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" name="Google Shape;13;p2"/>
          <p:cNvSpPr/>
          <p:nvPr/>
        </p:nvSpPr>
        <p:spPr>
          <a:xfrm>
            <a:off x="-1" y="3377551"/>
            <a:ext cx="962400" cy="10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2"/>
          <p:cNvSpPr/>
          <p:nvPr/>
        </p:nvSpPr>
        <p:spPr>
          <a:xfrm>
            <a:off x="961900" y="3377551"/>
            <a:ext cx="6955600" cy="10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6479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29FAFE-B33E-4671-ECD8-A71E1BB02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B3C09-C4BF-75BB-9472-2DDBA5C90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4D248-6DE2-342B-2ED1-4EB3DE8A82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3E7FB-59A9-40D8-AE84-673056C5A73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88952-6097-6347-EC53-22CFD2DAC4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B2C79-1AEB-2711-31BF-B92E09CEC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196F9-263E-436D-8834-3B31AEFA7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05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BB63AB-5F97-4BCF-A221-24219E17D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8CCE3-A327-43A3-892A-796795DE6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D34E2-7244-44C0-A9C7-AE677FCE3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Managing Deviations in SCRUM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2714B-8236-4755-AAED-4EAC687A04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International University Of Applied Sciences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41AD2-149A-4BED-B82B-0A3A5FC75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AED0B-3B00-448B-836B-316F7AA19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75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RajeshRamadas/yolov8-model-optimization/tree/main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15.png"/><Relationship Id="rId12" Type="http://schemas.openxmlformats.org/officeDocument/2006/relationships/image" Target="../media/image18.svg"/><Relationship Id="rId2" Type="http://schemas.openxmlformats.org/officeDocument/2006/relationships/image" Target="../media/image27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1.png"/><Relationship Id="rId11" Type="http://schemas.openxmlformats.org/officeDocument/2006/relationships/image" Target="../media/image17.png"/><Relationship Id="rId5" Type="http://schemas.openxmlformats.org/officeDocument/2006/relationships/image" Target="../media/image30.svg"/><Relationship Id="rId15" Type="http://schemas.openxmlformats.org/officeDocument/2006/relationships/image" Target="../media/image20.svg"/><Relationship Id="rId10" Type="http://schemas.openxmlformats.org/officeDocument/2006/relationships/image" Target="../media/image14.svg"/><Relationship Id="rId4" Type="http://schemas.openxmlformats.org/officeDocument/2006/relationships/image" Target="../media/image29.png"/><Relationship Id="rId9" Type="http://schemas.openxmlformats.org/officeDocument/2006/relationships/image" Target="../media/image13.pn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7" Type="http://schemas.openxmlformats.org/officeDocument/2006/relationships/image" Target="../media/image14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jeshRamadas/yolov8-model-optimization/tree/main/02-Implementation/knowledge_distillation" TargetMode="External"/><Relationship Id="rId2" Type="http://schemas.openxmlformats.org/officeDocument/2006/relationships/hyperlink" Target="https://github.com/RajeshRamadas/yolov8-model-optimization/tree/main" TargetMode="Externa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github.com/RajeshRamadas/yolov8-model-optimization/tree/main/01-Project-management" TargetMode="External"/><Relationship Id="rId4" Type="http://schemas.openxmlformats.org/officeDocument/2006/relationships/hyperlink" Target="https://github.com/RajeshRamadas/highway-vehicle-tracker/tree/75d96c9aa849d52c155dc343237ff121f7ebbb99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80E5101-CE7D-E983-9125-B5A4786017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35B947-6F90-7777-2DCF-D329BE9E8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500654-EA8C-0475-E05F-BEF4A2D0B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BAFE8EA0-C4EA-987A-5E4F-9D6062490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3D2B3A-B7C5-E127-941E-EC70732D8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1471" y="1565780"/>
            <a:ext cx="7749053" cy="2023364"/>
          </a:xfrm>
        </p:spPr>
        <p:txBody>
          <a:bodyPr/>
          <a:lstStyle/>
          <a:p>
            <a:pPr defTabSz="768096"/>
            <a:r>
              <a:rPr lang="en-US" sz="504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05483A3-21B7-FFE1-6B50-C933F5DA63EA}"/>
              </a:ext>
            </a:extLst>
          </p:cNvPr>
          <p:cNvSpPr txBox="1">
            <a:spLocks/>
          </p:cNvSpPr>
          <p:nvPr/>
        </p:nvSpPr>
        <p:spPr>
          <a:xfrm>
            <a:off x="2221471" y="3667172"/>
            <a:ext cx="7749053" cy="1403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68096">
              <a:spcBef>
                <a:spcPts val="840"/>
              </a:spcBef>
            </a:pPr>
            <a:r>
              <a:rPr lang="en-US" sz="2016"/>
              <a:t>    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4D5927-D33D-C91F-528E-DCBFF983A799}"/>
              </a:ext>
            </a:extLst>
          </p:cNvPr>
          <p:cNvSpPr txBox="1"/>
          <p:nvPr/>
        </p:nvSpPr>
        <p:spPr>
          <a:xfrm>
            <a:off x="1268512" y="1933351"/>
            <a:ext cx="9654969" cy="2216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68096">
              <a:lnSpc>
                <a:spcPct val="107000"/>
              </a:lnSpc>
              <a:spcAft>
                <a:spcPts val="504"/>
              </a:spcAft>
            </a:pPr>
            <a:r>
              <a:rPr lang="de-DE" sz="3024" b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International University of Applied Sciences </a:t>
            </a:r>
          </a:p>
          <a:p>
            <a:pPr algn="ctr" defTabSz="768096">
              <a:lnSpc>
                <a:spcPct val="107000"/>
              </a:lnSpc>
              <a:spcAft>
                <a:spcPts val="504"/>
              </a:spcAft>
            </a:pPr>
            <a:r>
              <a:rPr lang="en-US" b="1" i="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Enhancing Machine Learning Development </a:t>
            </a:r>
            <a:b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1" i="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Efficiency through DevOps and MLOps</a:t>
            </a:r>
          </a:p>
          <a:p>
            <a:pPr algn="ctr" defTabSz="768096">
              <a:lnSpc>
                <a:spcPct val="107000"/>
              </a:lnSpc>
              <a:spcAft>
                <a:spcPts val="504"/>
              </a:spcAft>
            </a:pPr>
            <a:r>
              <a:rPr lang="en-US" sz="1200" b="1" dirty="0"/>
              <a:t>Knowledge Distillation &amp; Neural Architecture Search</a:t>
            </a:r>
          </a:p>
          <a:p>
            <a:pPr algn="ctr" defTabSz="768096">
              <a:lnSpc>
                <a:spcPct val="107000"/>
              </a:lnSpc>
              <a:spcAft>
                <a:spcPts val="504"/>
              </a:spcAft>
            </a:pPr>
            <a:endParaRPr lang="en-US" b="1" dirty="0"/>
          </a:p>
          <a:p>
            <a:pPr algn="ctr" defTabSz="768096">
              <a:lnSpc>
                <a:spcPct val="107000"/>
              </a:lnSpc>
              <a:spcAft>
                <a:spcPts val="504"/>
              </a:spcAft>
            </a:pPr>
            <a:endParaRPr lang="en-US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23B3B1-4F42-3E72-3AC9-40401791C3B0}"/>
              </a:ext>
            </a:extLst>
          </p:cNvPr>
          <p:cNvSpPr txBox="1"/>
          <p:nvPr/>
        </p:nvSpPr>
        <p:spPr>
          <a:xfrm>
            <a:off x="2591036" y="3602038"/>
            <a:ext cx="9654968" cy="2382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2144" defTabSz="768096">
              <a:lnSpc>
                <a:spcPct val="115000"/>
              </a:lnSpc>
              <a:spcAft>
                <a:spcPts val="504"/>
              </a:spcAft>
            </a:pPr>
            <a:r>
              <a:rPr lang="de-DE" sz="1512" dirty="0">
                <a:latin typeface="Calibri" panose="020F0502020204030204" pitchFamily="34" charset="0"/>
                <a:cs typeface="Calibri" panose="020F0502020204030204" pitchFamily="34" charset="0"/>
              </a:rPr>
              <a:t>Student:			 Rajesh Kumar Ramadas</a:t>
            </a:r>
            <a:endParaRPr lang="en-US" sz="1512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52144" defTabSz="768096">
              <a:lnSpc>
                <a:spcPct val="115000"/>
              </a:lnSpc>
              <a:spcAft>
                <a:spcPts val="504"/>
              </a:spcAft>
            </a:pPr>
            <a:r>
              <a:rPr lang="en-US" sz="1512" dirty="0">
                <a:latin typeface="Calibri" panose="020F0502020204030204" pitchFamily="34" charset="0"/>
                <a:cs typeface="Calibri" panose="020F0502020204030204" pitchFamily="34" charset="0"/>
              </a:rPr>
              <a:t>Matriculation:			 92125100</a:t>
            </a:r>
            <a:r>
              <a:rPr lang="de-DE" sz="1512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pPr marL="1152144" defTabSz="768096">
              <a:lnSpc>
                <a:spcPct val="115000"/>
              </a:lnSpc>
              <a:spcAft>
                <a:spcPts val="504"/>
              </a:spcAft>
            </a:pPr>
            <a:r>
              <a:rPr lang="en-US" sz="1512" dirty="0">
                <a:latin typeface="Calibri" panose="020F0502020204030204" pitchFamily="34" charset="0"/>
                <a:cs typeface="Calibri" panose="020F0502020204030204" pitchFamily="34" charset="0"/>
              </a:rPr>
              <a:t>Course Of Study                                  Master Of Computer Science </a:t>
            </a:r>
          </a:p>
          <a:p>
            <a:pPr marL="1152144" defTabSz="768096">
              <a:lnSpc>
                <a:spcPct val="115000"/>
              </a:lnSpc>
              <a:spcAft>
                <a:spcPts val="504"/>
              </a:spcAft>
            </a:pPr>
            <a:r>
              <a:rPr lang="en-US" sz="1512" dirty="0">
                <a:latin typeface="Calibri" panose="020F0502020204030204" pitchFamily="34" charset="0"/>
                <a:cs typeface="Calibri" panose="020F0502020204030204" pitchFamily="34" charset="0"/>
              </a:rPr>
              <a:t>University Supervisor:		</a:t>
            </a: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Dr. Aditya </a:t>
            </a:r>
            <a:r>
              <a:rPr lang="en-US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Mushyam</a:t>
            </a:r>
            <a:endParaRPr lang="en-US" sz="1512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52144" defTabSz="768096">
              <a:lnSpc>
                <a:spcPct val="115000"/>
              </a:lnSpc>
              <a:spcAft>
                <a:spcPts val="504"/>
              </a:spcAft>
            </a:pPr>
            <a:r>
              <a:rPr lang="en-US" sz="1512" dirty="0">
                <a:latin typeface="Calibri" panose="020F0502020204030204" pitchFamily="34" charset="0"/>
                <a:cs typeface="Calibri" panose="020F0502020204030204" pitchFamily="34" charset="0"/>
              </a:rPr>
              <a:t>Course Name 			</a:t>
            </a: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Master Thesis </a:t>
            </a:r>
            <a:r>
              <a:rPr lang="de-DE" sz="1512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US" sz="1512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52144" defTabSz="768096">
              <a:lnSpc>
                <a:spcPct val="115000"/>
              </a:lnSpc>
              <a:spcAft>
                <a:spcPts val="504"/>
              </a:spcAft>
            </a:pPr>
            <a:r>
              <a:rPr lang="en-US" sz="1512" dirty="0">
                <a:latin typeface="Calibri" panose="020F0502020204030204" pitchFamily="34" charset="0"/>
                <a:cs typeface="Calibri" panose="020F0502020204030204" pitchFamily="34" charset="0"/>
              </a:rPr>
              <a:t>Submission Date:  		</a:t>
            </a:r>
            <a:r>
              <a:rPr lang="en-US" sz="14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January 2025</a:t>
            </a:r>
            <a:endParaRPr lang="en-US" sz="1512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71600">
              <a:lnSpc>
                <a:spcPct val="115000"/>
              </a:lnSpc>
              <a:spcAft>
                <a:spcPts val="6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DAD615-E3D1-BE36-499E-A26E93F4E0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80" t="9918" r="4329" b="14601"/>
          <a:stretch/>
        </p:blipFill>
        <p:spPr bwMode="auto">
          <a:xfrm>
            <a:off x="4926392" y="1123527"/>
            <a:ext cx="2104031" cy="7467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2DC6B0-70D3-520A-2B97-E0488135ADF4}"/>
              </a:ext>
            </a:extLst>
          </p:cNvPr>
          <p:cNvSpPr txBox="1"/>
          <p:nvPr/>
        </p:nvSpPr>
        <p:spPr>
          <a:xfrm>
            <a:off x="3755898" y="5707031"/>
            <a:ext cx="61219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4"/>
              </a:rPr>
              <a:t>https://github.com/RajeshRamadas/yolov8-model-optimization/tree/main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34619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4304747-450B-7676-5739-D9AD6BBC3112}"/>
              </a:ext>
            </a:extLst>
          </p:cNvPr>
          <p:cNvSpPr/>
          <p:nvPr/>
        </p:nvSpPr>
        <p:spPr>
          <a:xfrm>
            <a:off x="8299634" y="1989857"/>
            <a:ext cx="2408232" cy="282505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DA795F3-9209-CE11-AFE9-EF8847F17466}"/>
              </a:ext>
            </a:extLst>
          </p:cNvPr>
          <p:cNvSpPr/>
          <p:nvPr/>
        </p:nvSpPr>
        <p:spPr>
          <a:xfrm>
            <a:off x="5820060" y="1989857"/>
            <a:ext cx="2408232" cy="282505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D455B2-9008-7A7C-CA69-55975EA95200}"/>
              </a:ext>
            </a:extLst>
          </p:cNvPr>
          <p:cNvSpPr/>
          <p:nvPr/>
        </p:nvSpPr>
        <p:spPr>
          <a:xfrm>
            <a:off x="3335434" y="1989857"/>
            <a:ext cx="2408232" cy="28250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77593C-5DAA-B3CF-59A0-8F5733687FAE}"/>
              </a:ext>
            </a:extLst>
          </p:cNvPr>
          <p:cNvSpPr/>
          <p:nvPr/>
        </p:nvSpPr>
        <p:spPr>
          <a:xfrm>
            <a:off x="839874" y="1989857"/>
            <a:ext cx="2408232" cy="28250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13" name="Picture 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5A3F451-0B86-2802-A030-EEEACEF48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0541" y="5145856"/>
            <a:ext cx="584321" cy="58432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7B5C-B1A1-0376-4174-FFF61C55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504"/>
              </a:spcAft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</a:rPr>
              <a:t>International University Of Applied Sciences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DD3C9-E5D2-AE60-3AFE-8A43297A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2608" y="6356349"/>
            <a:ext cx="3085338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504"/>
              </a:spcAft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</a:rPr>
              <a:t>Knowledge Distillation &amp; Neural Architecture Search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790D5-177D-B6A2-0E90-81EF4FE3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98AED0B-3B00-448B-836B-316F7AA19B4B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A902F3-1644-650C-F383-484D8080824E}"/>
              </a:ext>
            </a:extLst>
          </p:cNvPr>
          <p:cNvSpPr txBox="1"/>
          <p:nvPr/>
        </p:nvSpPr>
        <p:spPr>
          <a:xfrm>
            <a:off x="3431827" y="2951946"/>
            <a:ext cx="22531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Research Focus: </a:t>
            </a:r>
            <a:r>
              <a:rPr lang="en-US" sz="1400" dirty="0"/>
              <a:t>Knowledge Distillation for Edge-Optimized Object Detection in MLOps Pipelines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D2E3F7-F0BF-B65B-0ED2-EF651C854FEF}"/>
              </a:ext>
            </a:extLst>
          </p:cNvPr>
          <p:cNvSpPr txBox="1"/>
          <p:nvPr/>
        </p:nvSpPr>
        <p:spPr>
          <a:xfrm>
            <a:off x="972115" y="2991320"/>
            <a:ext cx="219776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Problem Statement: </a:t>
            </a:r>
            <a:r>
              <a:rPr lang="en-US" sz="1400" dirty="0"/>
              <a:t>Large-scale ML models (YOLOv8x) are computationally expensive and unsuitable for real-time edge deployment in highway vehicle tracking systems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8DA99F-F740-C8AF-588C-657A396805DF}"/>
              </a:ext>
            </a:extLst>
          </p:cNvPr>
          <p:cNvSpPr txBox="1"/>
          <p:nvPr/>
        </p:nvSpPr>
        <p:spPr>
          <a:xfrm>
            <a:off x="5952744" y="2934580"/>
            <a:ext cx="227554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Key Question: </a:t>
            </a:r>
            <a:r>
              <a:rPr lang="en-US" sz="1400" dirty="0"/>
              <a:t>How can knowledge distillation enable efficient model compression while maintaining detection accuracy for production vehicle tracking applications?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CE967A-760E-164F-92A7-165C3459EB3B}"/>
              </a:ext>
            </a:extLst>
          </p:cNvPr>
          <p:cNvSpPr txBox="1"/>
          <p:nvPr/>
        </p:nvSpPr>
        <p:spPr>
          <a:xfrm>
            <a:off x="8427140" y="2925542"/>
            <a:ext cx="223617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Case Study:</a:t>
            </a:r>
            <a:r>
              <a:rPr lang="en-US" sz="1400" dirty="0"/>
              <a:t> Highway Vehicle Tracker using YOLOv8 knowledge distillation with automated MLOps deployment pipeline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8FF4C60-14F0-104E-A6FA-3FCA6169A05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38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1E40AF"/>
                </a:solidFill>
                <a:latin typeface="-apple-system"/>
              </a:rPr>
              <a:t>Research Overview</a:t>
            </a:r>
            <a:br>
              <a:rPr lang="en-US" sz="1000" b="1" dirty="0">
                <a:solidFill>
                  <a:srgbClr val="1E40AF"/>
                </a:solidFill>
                <a:latin typeface="-apple-system"/>
              </a:rPr>
            </a:br>
            <a:endParaRPr lang="en-US" sz="20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5076A9E-A974-6053-D824-826BA09B3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7904"/>
          </a:xfrm>
        </p:spPr>
        <p:txBody>
          <a:bodyPr>
            <a:normAutofit fontScale="90000"/>
          </a:bodyPr>
          <a:lstStyle/>
          <a:p>
            <a:r>
              <a:rPr lang="en-US" dirty="0"/>
              <a:t>    </a:t>
            </a:r>
          </a:p>
        </p:txBody>
      </p:sp>
      <p:pic>
        <p:nvPicPr>
          <p:cNvPr id="21" name="Graphic 20" descr="Question mark with solid fill">
            <a:extLst>
              <a:ext uri="{FF2B5EF4-FFF2-40B4-BE49-F238E27FC236}">
                <a16:creationId xmlns:a16="http://schemas.microsoft.com/office/drawing/2014/main" id="{93C0C6FE-7F4F-8304-AC69-CDB9F100E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2163" y="2105518"/>
            <a:ext cx="810874" cy="810874"/>
          </a:xfrm>
          <a:prstGeom prst="rect">
            <a:avLst/>
          </a:prstGeom>
        </p:spPr>
      </p:pic>
      <p:pic>
        <p:nvPicPr>
          <p:cNvPr id="24" name="Graphic 23" descr="Flask with solid fill">
            <a:extLst>
              <a:ext uri="{FF2B5EF4-FFF2-40B4-BE49-F238E27FC236}">
                <a16:creationId xmlns:a16="http://schemas.microsoft.com/office/drawing/2014/main" id="{B06BAA89-E19A-C5DB-A69A-A1C497FD18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73264" y="2132950"/>
            <a:ext cx="801630" cy="801630"/>
          </a:xfrm>
          <a:prstGeom prst="rect">
            <a:avLst/>
          </a:prstGeom>
        </p:spPr>
      </p:pic>
      <p:pic>
        <p:nvPicPr>
          <p:cNvPr id="26" name="Graphic 25" descr="Iceberg with solid fill">
            <a:extLst>
              <a:ext uri="{FF2B5EF4-FFF2-40B4-BE49-F238E27FC236}">
                <a16:creationId xmlns:a16="http://schemas.microsoft.com/office/drawing/2014/main" id="{BD9E33F6-59FE-E51F-090D-EE717629F7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59248" y="2132950"/>
            <a:ext cx="823497" cy="823497"/>
          </a:xfrm>
          <a:prstGeom prst="rect">
            <a:avLst/>
          </a:prstGeom>
        </p:spPr>
      </p:pic>
      <p:pic>
        <p:nvPicPr>
          <p:cNvPr id="28" name="Graphic 27" descr="Open book with solid fill">
            <a:extLst>
              <a:ext uri="{FF2B5EF4-FFF2-40B4-BE49-F238E27FC236}">
                <a16:creationId xmlns:a16="http://schemas.microsoft.com/office/drawing/2014/main" id="{4AE036C7-07C5-64D1-B265-C656B426550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40076" y="2108970"/>
            <a:ext cx="816572" cy="816572"/>
          </a:xfrm>
          <a:prstGeom prst="rect">
            <a:avLst/>
          </a:prstGeom>
        </p:spPr>
      </p:pic>
      <p:pic>
        <p:nvPicPr>
          <p:cNvPr id="34" name="Graphic 33" descr="Research with solid fill">
            <a:extLst>
              <a:ext uri="{FF2B5EF4-FFF2-40B4-BE49-F238E27FC236}">
                <a16:creationId xmlns:a16="http://schemas.microsoft.com/office/drawing/2014/main" id="{56225839-08B8-46DB-1078-2AEF18AC6FE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1260" y="327579"/>
            <a:ext cx="426940" cy="42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39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30A-0841-2B85-58E5-6CE63A33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5031" y="179332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-apple-system"/>
              </a:rPr>
              <a:t>Research Overview</a:t>
            </a:r>
            <a:br>
              <a:rPr lang="en-US" sz="3600" b="1" i="0" dirty="0">
                <a:solidFill>
                  <a:srgbClr val="FFFFFF"/>
                </a:solidFill>
                <a:effectLst/>
                <a:latin typeface="-apple-system"/>
              </a:rPr>
            </a:br>
            <a:endParaRPr lang="en-US" sz="3600" b="1" dirty="0">
              <a:solidFill>
                <a:srgbClr val="FFFFFF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7B5C-B1A1-0376-4174-FFF61C55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504"/>
              </a:spcAft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</a:rPr>
              <a:t>International University Of Applied Sciences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DD3C9-E5D2-AE60-3AFE-8A43297A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2608" y="6356349"/>
            <a:ext cx="3085338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504"/>
              </a:spcAft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</a:rPr>
              <a:t>Knowledge Distillation &amp; Neural Architecture Search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790D5-177D-B6A2-0E90-81EF4FE3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98AED0B-3B00-448B-836B-316F7AA19B4B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A902F3-1644-650C-F383-484D8080824E}"/>
              </a:ext>
            </a:extLst>
          </p:cNvPr>
          <p:cNvSpPr txBox="1"/>
          <p:nvPr/>
        </p:nvSpPr>
        <p:spPr>
          <a:xfrm>
            <a:off x="5561020" y="4958577"/>
            <a:ext cx="5380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effectLst/>
                <a:latin typeface="Segoe UI" panose="020B0502040204020203" pitchFamily="34" charset="0"/>
              </a:rPr>
              <a:t>YOLOv8 Implementation</a:t>
            </a:r>
          </a:p>
          <a:p>
            <a:pPr algn="l"/>
            <a:r>
              <a:rPr lang="en-US" sz="1400" b="0" i="0" dirty="0">
                <a:effectLst/>
                <a:latin typeface="Segoe UI" panose="020B0502040204020203" pitchFamily="34" charset="0"/>
              </a:rPr>
              <a:t>Practical application and pipeline integration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D2E3F7-F0BF-B65B-0ED2-EF651C854FEF}"/>
              </a:ext>
            </a:extLst>
          </p:cNvPr>
          <p:cNvSpPr txBox="1"/>
          <p:nvPr/>
        </p:nvSpPr>
        <p:spPr>
          <a:xfrm>
            <a:off x="5464889" y="2860251"/>
            <a:ext cx="43019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effectLst/>
                <a:latin typeface="Segoe UI" panose="020B0502040204020203" pitchFamily="34" charset="0"/>
              </a:rPr>
              <a:t>Knowledge Distillation Fundamentals</a:t>
            </a:r>
          </a:p>
          <a:p>
            <a:pPr algn="l"/>
            <a:r>
              <a:rPr lang="en-US" sz="1400" b="0" i="0" dirty="0">
                <a:effectLst/>
                <a:latin typeface="Segoe UI" panose="020B0502040204020203" pitchFamily="34" charset="0"/>
              </a:rPr>
              <a:t>Theory, benefits, and implementation approaches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8DA99F-F740-C8AF-588C-657A396805DF}"/>
              </a:ext>
            </a:extLst>
          </p:cNvPr>
          <p:cNvSpPr txBox="1"/>
          <p:nvPr/>
        </p:nvSpPr>
        <p:spPr>
          <a:xfrm>
            <a:off x="2774659" y="1849030"/>
            <a:ext cx="5380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effectLst/>
                <a:latin typeface="Segoe UI" panose="020B0502040204020203" pitchFamily="34" charset="0"/>
              </a:rPr>
              <a:t>Neural Architecture Search (NAS)</a:t>
            </a:r>
          </a:p>
          <a:p>
            <a:pPr algn="l"/>
            <a:r>
              <a:rPr lang="en-US" sz="1400" b="0" i="0" dirty="0">
                <a:effectLst/>
                <a:latin typeface="Segoe UI" panose="020B0502040204020203" pitchFamily="34" charset="0"/>
              </a:rPr>
              <a:t>Automated architecture optimization techniques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CE967A-760E-164F-92A7-165C3459EB3B}"/>
              </a:ext>
            </a:extLst>
          </p:cNvPr>
          <p:cNvSpPr txBox="1"/>
          <p:nvPr/>
        </p:nvSpPr>
        <p:spPr>
          <a:xfrm>
            <a:off x="2954309" y="3909414"/>
            <a:ext cx="48699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effectLst/>
                <a:latin typeface="Segoe UI" panose="020B0502040204020203" pitchFamily="34" charset="0"/>
              </a:rPr>
              <a:t>Results &amp; Production Deployment</a:t>
            </a:r>
          </a:p>
          <a:p>
            <a:pPr algn="l"/>
            <a:r>
              <a:rPr lang="en-US" sz="1400" b="0" i="0" dirty="0">
                <a:effectLst/>
                <a:latin typeface="Segoe UI" panose="020B0502040204020203" pitchFamily="34" charset="0"/>
              </a:rPr>
              <a:t>Performance metrics and CI/CD integration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8FF4C60-14F0-104E-A6FA-3FCA6169A05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38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1E40AF"/>
                </a:solidFill>
                <a:latin typeface="-apple-system"/>
              </a:rPr>
              <a:t>Agenda</a:t>
            </a:r>
            <a:br>
              <a:rPr lang="en-US" sz="1000" b="1" dirty="0">
                <a:solidFill>
                  <a:srgbClr val="1E40AF"/>
                </a:solidFill>
                <a:latin typeface="-apple-system"/>
              </a:rPr>
            </a:br>
            <a:endParaRPr lang="en-US" sz="20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phic 6" descr="Badge with solid fill">
            <a:extLst>
              <a:ext uri="{FF2B5EF4-FFF2-40B4-BE49-F238E27FC236}">
                <a16:creationId xmlns:a16="http://schemas.microsoft.com/office/drawing/2014/main" id="{E152150C-51C2-130B-E433-5E51D190C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1668" y="2885125"/>
            <a:ext cx="523221" cy="523221"/>
          </a:xfrm>
          <a:prstGeom prst="rect">
            <a:avLst/>
          </a:prstGeom>
        </p:spPr>
      </p:pic>
      <p:pic>
        <p:nvPicPr>
          <p:cNvPr id="10" name="Graphic 9" descr="Badge 1 with solid fill">
            <a:extLst>
              <a:ext uri="{FF2B5EF4-FFF2-40B4-BE49-F238E27FC236}">
                <a16:creationId xmlns:a16="http://schemas.microsoft.com/office/drawing/2014/main" id="{268AEBDB-52D5-C9F0-57DB-9F176836EE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51438" y="1866938"/>
            <a:ext cx="523221" cy="523221"/>
          </a:xfrm>
          <a:prstGeom prst="rect">
            <a:avLst/>
          </a:prstGeom>
        </p:spPr>
      </p:pic>
      <p:pic>
        <p:nvPicPr>
          <p:cNvPr id="12" name="Graphic 11" descr="Badge 3 with solid fill">
            <a:extLst>
              <a:ext uri="{FF2B5EF4-FFF2-40B4-BE49-F238E27FC236}">
                <a16:creationId xmlns:a16="http://schemas.microsoft.com/office/drawing/2014/main" id="{4372E6A4-A9A2-7BDB-23DC-99E38A90A5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51437" y="3925473"/>
            <a:ext cx="523222" cy="523222"/>
          </a:xfrm>
          <a:prstGeom prst="rect">
            <a:avLst/>
          </a:prstGeom>
        </p:spPr>
      </p:pic>
      <p:pic>
        <p:nvPicPr>
          <p:cNvPr id="16" name="Graphic 15" descr="Badge 4 with solid fill">
            <a:extLst>
              <a:ext uri="{FF2B5EF4-FFF2-40B4-BE49-F238E27FC236}">
                <a16:creationId xmlns:a16="http://schemas.microsoft.com/office/drawing/2014/main" id="{574B047D-DFB1-3AF5-EE93-F9481348CC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06070" y="4914642"/>
            <a:ext cx="558819" cy="558819"/>
          </a:xfrm>
          <a:prstGeom prst="rect">
            <a:avLst/>
          </a:prstGeom>
        </p:spPr>
      </p:pic>
      <p:pic>
        <p:nvPicPr>
          <p:cNvPr id="19" name="Graphic 18" descr="Clipboard with solid fill">
            <a:extLst>
              <a:ext uri="{FF2B5EF4-FFF2-40B4-BE49-F238E27FC236}">
                <a16:creationId xmlns:a16="http://schemas.microsoft.com/office/drawing/2014/main" id="{0F77AFEB-C8DB-571A-D2F7-4248617172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0506" y="355981"/>
            <a:ext cx="36512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97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6E1D04E-40FF-5A18-9123-3D203CDDF1FB}"/>
              </a:ext>
            </a:extLst>
          </p:cNvPr>
          <p:cNvSpPr/>
          <p:nvPr/>
        </p:nvSpPr>
        <p:spPr>
          <a:xfrm>
            <a:off x="1144524" y="4338813"/>
            <a:ext cx="4464424" cy="430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7B5C-B1A1-0376-4174-FFF61C55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504"/>
              </a:spcAft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</a:rPr>
              <a:t>International University Of Applied Sciences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DD3C9-E5D2-AE60-3AFE-8A43297A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2608" y="6356349"/>
            <a:ext cx="3085338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504"/>
              </a:spcAft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</a:rPr>
              <a:t>Knowledge Distillation &amp; Neural Architecture Search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790D5-177D-B6A2-0E90-81EF4FE3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98AED0B-3B00-448B-836B-316F7AA19B4B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8FF4C60-14F0-104E-A6FA-3FCA6169A05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38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1E40AF"/>
                </a:solidFill>
                <a:latin typeface="-apple-system"/>
              </a:rPr>
              <a:t>   Challenge  </a:t>
            </a:r>
            <a:br>
              <a:rPr lang="en-US" sz="1000" b="1" dirty="0">
                <a:solidFill>
                  <a:srgbClr val="1E40AF"/>
                </a:solidFill>
                <a:latin typeface="-apple-system"/>
              </a:rPr>
            </a:br>
            <a:endParaRPr lang="en-US" sz="20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aphic 8" descr="Bullseye with solid fill">
            <a:extLst>
              <a:ext uri="{FF2B5EF4-FFF2-40B4-BE49-F238E27FC236}">
                <a16:creationId xmlns:a16="http://schemas.microsoft.com/office/drawing/2014/main" id="{C6BED39B-4E22-2CDB-886A-ED3786380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8" y="313128"/>
            <a:ext cx="460614" cy="460614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7546D1D1-5491-A030-D6C4-79087A931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778938-B666-61D0-898F-83D5A6A2972B}"/>
              </a:ext>
            </a:extLst>
          </p:cNvPr>
          <p:cNvSpPr txBox="1"/>
          <p:nvPr/>
        </p:nvSpPr>
        <p:spPr>
          <a:xfrm>
            <a:off x="1144525" y="1368976"/>
            <a:ext cx="4233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Model Performance vs Efficiency Trade-off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CF22AB-C805-88CA-A288-B3756B3EBE6B}"/>
              </a:ext>
            </a:extLst>
          </p:cNvPr>
          <p:cNvSpPr txBox="1"/>
          <p:nvPr/>
        </p:nvSpPr>
        <p:spPr>
          <a:xfrm>
            <a:off x="1144524" y="2229409"/>
            <a:ext cx="392125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Large models (like YOLOv8x)</a:t>
            </a:r>
            <a:r>
              <a:rPr lang="en-US" sz="1400" dirty="0"/>
              <a:t> achieve high accuracy but are computationally expensive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Small models (like YOLOv8n)</a:t>
            </a:r>
            <a:r>
              <a:rPr lang="en-US" sz="1400" dirty="0"/>
              <a:t> are deployment-friendly but sacrifice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Traditional approach forces you to choose one or the other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F572B4A-6C95-2040-5EDD-74F365D16C43}"/>
              </a:ext>
            </a:extLst>
          </p:cNvPr>
          <p:cNvSpPr txBox="1"/>
          <p:nvPr/>
        </p:nvSpPr>
        <p:spPr>
          <a:xfrm>
            <a:off x="1144524" y="4367094"/>
            <a:ext cx="4643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Courier New" panose="02070309020205020404" pitchFamily="49" charset="0"/>
              </a:rPr>
              <a:t>YOLOv8x: 95% accuracy, 130MB, 18 FPS → Too slow for real-time</a:t>
            </a:r>
          </a:p>
          <a:p>
            <a:r>
              <a:rPr lang="en-US" sz="900" dirty="0">
                <a:latin typeface="Courier New" panose="02070309020205020404" pitchFamily="49" charset="0"/>
              </a:rPr>
              <a:t>YOLOv8n: 85% accuracy, 6MB, 30+ FPS → Fast but less accurate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47E9E9C-659B-3FE5-2B16-58FFCC42A137}"/>
              </a:ext>
            </a:extLst>
          </p:cNvPr>
          <p:cNvCxnSpPr>
            <a:cxnSpLocks/>
          </p:cNvCxnSpPr>
          <p:nvPr/>
        </p:nvCxnSpPr>
        <p:spPr>
          <a:xfrm>
            <a:off x="5869436" y="2060020"/>
            <a:ext cx="0" cy="2201084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Graphic 42" descr="Right pointing backhand index with solid fill">
            <a:extLst>
              <a:ext uri="{FF2B5EF4-FFF2-40B4-BE49-F238E27FC236}">
                <a16:creationId xmlns:a16="http://schemas.microsoft.com/office/drawing/2014/main" id="{2803A077-A2E0-B944-6000-96C0DE83E0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598" y="4367094"/>
            <a:ext cx="369333" cy="369333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49813AD4-EE3A-DEFA-719E-B8C51BFB4545}"/>
              </a:ext>
            </a:extLst>
          </p:cNvPr>
          <p:cNvSpPr txBox="1"/>
          <p:nvPr/>
        </p:nvSpPr>
        <p:spPr>
          <a:xfrm>
            <a:off x="6418546" y="1368976"/>
            <a:ext cx="4094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Traditional Approach Limitations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82019C-4811-6036-FE54-F1ED35555EFB}"/>
              </a:ext>
            </a:extLst>
          </p:cNvPr>
          <p:cNvSpPr txBox="1"/>
          <p:nvPr/>
        </p:nvSpPr>
        <p:spPr>
          <a:xfrm>
            <a:off x="6512813" y="2099216"/>
            <a:ext cx="4094223" cy="600164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/>
              <a:t>High Accuracy ≠ Fast Inference</a:t>
            </a:r>
          </a:p>
          <a:p>
            <a:r>
              <a:rPr lang="en-US" sz="1100" b="1" dirty="0"/>
              <a:t>Problem:</a:t>
            </a:r>
            <a:r>
              <a:rPr lang="en-US" sz="1100" dirty="0"/>
              <a:t> Large models that achieve state-of-the-art accuracy are inherently slow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18ABFD3-B1BF-7714-E5AC-5A277927E30E}"/>
              </a:ext>
            </a:extLst>
          </p:cNvPr>
          <p:cNvSpPr txBox="1"/>
          <p:nvPr/>
        </p:nvSpPr>
        <p:spPr>
          <a:xfrm>
            <a:off x="6527697" y="2759836"/>
            <a:ext cx="4094224" cy="600164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/>
              <a:t>Manual Design = Suboptimal</a:t>
            </a:r>
          </a:p>
          <a:p>
            <a:r>
              <a:rPr lang="en-US" sz="1100" b="1" dirty="0"/>
              <a:t>Problem:</a:t>
            </a:r>
            <a:r>
              <a:rPr lang="en-US" sz="1100" dirty="0"/>
              <a:t> Human-designed architectures are based on intuition, not systematic optimization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F4103C-12BB-6CC6-883A-A6D685905992}"/>
              </a:ext>
            </a:extLst>
          </p:cNvPr>
          <p:cNvSpPr txBox="1"/>
          <p:nvPr/>
        </p:nvSpPr>
        <p:spPr>
          <a:xfrm>
            <a:off x="6531274" y="3410414"/>
            <a:ext cx="4087070" cy="600164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/>
              <a:t>One-Size-Fits-All ≠ Optimal</a:t>
            </a:r>
          </a:p>
          <a:p>
            <a:r>
              <a:rPr lang="en-US" sz="1100" b="1" dirty="0"/>
              <a:t>Problem:</a:t>
            </a:r>
            <a:r>
              <a:rPr lang="en-US" sz="1100" dirty="0"/>
              <a:t> Same model architecture used regardless of deployment constraints</a:t>
            </a:r>
          </a:p>
        </p:txBody>
      </p:sp>
    </p:spTree>
    <p:extLst>
      <p:ext uri="{BB962C8B-B14F-4D97-AF65-F5344CB8AC3E}">
        <p14:creationId xmlns:p14="http://schemas.microsoft.com/office/powerpoint/2010/main" val="3225106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1489051-2350-B484-5E43-8A7E4B8FB854}"/>
              </a:ext>
            </a:extLst>
          </p:cNvPr>
          <p:cNvSpPr/>
          <p:nvPr/>
        </p:nvSpPr>
        <p:spPr>
          <a:xfrm>
            <a:off x="2068945" y="1690687"/>
            <a:ext cx="8072582" cy="309082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7B5C-B1A1-0376-4174-FFF61C55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504"/>
              </a:spcAft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</a:rPr>
              <a:t>International University Of Applied Sciences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DD3C9-E5D2-AE60-3AFE-8A43297A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2608" y="6356349"/>
            <a:ext cx="3085338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504"/>
              </a:spcAft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</a:rPr>
              <a:t>Knowledge Distillation &amp; Neural Architecture Search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790D5-177D-B6A2-0E90-81EF4FE3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98AED0B-3B00-448B-836B-316F7AA19B4B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8FF4C60-14F0-104E-A6FA-3FCA6169A05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38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1E40AF"/>
                </a:solidFill>
                <a:latin typeface="-apple-system"/>
                <a:ea typeface="+mj-ea"/>
                <a:cs typeface="+mj-cs"/>
              </a:rPr>
              <a:t>Performance-Efficiency Trade-off: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A696F0-0ADB-C040-6EC6-E690C3AFDA0B}"/>
              </a:ext>
            </a:extLst>
          </p:cNvPr>
          <p:cNvSpPr txBox="1"/>
          <p:nvPr/>
        </p:nvSpPr>
        <p:spPr>
          <a:xfrm>
            <a:off x="3763961" y="2513681"/>
            <a:ext cx="1725104" cy="73866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Traditional:</a:t>
            </a:r>
            <a:br>
              <a:rPr lang="en-US" sz="1400" b="1" dirty="0"/>
            </a:br>
            <a:r>
              <a:rPr lang="en-US" sz="1400" dirty="0"/>
              <a:t>Choose between accuracy OR speed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63CA9F-7D50-CE52-6AE9-A7C0242BBC9E}"/>
              </a:ext>
            </a:extLst>
          </p:cNvPr>
          <p:cNvSpPr txBox="1"/>
          <p:nvPr/>
        </p:nvSpPr>
        <p:spPr>
          <a:xfrm>
            <a:off x="6723975" y="2526860"/>
            <a:ext cx="1621409" cy="73866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KD + NAS:</a:t>
            </a:r>
            <a:br>
              <a:rPr lang="en-US" sz="1400" b="1" dirty="0"/>
            </a:br>
            <a:r>
              <a:rPr lang="en-US" sz="1400" dirty="0"/>
              <a:t>Get BOTH accuracy AND speed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9D1DB79-E542-7FAB-A1E5-13C81619C2D3}"/>
              </a:ext>
            </a:extLst>
          </p:cNvPr>
          <p:cNvCxnSpPr/>
          <p:nvPr/>
        </p:nvCxnSpPr>
        <p:spPr>
          <a:xfrm>
            <a:off x="5625951" y="2892440"/>
            <a:ext cx="942680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8D0B557-4ECE-81B7-3B0C-4EF3F46F91F6}"/>
              </a:ext>
            </a:extLst>
          </p:cNvPr>
          <p:cNvSpPr txBox="1"/>
          <p:nvPr/>
        </p:nvSpPr>
        <p:spPr>
          <a:xfrm>
            <a:off x="3377946" y="3767834"/>
            <a:ext cx="1421090" cy="430887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100" b="1" i="0" dirty="0">
                <a:effectLst/>
                <a:latin typeface="Segoe UI" panose="020B0502040204020203" pitchFamily="34" charset="0"/>
              </a:rPr>
              <a:t>95% → 92%</a:t>
            </a:r>
          </a:p>
          <a:p>
            <a:pPr algn="ctr"/>
            <a:r>
              <a:rPr lang="en-US" sz="1100" b="0" i="0" dirty="0">
                <a:effectLst/>
                <a:latin typeface="Segoe UI" panose="020B0502040204020203" pitchFamily="34" charset="0"/>
              </a:rPr>
              <a:t>Accuracy Retention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05AD29-4899-357F-FADF-B528D4FF7B85}"/>
              </a:ext>
            </a:extLst>
          </p:cNvPr>
          <p:cNvSpPr txBox="1"/>
          <p:nvPr/>
        </p:nvSpPr>
        <p:spPr>
          <a:xfrm>
            <a:off x="5219904" y="3764908"/>
            <a:ext cx="1621409" cy="430887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100" b="1" i="0">
                <a:effectLst/>
                <a:latin typeface="Segoe UI" panose="020B0502040204020203" pitchFamily="34" charset="0"/>
              </a:defRPr>
            </a:lvl1pPr>
          </a:lstStyle>
          <a:p>
            <a:r>
              <a:rPr lang="en-US" dirty="0"/>
              <a:t>18 → 30+</a:t>
            </a:r>
          </a:p>
          <a:p>
            <a:r>
              <a:rPr lang="en-US" dirty="0"/>
              <a:t>FPS Improvement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501783-1D06-EB63-1450-1AE006EC444D}"/>
              </a:ext>
            </a:extLst>
          </p:cNvPr>
          <p:cNvSpPr txBox="1"/>
          <p:nvPr/>
        </p:nvSpPr>
        <p:spPr>
          <a:xfrm>
            <a:off x="7283392" y="3764907"/>
            <a:ext cx="1289115" cy="430887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100" b="1" i="0">
                <a:effectLst/>
                <a:latin typeface="Segoe UI" panose="020B0502040204020203" pitchFamily="34" charset="0"/>
              </a:defRPr>
            </a:lvl1pPr>
          </a:lstStyle>
          <a:p>
            <a:r>
              <a:rPr lang="en-US" dirty="0"/>
              <a:t>130MB → 6MB</a:t>
            </a:r>
          </a:p>
          <a:p>
            <a:r>
              <a:rPr lang="en-US" dirty="0"/>
              <a:t>Size Reduction</a:t>
            </a: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F4DE54FC-83B2-2D10-F138-8F91DD3C0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8BD2F4-E479-83BF-8DAB-8BF7E6B6422B}"/>
              </a:ext>
            </a:extLst>
          </p:cNvPr>
          <p:cNvSpPr txBox="1"/>
          <p:nvPr/>
        </p:nvSpPr>
        <p:spPr>
          <a:xfrm>
            <a:off x="2854035" y="1880528"/>
            <a:ext cx="7647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Courier New" panose="02070309020205020404" pitchFamily="49" charset="0"/>
              </a:rPr>
              <a:t>Breaking the Performance-Efficiency Trade-off: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457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7B5C-B1A1-0376-4174-FFF61C55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504"/>
              </a:spcAft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</a:rPr>
              <a:t>International University Of Applied Sciences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DD3C9-E5D2-AE60-3AFE-8A43297A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2608" y="6356349"/>
            <a:ext cx="3085338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504"/>
              </a:spcAft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</a:rPr>
              <a:t>Knowledge Distillation &amp; Neural Architecture Search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790D5-177D-B6A2-0E90-81EF4FE3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98AED0B-3B00-448B-836B-316F7AA19B4B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8FF4C60-14F0-104E-A6FA-3FCA6169A054}"/>
              </a:ext>
            </a:extLst>
          </p:cNvPr>
          <p:cNvSpPr txBox="1">
            <a:spLocks/>
          </p:cNvSpPr>
          <p:nvPr/>
        </p:nvSpPr>
        <p:spPr>
          <a:xfrm>
            <a:off x="945573" y="574152"/>
            <a:ext cx="10515600" cy="638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1E40AF"/>
                </a:solidFill>
                <a:latin typeface="-apple-system"/>
              </a:rPr>
              <a:t>Neural Architecture Search (NAS)</a:t>
            </a:r>
          </a:p>
          <a:p>
            <a:endParaRPr lang="en-US" sz="3600" b="1" dirty="0">
              <a:solidFill>
                <a:srgbClr val="1E40AF"/>
              </a:solidFill>
              <a:latin typeface="-apple-syste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6EBC5D-F1CA-18A5-7F84-CD5201194139}"/>
              </a:ext>
            </a:extLst>
          </p:cNvPr>
          <p:cNvSpPr/>
          <p:nvPr/>
        </p:nvSpPr>
        <p:spPr>
          <a:xfrm>
            <a:off x="2451701" y="1632866"/>
            <a:ext cx="1307592" cy="85953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i="0" dirty="0">
                <a:solidFill>
                  <a:srgbClr val="FFFFFF"/>
                </a:solidFill>
                <a:effectLst/>
              </a:rPr>
              <a:t>Search Space</a:t>
            </a:r>
            <a:br>
              <a:rPr lang="en-US" sz="1200" dirty="0"/>
            </a:br>
            <a:r>
              <a:rPr lang="en-US" sz="1200" b="0" i="0" dirty="0">
                <a:solidFill>
                  <a:srgbClr val="FFFFFF"/>
                </a:solidFill>
                <a:effectLst/>
              </a:rPr>
              <a:t>Definition</a:t>
            </a:r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815C4C-B59A-9E3F-2978-2DE03EA58B5C}"/>
              </a:ext>
            </a:extLst>
          </p:cNvPr>
          <p:cNvSpPr/>
          <p:nvPr/>
        </p:nvSpPr>
        <p:spPr>
          <a:xfrm>
            <a:off x="4250021" y="1632866"/>
            <a:ext cx="1307592" cy="85953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Architecture</a:t>
            </a:r>
            <a:br>
              <a:rPr lang="en-US" sz="1200" dirty="0">
                <a:solidFill>
                  <a:srgbClr val="FFFFFF"/>
                </a:solidFill>
              </a:rPr>
            </a:br>
            <a:r>
              <a:rPr lang="en-US" sz="1200" dirty="0">
                <a:solidFill>
                  <a:srgbClr val="FFFFFF"/>
                </a:solidFill>
              </a:rPr>
              <a:t>Sampling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AEB751-5093-E40B-805D-39719F803E05}"/>
              </a:ext>
            </a:extLst>
          </p:cNvPr>
          <p:cNvSpPr/>
          <p:nvPr/>
        </p:nvSpPr>
        <p:spPr>
          <a:xfrm>
            <a:off x="6048341" y="1632866"/>
            <a:ext cx="1307592" cy="85953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Training &amp;</a:t>
            </a:r>
            <a:br>
              <a:rPr lang="en-US" sz="1200" dirty="0">
                <a:solidFill>
                  <a:srgbClr val="FFFFFF"/>
                </a:solidFill>
              </a:rPr>
            </a:br>
            <a:r>
              <a:rPr lang="en-US" sz="1200" dirty="0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51064D-ACD6-D805-2B65-7633AFB317BE}"/>
              </a:ext>
            </a:extLst>
          </p:cNvPr>
          <p:cNvSpPr/>
          <p:nvPr/>
        </p:nvSpPr>
        <p:spPr>
          <a:xfrm>
            <a:off x="7921337" y="1632866"/>
            <a:ext cx="1307592" cy="85953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Best Architecture</a:t>
            </a:r>
            <a:br>
              <a:rPr lang="en-US" sz="1200" dirty="0">
                <a:solidFill>
                  <a:srgbClr val="FFFFFF"/>
                </a:solidFill>
              </a:rPr>
            </a:br>
            <a:r>
              <a:rPr lang="en-US" sz="1200" dirty="0">
                <a:solidFill>
                  <a:srgbClr val="FFFFFF"/>
                </a:solidFill>
              </a:rPr>
              <a:t>Selection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5DF9BE5-FBFC-93AC-FE7E-100FECB73FD0}"/>
              </a:ext>
            </a:extLst>
          </p:cNvPr>
          <p:cNvCxnSpPr/>
          <p:nvPr/>
        </p:nvCxnSpPr>
        <p:spPr>
          <a:xfrm>
            <a:off x="2881981" y="2683407"/>
            <a:ext cx="5870448" cy="0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21">
            <a:extLst>
              <a:ext uri="{FF2B5EF4-FFF2-40B4-BE49-F238E27FC236}">
                <a16:creationId xmlns:a16="http://schemas.microsoft.com/office/drawing/2014/main" id="{02BADA62-F628-D63A-FBEE-7108FE1D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6964" y="307303"/>
            <a:ext cx="10515600" cy="1325563"/>
          </a:xfrm>
        </p:spPr>
        <p:txBody>
          <a:bodyPr/>
          <a:lstStyle/>
          <a:p>
            <a:r>
              <a:rPr lang="en-US" dirty="0"/>
              <a:t>   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8A3EDCF-C759-6F65-A8A5-32390E73C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30" y="2936994"/>
            <a:ext cx="1943200" cy="274334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9150FA0-9B59-7950-2964-D325DC385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462" y="2946241"/>
            <a:ext cx="4016224" cy="2695371"/>
          </a:xfrm>
          <a:prstGeom prst="rect">
            <a:avLst/>
          </a:prstGeom>
        </p:spPr>
      </p:pic>
      <p:pic>
        <p:nvPicPr>
          <p:cNvPr id="36" name="Graphic 35" descr="Magnifying glass with solid fill">
            <a:extLst>
              <a:ext uri="{FF2B5EF4-FFF2-40B4-BE49-F238E27FC236}">
                <a16:creationId xmlns:a16="http://schemas.microsoft.com/office/drawing/2014/main" id="{202BA034-8570-62F1-2A62-DF5819849F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977" y="391490"/>
            <a:ext cx="547723" cy="54772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539E847-E95F-0537-7786-6C24B925B6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8530" y="2946242"/>
            <a:ext cx="3142743" cy="2838713"/>
          </a:xfrm>
          <a:prstGeom prst="rect">
            <a:avLst/>
          </a:prstGeom>
        </p:spPr>
      </p:pic>
      <p:pic>
        <p:nvPicPr>
          <p:cNvPr id="42" name="Graphic 41" descr="Badge 1 with solid fill">
            <a:extLst>
              <a:ext uri="{FF2B5EF4-FFF2-40B4-BE49-F238E27FC236}">
                <a16:creationId xmlns:a16="http://schemas.microsoft.com/office/drawing/2014/main" id="{08D658B8-BA34-3488-9324-12FB039CA4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8949" y="5863316"/>
            <a:ext cx="523221" cy="523221"/>
          </a:xfrm>
          <a:prstGeom prst="rect">
            <a:avLst/>
          </a:prstGeom>
        </p:spPr>
      </p:pic>
      <p:pic>
        <p:nvPicPr>
          <p:cNvPr id="45" name="Graphic 44" descr="Badge with solid fill">
            <a:extLst>
              <a:ext uri="{FF2B5EF4-FFF2-40B4-BE49-F238E27FC236}">
                <a16:creationId xmlns:a16="http://schemas.microsoft.com/office/drawing/2014/main" id="{B867B08E-8181-826B-4124-2D0EF46696E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10629" y="5848223"/>
            <a:ext cx="523221" cy="523221"/>
          </a:xfrm>
          <a:prstGeom prst="rect">
            <a:avLst/>
          </a:prstGeom>
        </p:spPr>
      </p:pic>
      <p:pic>
        <p:nvPicPr>
          <p:cNvPr id="46" name="Graphic 45" descr="Badge 3 with solid fill">
            <a:extLst>
              <a:ext uri="{FF2B5EF4-FFF2-40B4-BE49-F238E27FC236}">
                <a16:creationId xmlns:a16="http://schemas.microsoft.com/office/drawing/2014/main" id="{55D8DEBF-FDA0-06C9-00FD-53A67348156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94322" y="5863316"/>
            <a:ext cx="523222" cy="52322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9FAAA6F-E043-7997-938A-95CDB471048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26247" y="2912194"/>
            <a:ext cx="2241695" cy="2695372"/>
          </a:xfrm>
          <a:prstGeom prst="rect">
            <a:avLst/>
          </a:prstGeom>
        </p:spPr>
      </p:pic>
      <p:pic>
        <p:nvPicPr>
          <p:cNvPr id="49" name="Graphic 48" descr="Badge 4 with solid fill">
            <a:extLst>
              <a:ext uri="{FF2B5EF4-FFF2-40B4-BE49-F238E27FC236}">
                <a16:creationId xmlns:a16="http://schemas.microsoft.com/office/drawing/2014/main" id="{2C01279A-8E14-475B-FFDF-8ECF8D3EE72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834686" y="5812625"/>
            <a:ext cx="558819" cy="558819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67971E4-1E2E-0D37-67A4-6E8002185B98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50299" t="36822" r="28634" b="28612"/>
          <a:stretch/>
        </p:blipFill>
        <p:spPr>
          <a:xfrm>
            <a:off x="10659502" y="3659297"/>
            <a:ext cx="1193061" cy="94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21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30A-0841-2B85-58E5-6CE63A33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1E40AF"/>
                </a:solidFill>
                <a:latin typeface="-apple-system"/>
              </a:rPr>
              <a:t>YoloV8n Config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DD3C9-E5D2-AE60-3AFE-8A43297A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 dirty="0"/>
              <a:t>Master Thesis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7B5C-B1A1-0376-4174-FFF61C55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University Of Applied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790D5-177D-B6A2-0E90-81EF4FE3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ED0B-3B00-448B-836B-316F7AA19B4B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470B50-4742-57EA-E337-7EF457A72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102" y="1004048"/>
            <a:ext cx="5512083" cy="499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977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7B5C-B1A1-0376-4174-FFF61C55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504"/>
              </a:spcAft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</a:rPr>
              <a:t>International University Of Applied Sciences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DD3C9-E5D2-AE60-3AFE-8A43297A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2608" y="6356349"/>
            <a:ext cx="3085338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504"/>
              </a:spcAft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</a:rPr>
              <a:t>Knowledge Distillation &amp; Neural Architecture Search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790D5-177D-B6A2-0E90-81EF4FE3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98AED0B-3B00-448B-836B-316F7AA19B4B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8FF4C60-14F0-104E-A6FA-3FCA6169A05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38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1E40AF"/>
                </a:solidFill>
                <a:latin typeface="-apple-system"/>
              </a:rPr>
              <a:t>Knowledge Distillation</a:t>
            </a: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F4DE54FC-83B2-2D10-F138-8F91DD3C0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58" y="1593562"/>
            <a:ext cx="10515600" cy="1325563"/>
          </a:xfrm>
        </p:spPr>
        <p:txBody>
          <a:bodyPr/>
          <a:lstStyle/>
          <a:p>
            <a:r>
              <a:rPr lang="en-US" dirty="0"/>
              <a:t>  </a:t>
            </a:r>
            <a:br>
              <a:rPr lang="en-US" b="1" dirty="0"/>
            </a:br>
            <a:endParaRPr lang="en-US" dirty="0"/>
          </a:p>
        </p:txBody>
      </p:sp>
      <p:pic>
        <p:nvPicPr>
          <p:cNvPr id="9" name="Graphic 8" descr="Head with gears with solid fill">
            <a:extLst>
              <a:ext uri="{FF2B5EF4-FFF2-40B4-BE49-F238E27FC236}">
                <a16:creationId xmlns:a16="http://schemas.microsoft.com/office/drawing/2014/main" id="{711BF609-4E06-C625-E21F-8F7A0F3EE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877" y="365125"/>
            <a:ext cx="483696" cy="4836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8E1804-B998-6BF5-7116-0777EBF7A782}"/>
              </a:ext>
            </a:extLst>
          </p:cNvPr>
          <p:cNvSpPr txBox="1"/>
          <p:nvPr/>
        </p:nvSpPr>
        <p:spPr>
          <a:xfrm>
            <a:off x="1028700" y="2115618"/>
            <a:ext cx="2655750" cy="461665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/>
              <a:t>Teacher Model: YOLOv8x </a:t>
            </a:r>
          </a:p>
          <a:p>
            <a:r>
              <a:rPr lang="en-US" sz="1200" b="1" dirty="0"/>
              <a:t>Large, Accurate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AE51EB-521F-5968-1833-2F07B14EFC08}"/>
              </a:ext>
            </a:extLst>
          </p:cNvPr>
          <p:cNvSpPr txBox="1"/>
          <p:nvPr/>
        </p:nvSpPr>
        <p:spPr>
          <a:xfrm>
            <a:off x="1010229" y="2929041"/>
            <a:ext cx="2674221" cy="461665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/>
              <a:t>Knowledge Transfer</a:t>
            </a:r>
          </a:p>
          <a:p>
            <a:r>
              <a:rPr lang="en-US" sz="1200" b="1" dirty="0"/>
              <a:t>Soft Targets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F4293C-39C6-83C8-D6B9-F35587B19F39}"/>
              </a:ext>
            </a:extLst>
          </p:cNvPr>
          <p:cNvSpPr txBox="1"/>
          <p:nvPr/>
        </p:nvSpPr>
        <p:spPr>
          <a:xfrm>
            <a:off x="1010229" y="3704556"/>
            <a:ext cx="2674220" cy="461665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/>
              <a:t>Student Model: Custom YOLOv8</a:t>
            </a:r>
          </a:p>
          <a:p>
            <a:r>
              <a:rPr lang="en-US" sz="1200" b="1" dirty="0"/>
              <a:t>Small, Efficient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E43BCF8-C30B-B4F5-3C08-D690A32C2C7D}"/>
              </a:ext>
            </a:extLst>
          </p:cNvPr>
          <p:cNvCxnSpPr>
            <a:cxnSpLocks/>
          </p:cNvCxnSpPr>
          <p:nvPr/>
        </p:nvCxnSpPr>
        <p:spPr>
          <a:xfrm>
            <a:off x="2253068" y="2651171"/>
            <a:ext cx="0" cy="2209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FDA4052-D0AB-E97E-DC24-7B08E4F89116}"/>
              </a:ext>
            </a:extLst>
          </p:cNvPr>
          <p:cNvCxnSpPr>
            <a:cxnSpLocks/>
          </p:cNvCxnSpPr>
          <p:nvPr/>
        </p:nvCxnSpPr>
        <p:spPr>
          <a:xfrm>
            <a:off x="2253068" y="3438208"/>
            <a:ext cx="0" cy="2209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3EDFD478-DFAB-3112-FEB6-B4D4B598C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636" y="2198785"/>
            <a:ext cx="4076497" cy="1776557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83EF635-BC66-44BD-294E-2C67D312811F}"/>
              </a:ext>
            </a:extLst>
          </p:cNvPr>
          <p:cNvCxnSpPr>
            <a:cxnSpLocks/>
          </p:cNvCxnSpPr>
          <p:nvPr/>
        </p:nvCxnSpPr>
        <p:spPr>
          <a:xfrm flipV="1">
            <a:off x="3684449" y="2456873"/>
            <a:ext cx="1303187" cy="472168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410204E-5456-84DF-74A0-8F49596A1A30}"/>
              </a:ext>
            </a:extLst>
          </p:cNvPr>
          <p:cNvCxnSpPr>
            <a:cxnSpLocks/>
          </p:cNvCxnSpPr>
          <p:nvPr/>
        </p:nvCxnSpPr>
        <p:spPr>
          <a:xfrm>
            <a:off x="3684449" y="3390706"/>
            <a:ext cx="1303187" cy="31385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B130316-83A4-173A-5341-0E00459F387A}"/>
              </a:ext>
            </a:extLst>
          </p:cNvPr>
          <p:cNvSpPr txBox="1"/>
          <p:nvPr/>
        </p:nvSpPr>
        <p:spPr>
          <a:xfrm>
            <a:off x="9173567" y="1464051"/>
            <a:ext cx="225366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9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rPr>
              <a:t>qi </a:t>
            </a:r>
            <a:r>
              <a:rPr lang="en-US" altLang="en-US" sz="1100" dirty="0">
                <a:solidFill>
                  <a:schemeClr val="bg1">
                    <a:lumMod val="75000"/>
                  </a:schemeClr>
                </a:solidFill>
              </a:rPr>
              <a:t>= probability for class </a:t>
            </a:r>
            <a:r>
              <a:rPr lang="en-US" altLang="en-US" sz="1100" dirty="0" err="1">
                <a:solidFill>
                  <a:schemeClr val="bg1">
                    <a:lumMod val="75000"/>
                  </a:schemeClr>
                </a:solidFill>
              </a:rPr>
              <a:t>i</a:t>
            </a:r>
            <a:r>
              <a:rPr lang="en-US" altLang="en-US" sz="1100" dirty="0">
                <a:solidFill>
                  <a:schemeClr val="bg1">
                    <a:lumMod val="75000"/>
                  </a:schemeClr>
                </a:solidFill>
              </a:rPr>
              <a:t> </a:t>
            </a: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100" dirty="0">
                <a:solidFill>
                  <a:schemeClr val="bg1">
                    <a:lumMod val="75000"/>
                  </a:schemeClr>
                </a:solidFill>
              </a:rPr>
              <a:t>zi = logit (raw output) for class </a:t>
            </a:r>
            <a:r>
              <a:rPr lang="en-US" altLang="en-US" sz="1100" dirty="0" err="1">
                <a:solidFill>
                  <a:schemeClr val="bg1">
                    <a:lumMod val="75000"/>
                  </a:schemeClr>
                </a:solidFill>
              </a:rPr>
              <a:t>i</a:t>
            </a:r>
            <a:r>
              <a:rPr lang="en-US" altLang="en-US" sz="1100" dirty="0">
                <a:solidFill>
                  <a:schemeClr val="bg1">
                    <a:lumMod val="75000"/>
                  </a:schemeClr>
                </a:solidFill>
              </a:rPr>
              <a:t> </a:t>
            </a: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100" dirty="0">
                <a:solidFill>
                  <a:schemeClr val="bg1">
                    <a:lumMod val="75000"/>
                  </a:schemeClr>
                </a:solidFill>
              </a:rPr>
              <a:t>T = temperature parameter </a:t>
            </a:r>
          </a:p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100" dirty="0" err="1">
                <a:solidFill>
                  <a:schemeClr val="bg1">
                    <a:lumMod val="75000"/>
                  </a:schemeClr>
                </a:solidFill>
              </a:rPr>
              <a:t>Σj</a:t>
            </a:r>
            <a:r>
              <a:rPr lang="en-US" altLang="en-US" sz="1100" dirty="0">
                <a:solidFill>
                  <a:schemeClr val="bg1">
                    <a:lumMod val="75000"/>
                  </a:schemeClr>
                </a:solidFill>
              </a:rPr>
              <a:t> = sum over all classes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45AAAB-1CCF-A7EA-F3E5-6CA1464E04FA}"/>
              </a:ext>
            </a:extLst>
          </p:cNvPr>
          <p:cNvSpPr txBox="1"/>
          <p:nvPr/>
        </p:nvSpPr>
        <p:spPr>
          <a:xfrm>
            <a:off x="9173567" y="3989260"/>
            <a:ext cx="290945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rPr>
              <a:t>α = weighting parameter (0 to 1)</a:t>
            </a:r>
          </a:p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rPr>
              <a:t>Lhard = hard loss (cross-entropy with ground truth)</a:t>
            </a:r>
          </a:p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rPr>
              <a:t>Lsoft = soft loss (KL divergence with teacher predictions)</a:t>
            </a:r>
          </a:p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rPr>
              <a:t>(1−α) = complementary weight for soft loss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F722E9-1043-0C32-4B97-E12F14AB401F}"/>
              </a:ext>
            </a:extLst>
          </p:cNvPr>
          <p:cNvSpPr txBox="1"/>
          <p:nvPr/>
        </p:nvSpPr>
        <p:spPr>
          <a:xfrm>
            <a:off x="9173567" y="2266450"/>
            <a:ext cx="238750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1">
                    <a:lumMod val="75000"/>
                  </a:schemeClr>
                </a:solidFill>
              </a:rPr>
              <a:t>Temperature controls how "soft" or "hard" the teacher's predictions are, directly affecting how much knowledge can be transferred.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C0EC588-6C0F-A0B9-21C5-5F5D57700508}"/>
              </a:ext>
            </a:extLst>
          </p:cNvPr>
          <p:cNvCxnSpPr>
            <a:cxnSpLocks/>
          </p:cNvCxnSpPr>
          <p:nvPr/>
        </p:nvCxnSpPr>
        <p:spPr>
          <a:xfrm flipV="1">
            <a:off x="9064133" y="2180567"/>
            <a:ext cx="2480167" cy="27645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96A1447-8FDA-B1FD-BF4D-2EED7BDC00B0}"/>
              </a:ext>
            </a:extLst>
          </p:cNvPr>
          <p:cNvCxnSpPr>
            <a:cxnSpLocks/>
          </p:cNvCxnSpPr>
          <p:nvPr/>
        </p:nvCxnSpPr>
        <p:spPr>
          <a:xfrm flipV="1">
            <a:off x="9252779" y="3059935"/>
            <a:ext cx="2101021" cy="2455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F44CD1F-0463-4FE0-0D58-E8040D27B187}"/>
              </a:ext>
            </a:extLst>
          </p:cNvPr>
          <p:cNvCxnSpPr>
            <a:cxnSpLocks/>
          </p:cNvCxnSpPr>
          <p:nvPr/>
        </p:nvCxnSpPr>
        <p:spPr>
          <a:xfrm flipV="1">
            <a:off x="9063205" y="3916792"/>
            <a:ext cx="2480167" cy="27645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FD2D6FF-32CC-0A1E-819A-F7508E07EE85}"/>
              </a:ext>
            </a:extLst>
          </p:cNvPr>
          <p:cNvSpPr txBox="1"/>
          <p:nvPr/>
        </p:nvSpPr>
        <p:spPr>
          <a:xfrm>
            <a:off x="9173567" y="3176259"/>
            <a:ext cx="265202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1">
                    <a:lumMod val="75000"/>
                  </a:schemeClr>
                </a:solidFill>
              </a:rPr>
              <a:t>Alpha determines how much the student should trust the teacher versus the ground truth.</a:t>
            </a:r>
          </a:p>
        </p:txBody>
      </p:sp>
    </p:spTree>
    <p:extLst>
      <p:ext uri="{BB962C8B-B14F-4D97-AF65-F5344CB8AC3E}">
        <p14:creationId xmlns:p14="http://schemas.microsoft.com/office/powerpoint/2010/main" val="3264176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5E9A70F6-1482-9247-F5D3-3B797B755EFE}"/>
              </a:ext>
            </a:extLst>
          </p:cNvPr>
          <p:cNvSpPr/>
          <p:nvPr/>
        </p:nvSpPr>
        <p:spPr>
          <a:xfrm>
            <a:off x="7019626" y="2385476"/>
            <a:ext cx="4462290" cy="165699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AF5AB6-DECD-602C-827C-E6873DB45E8C}"/>
              </a:ext>
            </a:extLst>
          </p:cNvPr>
          <p:cNvSpPr/>
          <p:nvPr/>
        </p:nvSpPr>
        <p:spPr>
          <a:xfrm>
            <a:off x="793930" y="3503962"/>
            <a:ext cx="5687142" cy="14966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C6C28E-52AA-D35D-626E-3801DC0ED358}"/>
              </a:ext>
            </a:extLst>
          </p:cNvPr>
          <p:cNvSpPr/>
          <p:nvPr/>
        </p:nvSpPr>
        <p:spPr>
          <a:xfrm>
            <a:off x="897718" y="2135993"/>
            <a:ext cx="3469010" cy="2934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55CC96-2CB8-9476-1AB2-8399B7570162}"/>
              </a:ext>
            </a:extLst>
          </p:cNvPr>
          <p:cNvSpPr/>
          <p:nvPr/>
        </p:nvSpPr>
        <p:spPr>
          <a:xfrm>
            <a:off x="435208" y="1408177"/>
            <a:ext cx="6193178" cy="37216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7B5C-B1A1-0376-4174-FFF61C55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504"/>
              </a:spcAft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</a:rPr>
              <a:t>International University Of Applied Sciences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DD3C9-E5D2-AE60-3AFE-8A43297A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2608" y="6356349"/>
            <a:ext cx="3085338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504"/>
              </a:spcAft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</a:rPr>
              <a:t>Knowledge Distillation &amp; Neural Architecture Search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790D5-177D-B6A2-0E90-81EF4FE3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98AED0B-3B00-448B-836B-316F7AA19B4B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8FF4C60-14F0-104E-A6FA-3FCA6169A05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38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1E40AF"/>
                </a:solidFill>
                <a:latin typeface="-apple-system"/>
              </a:rPr>
              <a:t>Knowledge Distillation : Temperature </a:t>
            </a:r>
          </a:p>
        </p:txBody>
      </p:sp>
      <p:pic>
        <p:nvPicPr>
          <p:cNvPr id="9" name="Graphic 8" descr="Head with gears with solid fill">
            <a:extLst>
              <a:ext uri="{FF2B5EF4-FFF2-40B4-BE49-F238E27FC236}">
                <a16:creationId xmlns:a16="http://schemas.microsoft.com/office/drawing/2014/main" id="{711BF609-4E06-C625-E21F-8F7A0F3EE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877" y="365125"/>
            <a:ext cx="483696" cy="4836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B19AC5-181F-D4CF-F091-02D25836203F}"/>
              </a:ext>
            </a:extLst>
          </p:cNvPr>
          <p:cNvSpPr txBox="1"/>
          <p:nvPr/>
        </p:nvSpPr>
        <p:spPr>
          <a:xfrm>
            <a:off x="461877" y="1873745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200" dirty="0">
                <a:solidFill>
                  <a:schemeClr val="bg1"/>
                </a:solidFill>
              </a:rPr>
              <a:t>Teacher Raw Logits (before </a:t>
            </a:r>
            <a:r>
              <a:rPr lang="en-US" sz="1200" dirty="0" err="1">
                <a:solidFill>
                  <a:schemeClr val="bg1"/>
                </a:solidFill>
              </a:rPr>
              <a:t>softmax</a:t>
            </a:r>
            <a:r>
              <a:rPr lang="en-US" sz="1200" dirty="0">
                <a:solidFill>
                  <a:schemeClr val="bg1"/>
                </a:solidFill>
              </a:rPr>
              <a:t>):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</a:rPr>
              <a:t>     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9EA3C4-BFC2-2E33-DD68-B5A0965CD597}"/>
              </a:ext>
            </a:extLst>
          </p:cNvPr>
          <p:cNvSpPr txBox="1"/>
          <p:nvPr/>
        </p:nvSpPr>
        <p:spPr>
          <a:xfrm>
            <a:off x="818073" y="2165430"/>
            <a:ext cx="498836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t_cls</a:t>
            </a:r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 = [4.0, 2.5, 1.0] # [Car, Truck, Bus]</a:t>
            </a:r>
            <a:endParaRPr lang="en-US" sz="10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8B7DAE-99C8-162E-1F6D-6039284990ED}"/>
              </a:ext>
            </a:extLst>
          </p:cNvPr>
          <p:cNvSpPr txBox="1"/>
          <p:nvPr/>
        </p:nvSpPr>
        <p:spPr>
          <a:xfrm>
            <a:off x="775758" y="2706484"/>
            <a:ext cx="45441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1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t_cls_scaled</a:t>
            </a:r>
            <a:r>
              <a:rPr lang="fr-FR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 = </a:t>
            </a:r>
            <a:r>
              <a:rPr lang="fr-FR" sz="1000" b="1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t_cls</a:t>
            </a:r>
            <a:r>
              <a:rPr lang="fr-FR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 / </a:t>
            </a:r>
            <a:r>
              <a:rPr lang="fr-FR" sz="1000" b="1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self.temperature</a:t>
            </a:r>
            <a:r>
              <a:rPr lang="fr-FR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 # T = 2.0 </a:t>
            </a:r>
          </a:p>
          <a:p>
            <a:r>
              <a:rPr lang="fr-FR" sz="1000" b="1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t_cls_scaled</a:t>
            </a:r>
            <a:r>
              <a:rPr lang="fr-FR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 = [4.0/2.0, 2.5/2.0, 1.0/2.0] </a:t>
            </a:r>
          </a:p>
          <a:p>
            <a:r>
              <a:rPr lang="fr-FR" sz="1000" b="1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t_cls_scaled</a:t>
            </a:r>
            <a:r>
              <a:rPr lang="fr-FR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 = [2.0, 1.25, 0.5]</a:t>
            </a:r>
            <a:endParaRPr lang="en-US" sz="1000" b="1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CBC002-08D7-81D3-DAE0-74A584D4D475}"/>
              </a:ext>
            </a:extLst>
          </p:cNvPr>
          <p:cNvSpPr txBox="1"/>
          <p:nvPr/>
        </p:nvSpPr>
        <p:spPr>
          <a:xfrm>
            <a:off x="462639" y="2417651"/>
            <a:ext cx="6094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2. Apply Temperature Scaling: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798392-6239-68CF-6EA0-A68AF42FB5FD}"/>
              </a:ext>
            </a:extLst>
          </p:cNvPr>
          <p:cNvSpPr txBox="1"/>
          <p:nvPr/>
        </p:nvSpPr>
        <p:spPr>
          <a:xfrm>
            <a:off x="490071" y="3249524"/>
            <a:ext cx="6094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3. Compute Temperature-Scaled </a:t>
            </a:r>
            <a:r>
              <a:rPr lang="en-US" sz="1200" dirty="0" err="1">
                <a:solidFill>
                  <a:schemeClr val="bg1"/>
                </a:solidFill>
              </a:rPr>
              <a:t>Softmax</a:t>
            </a:r>
            <a:r>
              <a:rPr lang="en-US" sz="1200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408079-FDE1-6EED-F4E4-B16DFC908646}"/>
              </a:ext>
            </a:extLst>
          </p:cNvPr>
          <p:cNvSpPr txBox="1"/>
          <p:nvPr/>
        </p:nvSpPr>
        <p:spPr>
          <a:xfrm>
            <a:off x="786852" y="3497962"/>
            <a:ext cx="565052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# Calculate exponentials </a:t>
            </a:r>
          </a:p>
          <a:p>
            <a:r>
              <a:rPr lang="en-US" sz="1000" b="1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exp_values</a:t>
            </a:r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 = [exp(2.0), exp(1.25), exp(0.5)] </a:t>
            </a:r>
          </a:p>
          <a:p>
            <a:r>
              <a:rPr lang="en-US" sz="1000" b="1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exp_values</a:t>
            </a:r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 = [7.39, 3.49, 1.65] # Sum all exponentials </a:t>
            </a:r>
          </a:p>
          <a:p>
            <a:r>
              <a:rPr lang="en-US" sz="1000" b="1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sum_exp</a:t>
            </a:r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 = 7.39 + 3.49 + 1.65 = 12.53 # Calculate </a:t>
            </a:r>
            <a:r>
              <a:rPr lang="en-US" sz="1000" b="1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softmax</a:t>
            </a:r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 probabilities </a:t>
            </a:r>
          </a:p>
          <a:p>
            <a:r>
              <a:rPr lang="en-US" sz="1000" b="1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q_car</a:t>
            </a:r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 = 7.39 / 12.53 = 0.59 </a:t>
            </a:r>
          </a:p>
          <a:p>
            <a:r>
              <a:rPr lang="en-US" sz="1000" b="1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q_truck</a:t>
            </a:r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 = 3.49 / 12.53 = 0.28 </a:t>
            </a:r>
          </a:p>
          <a:p>
            <a:r>
              <a:rPr lang="en-US" sz="1000" b="1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q_bus</a:t>
            </a:r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 = 1.65 / 12.53 = 0.13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18C3EE-0953-4936-5F27-10D414BD9953}"/>
              </a:ext>
            </a:extLst>
          </p:cNvPr>
          <p:cNvSpPr txBox="1"/>
          <p:nvPr/>
        </p:nvSpPr>
        <p:spPr>
          <a:xfrm>
            <a:off x="786852" y="4521841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000" b="1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</a:endParaRPr>
          </a:p>
          <a:p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probabilities = [0.59, 0.28, 0.13] # Much softer! 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078F42-48E5-DB67-3FA3-DF9D4AC8503B}"/>
              </a:ext>
            </a:extLst>
          </p:cNvPr>
          <p:cNvSpPr txBox="1"/>
          <p:nvPr/>
        </p:nvSpPr>
        <p:spPr>
          <a:xfrm>
            <a:off x="1835277" y="1510551"/>
            <a:ext cx="41507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Temperature (T=2, Standard </a:t>
            </a:r>
            <a:r>
              <a:rPr lang="en-US" sz="1200" b="1" dirty="0" err="1">
                <a:solidFill>
                  <a:schemeClr val="bg1"/>
                </a:solidFill>
              </a:rPr>
              <a:t>Softmax</a:t>
            </a:r>
            <a:r>
              <a:rPr lang="en-US" sz="1200" b="1" dirty="0">
                <a:solidFill>
                  <a:schemeClr val="bg1"/>
                </a:solidFill>
              </a:rPr>
              <a:t>):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BB3DA6-206F-85C8-0714-2E240FCF3CD5}"/>
              </a:ext>
            </a:extLst>
          </p:cNvPr>
          <p:cNvSpPr txBox="1"/>
          <p:nvPr/>
        </p:nvSpPr>
        <p:spPr>
          <a:xfrm>
            <a:off x="7019626" y="2523975"/>
            <a:ext cx="33216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Without Temperature (T=1, Standard </a:t>
            </a:r>
            <a:r>
              <a:rPr lang="en-US" sz="1200" b="1" dirty="0" err="1">
                <a:solidFill>
                  <a:schemeClr val="bg1"/>
                </a:solidFill>
              </a:rPr>
              <a:t>Softmax</a:t>
            </a:r>
            <a:r>
              <a:rPr lang="en-US" sz="1200" b="1" dirty="0">
                <a:solidFill>
                  <a:schemeClr val="bg1"/>
                </a:solidFill>
              </a:rPr>
              <a:t>):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D3EF59-AAD2-FBE7-D7C4-CE11516E374D}"/>
              </a:ext>
            </a:extLst>
          </p:cNvPr>
          <p:cNvSpPr txBox="1"/>
          <p:nvPr/>
        </p:nvSpPr>
        <p:spPr>
          <a:xfrm>
            <a:off x="7088692" y="2882819"/>
            <a:ext cx="43932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# Raw logits: [4.0, 2.5, 1.0] </a:t>
            </a:r>
          </a:p>
          <a:p>
            <a:r>
              <a:rPr lang="en-US" sz="1000" b="1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exp_values</a:t>
            </a:r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 = [exp(4.0), exp(2.5), exp(1.0)] </a:t>
            </a:r>
          </a:p>
          <a:p>
            <a:r>
              <a:rPr lang="en-US" sz="1000" b="1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exp_values</a:t>
            </a:r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 = [54.6, 12.2, 2.7] </a:t>
            </a:r>
          </a:p>
          <a:p>
            <a:r>
              <a:rPr lang="en-US" sz="1000" b="1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sum_exp</a:t>
            </a:r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 = 69.5 # Standard </a:t>
            </a:r>
            <a:r>
              <a:rPr lang="en-US" sz="1000" b="1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softmax</a:t>
            </a:r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probabilities = [54.6/69.5, 12.2/69.5, 2.7/69.5] probabilities = [0.79, 0.17, 0.04]</a:t>
            </a:r>
          </a:p>
        </p:txBody>
      </p:sp>
      <p:sp>
        <p:nvSpPr>
          <p:cNvPr id="47" name="Title 46">
            <a:extLst>
              <a:ext uri="{FF2B5EF4-FFF2-40B4-BE49-F238E27FC236}">
                <a16:creationId xmlns:a16="http://schemas.microsoft.com/office/drawing/2014/main" id="{AE01B750-F29F-F15D-3711-E76AA8535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7946" y="2698619"/>
            <a:ext cx="10515600" cy="1325563"/>
          </a:xfrm>
        </p:spPr>
        <p:txBody>
          <a:bodyPr/>
          <a:lstStyle/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12880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1CBE364-C2CF-AA17-A0BC-6239F6075473}"/>
              </a:ext>
            </a:extLst>
          </p:cNvPr>
          <p:cNvSpPr/>
          <p:nvPr/>
        </p:nvSpPr>
        <p:spPr>
          <a:xfrm>
            <a:off x="5280660" y="1998711"/>
            <a:ext cx="5925312" cy="266610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# Teacher distribution (rich knowledge) </a:t>
            </a:r>
          </a:p>
          <a:p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Teacher = [car=0.6, truck=0.3, bus=0.1] # "Mostly car, some truck features" </a:t>
            </a:r>
          </a:p>
          <a:p>
            <a:endParaRPr lang="en-US" sz="1000" b="1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</a:endParaRPr>
          </a:p>
          <a:p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# Student distribution (learning) </a:t>
            </a:r>
          </a:p>
          <a:p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Student = [car=0.7, truck=0.2, bus=0.1] </a:t>
            </a:r>
          </a:p>
          <a:p>
            <a:endParaRPr lang="en-US" sz="1000" b="1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</a:endParaRPr>
          </a:p>
          <a:p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# "Definitely car" </a:t>
            </a:r>
          </a:p>
          <a:p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# KL divergence measures how well student matches teacher's wisdom </a:t>
            </a:r>
          </a:p>
          <a:p>
            <a:r>
              <a:rPr lang="en-US" sz="1000" b="1" dirty="0" err="1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KL_loss</a:t>
            </a:r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 = KL(Teacher || Student)</a:t>
            </a:r>
          </a:p>
          <a:p>
            <a:pPr algn="ctr"/>
            <a:endParaRPr lang="en-US" sz="1000" b="1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</a:endParaRPr>
          </a:p>
          <a:p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# Perfect knowledge transfer: KL(Teacher || Student) = 0 </a:t>
            </a:r>
          </a:p>
          <a:p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# Student exactly matches teacher </a:t>
            </a:r>
          </a:p>
          <a:p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# Poor knowledge transfer: KL(Teacher || Student) = high value </a:t>
            </a:r>
          </a:p>
          <a:p>
            <a:r>
              <a:rPr lang="en-US" sz="10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</a:rPr>
              <a:t># Student very different from teacher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7B5C-B1A1-0376-4174-FFF61C55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504"/>
              </a:spcAft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</a:rPr>
              <a:t>International University Of Applied Sciences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DD3C9-E5D2-AE60-3AFE-8A43297A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2608" y="6356349"/>
            <a:ext cx="3085338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504"/>
              </a:spcAft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</a:rPr>
              <a:t>Knowledge Distillation &amp; Neural Architecture Search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790D5-177D-B6A2-0E90-81EF4FE3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98AED0B-3B00-448B-836B-316F7AA19B4B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8FF4C60-14F0-104E-A6FA-3FCA6169A05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38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1E40AF"/>
                </a:solidFill>
                <a:latin typeface="-apple-system"/>
              </a:rPr>
              <a:t>Knowledge Distillation : KL Divergence Formula </a:t>
            </a:r>
          </a:p>
        </p:txBody>
      </p:sp>
      <p:pic>
        <p:nvPicPr>
          <p:cNvPr id="9" name="Graphic 8" descr="Head with gears with solid fill">
            <a:extLst>
              <a:ext uri="{FF2B5EF4-FFF2-40B4-BE49-F238E27FC236}">
                <a16:creationId xmlns:a16="http://schemas.microsoft.com/office/drawing/2014/main" id="{711BF609-4E06-C625-E21F-8F7A0F3EE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877" y="365125"/>
            <a:ext cx="483696" cy="4836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4BFA86-F18C-8E61-FA87-22913DCFF684}"/>
              </a:ext>
            </a:extLst>
          </p:cNvPr>
          <p:cNvSpPr txBox="1"/>
          <p:nvPr/>
        </p:nvSpPr>
        <p:spPr>
          <a:xfrm>
            <a:off x="838200" y="1219855"/>
            <a:ext cx="69448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KL divergence measures </a:t>
            </a:r>
            <a:r>
              <a:rPr lang="en-US" b="1" dirty="0"/>
              <a:t>how different two probability distributions are</a:t>
            </a:r>
            <a:r>
              <a:rPr lang="en-US" dirty="0"/>
              <a:t> - it's like a "distance" between distributions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4E0E06D5-ADF4-70A9-DFE2-02E9DB534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77" y="1370015"/>
            <a:ext cx="10515600" cy="1325563"/>
          </a:xfrm>
        </p:spPr>
        <p:txBody>
          <a:bodyPr/>
          <a:lstStyle/>
          <a:p>
            <a:r>
              <a:rPr lang="en-US" dirty="0"/>
              <a:t>   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34AE3B-EF78-1C5D-3FCE-9070671EB29A}"/>
              </a:ext>
            </a:extLst>
          </p:cNvPr>
          <p:cNvSpPr/>
          <p:nvPr/>
        </p:nvSpPr>
        <p:spPr>
          <a:xfrm>
            <a:off x="1916049" y="2642401"/>
            <a:ext cx="2923794" cy="120386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KL(P||Q) = </a:t>
            </a:r>
            <a:r>
              <a:rPr lang="el-GR" sz="1000" dirty="0"/>
              <a:t>Σ </a:t>
            </a:r>
            <a:r>
              <a:rPr lang="en-US" sz="1000" dirty="0"/>
              <a:t>P(x) × log(P(x)/Q(x))</a:t>
            </a:r>
          </a:p>
          <a:p>
            <a:endParaRPr lang="en-US" sz="1000" dirty="0"/>
          </a:p>
          <a:p>
            <a:r>
              <a:rPr lang="en-US" sz="1000" dirty="0"/>
              <a:t>P = target distribution (teacher probabilities)</a:t>
            </a:r>
          </a:p>
          <a:p>
            <a:r>
              <a:rPr lang="en-US" sz="1000" dirty="0"/>
              <a:t>Q = predicted distribution (student probabilities)</a:t>
            </a:r>
          </a:p>
          <a:p>
            <a:r>
              <a:rPr lang="en-US" sz="1000" dirty="0"/>
              <a:t>x = each possible outcome/class</a:t>
            </a:r>
          </a:p>
          <a:p>
            <a:r>
              <a:rPr lang="en-US" sz="1000" dirty="0"/>
              <a:t>Σ = sum over all classes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08369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7B5C-B1A1-0376-4174-FFF61C55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504"/>
              </a:spcAft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</a:rPr>
              <a:t>International University Of Applied Sciences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DD3C9-E5D2-AE60-3AFE-8A43297A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2608" y="6356349"/>
            <a:ext cx="3085338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504"/>
              </a:spcAft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</a:rPr>
              <a:t>Knowledge Distillation &amp; Neural Architecture Search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790D5-177D-B6A2-0E90-81EF4FE3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98AED0B-3B00-448B-836B-316F7AA19B4B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8FF4C60-14F0-104E-A6FA-3FCA6169A05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38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1E40AF"/>
                </a:solidFill>
                <a:latin typeface="-apple-system"/>
              </a:rPr>
              <a:t>Knowledge Distillation : KL Divergence Calculation  </a:t>
            </a:r>
          </a:p>
        </p:txBody>
      </p:sp>
      <p:pic>
        <p:nvPicPr>
          <p:cNvPr id="9" name="Graphic 8" descr="Head with gears with solid fill">
            <a:extLst>
              <a:ext uri="{FF2B5EF4-FFF2-40B4-BE49-F238E27FC236}">
                <a16:creationId xmlns:a16="http://schemas.microsoft.com/office/drawing/2014/main" id="{711BF609-4E06-C625-E21F-8F7A0F3EE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877" y="365125"/>
            <a:ext cx="483696" cy="483696"/>
          </a:xfrm>
          <a:prstGeom prst="rect">
            <a:avLst/>
          </a:prstGeom>
        </p:spPr>
      </p:pic>
      <p:sp>
        <p:nvSpPr>
          <p:cNvPr id="21" name="Title 20">
            <a:extLst>
              <a:ext uri="{FF2B5EF4-FFF2-40B4-BE49-F238E27FC236}">
                <a16:creationId xmlns:a16="http://schemas.microsoft.com/office/drawing/2014/main" id="{4E0E06D5-ADF4-70A9-DFE2-02E9DB534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77" y="1370015"/>
            <a:ext cx="10515600" cy="1325563"/>
          </a:xfrm>
        </p:spPr>
        <p:txBody>
          <a:bodyPr/>
          <a:lstStyle/>
          <a:p>
            <a:r>
              <a:rPr lang="en-US" dirty="0"/>
              <a:t>  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917320-FB89-800E-52DA-6DE65BC393A1}"/>
              </a:ext>
            </a:extLst>
          </p:cNvPr>
          <p:cNvSpPr/>
          <p:nvPr/>
        </p:nvSpPr>
        <p:spPr>
          <a:xfrm>
            <a:off x="638451" y="1790449"/>
            <a:ext cx="5204565" cy="349478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i="1" dirty="0">
                <a:solidFill>
                  <a:schemeClr val="bg1"/>
                </a:solidFill>
                <a:effectLst/>
              </a:rPr>
              <a:t># Teacher scaled: [2.5/2, 4.0/2, 1.2/2] = [1.25, 2.0, 0.6]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r>
              <a:rPr lang="en-US" sz="1000" i="1" dirty="0">
                <a:solidFill>
                  <a:schemeClr val="bg1"/>
                </a:solidFill>
                <a:effectLst/>
              </a:rPr>
              <a:t># Student scaled: [1.8/2, 3.2/2, 0.9/2] = [0.9, 1.6, 0.45]</a:t>
            </a:r>
          </a:p>
          <a:p>
            <a:endParaRPr lang="en-US" sz="1000" b="1" i="1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</a:endParaRPr>
          </a:p>
          <a:p>
            <a:r>
              <a:rPr lang="en-US" sz="1000" i="1" dirty="0">
                <a:solidFill>
                  <a:schemeClr val="bg1"/>
                </a:solidFill>
                <a:effectLst/>
              </a:rPr>
              <a:t># Teacher exponentials: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r>
              <a:rPr lang="en-US" sz="1000" i="1" dirty="0" err="1">
                <a:solidFill>
                  <a:schemeClr val="bg1"/>
                </a:solidFill>
              </a:rPr>
              <a:t>exp_t</a:t>
            </a:r>
            <a:r>
              <a:rPr lang="en-US" sz="1000" i="1" dirty="0">
                <a:solidFill>
                  <a:schemeClr val="bg1"/>
                </a:solidFill>
              </a:rPr>
              <a:t> = [exp(1.25), exp(2.0), exp(0.6)] = [3.49, 7.39, 1.82] </a:t>
            </a:r>
          </a:p>
          <a:p>
            <a:r>
              <a:rPr lang="en-US" sz="1000" i="1" dirty="0" err="1">
                <a:solidFill>
                  <a:schemeClr val="bg1"/>
                </a:solidFill>
              </a:rPr>
              <a:t>sum_t</a:t>
            </a:r>
            <a:r>
              <a:rPr lang="en-US" sz="1000" i="1" dirty="0">
                <a:solidFill>
                  <a:schemeClr val="bg1"/>
                </a:solidFill>
              </a:rPr>
              <a:t> = 3.49 + 7.39 + 1.82 = 12.70 </a:t>
            </a:r>
          </a:p>
          <a:p>
            <a:r>
              <a:rPr lang="en-US" sz="1000" i="1" dirty="0">
                <a:solidFill>
                  <a:schemeClr val="bg1"/>
                </a:solidFill>
              </a:rPr>
              <a:t># Teacher probabilities (P): </a:t>
            </a:r>
          </a:p>
          <a:p>
            <a:r>
              <a:rPr lang="en-US" sz="1000" i="1" dirty="0">
                <a:solidFill>
                  <a:schemeClr val="bg1"/>
                </a:solidFill>
              </a:rPr>
              <a:t>P = [3.49/12.70, 7.39/12.70, 1.82/12.70] = [0.275, 0.582, 0.143]</a:t>
            </a:r>
          </a:p>
          <a:p>
            <a:endParaRPr lang="en-US" sz="1000" i="1" dirty="0">
              <a:solidFill>
                <a:schemeClr val="bg1"/>
              </a:solidFill>
            </a:endParaRPr>
          </a:p>
          <a:p>
            <a:r>
              <a:rPr lang="en-US" sz="1000" i="1" dirty="0">
                <a:solidFill>
                  <a:schemeClr val="bg1"/>
                </a:solidFill>
              </a:rPr>
              <a:t># Student exponentials: </a:t>
            </a:r>
          </a:p>
          <a:p>
            <a:r>
              <a:rPr lang="en-US" sz="1000" i="1" dirty="0" err="1">
                <a:solidFill>
                  <a:schemeClr val="bg1"/>
                </a:solidFill>
              </a:rPr>
              <a:t>exp_s</a:t>
            </a:r>
            <a:r>
              <a:rPr lang="en-US" sz="1000" i="1" dirty="0">
                <a:solidFill>
                  <a:schemeClr val="bg1"/>
                </a:solidFill>
              </a:rPr>
              <a:t> = [exp(0.9), exp(1.6), exp(0.45)] = [2.46, 4.95, 1.57] </a:t>
            </a:r>
          </a:p>
          <a:p>
            <a:r>
              <a:rPr lang="en-US" sz="1000" i="1" dirty="0" err="1">
                <a:solidFill>
                  <a:schemeClr val="bg1"/>
                </a:solidFill>
              </a:rPr>
              <a:t>sum_s</a:t>
            </a:r>
            <a:r>
              <a:rPr lang="en-US" sz="1000" i="1" dirty="0">
                <a:solidFill>
                  <a:schemeClr val="bg1"/>
                </a:solidFill>
              </a:rPr>
              <a:t> = 2.46 + 4.95 + 1.57 = 8.98 </a:t>
            </a:r>
          </a:p>
          <a:p>
            <a:endParaRPr lang="en-US" sz="1000" i="1" dirty="0">
              <a:solidFill>
                <a:schemeClr val="bg1"/>
              </a:solidFill>
            </a:endParaRPr>
          </a:p>
          <a:p>
            <a:r>
              <a:rPr lang="en-US" sz="1000" i="1" dirty="0">
                <a:solidFill>
                  <a:schemeClr val="bg1"/>
                </a:solidFill>
              </a:rPr>
              <a:t># Student </a:t>
            </a:r>
            <a:r>
              <a:rPr lang="en-US" sz="1000" i="1" dirty="0" err="1">
                <a:solidFill>
                  <a:schemeClr val="bg1"/>
                </a:solidFill>
              </a:rPr>
              <a:t>log_softmax</a:t>
            </a:r>
            <a:r>
              <a:rPr lang="en-US" sz="1000" i="1" dirty="0">
                <a:solidFill>
                  <a:schemeClr val="bg1"/>
                </a:solidFill>
              </a:rPr>
              <a:t> (input): </a:t>
            </a:r>
          </a:p>
          <a:p>
            <a:r>
              <a:rPr lang="en-US" sz="1000" i="1" dirty="0" err="1">
                <a:solidFill>
                  <a:schemeClr val="bg1"/>
                </a:solidFill>
              </a:rPr>
              <a:t>log_softmax</a:t>
            </a:r>
            <a:r>
              <a:rPr lang="en-US" sz="1000" i="1" dirty="0">
                <a:solidFill>
                  <a:schemeClr val="bg1"/>
                </a:solidFill>
              </a:rPr>
              <a:t> = [0.9 - log(8.98), 1.6 - log(8.98), 0.45 - log(8.98)] </a:t>
            </a:r>
          </a:p>
          <a:p>
            <a:r>
              <a:rPr lang="en-US" sz="1000" i="1" dirty="0" err="1">
                <a:solidFill>
                  <a:schemeClr val="bg1"/>
                </a:solidFill>
              </a:rPr>
              <a:t>log_softmax</a:t>
            </a:r>
            <a:r>
              <a:rPr lang="en-US" sz="1000" i="1" dirty="0">
                <a:solidFill>
                  <a:schemeClr val="bg1"/>
                </a:solidFill>
              </a:rPr>
              <a:t> = [0.9 - 2.195, 1.6 - 2.195, 0.45 - 2.195] </a:t>
            </a:r>
          </a:p>
          <a:p>
            <a:r>
              <a:rPr lang="en-US" sz="1000" i="1" dirty="0" err="1">
                <a:solidFill>
                  <a:schemeClr val="bg1"/>
                </a:solidFill>
              </a:rPr>
              <a:t>log_softmax</a:t>
            </a:r>
            <a:r>
              <a:rPr lang="en-US" sz="1000" i="1" dirty="0">
                <a:solidFill>
                  <a:schemeClr val="bg1"/>
                </a:solidFill>
              </a:rPr>
              <a:t> = [-1.295, -0.595, -1.745]</a:t>
            </a:r>
          </a:p>
          <a:p>
            <a:endParaRPr lang="en-US" sz="1000" i="1" dirty="0">
              <a:solidFill>
                <a:schemeClr val="bg1"/>
              </a:solidFill>
            </a:endParaRPr>
          </a:p>
          <a:p>
            <a:endParaRPr lang="en-US" sz="1000" i="1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6FCD9A-FB33-B5FB-2852-CD0207D766B4}"/>
              </a:ext>
            </a:extLst>
          </p:cNvPr>
          <p:cNvSpPr/>
          <p:nvPr/>
        </p:nvSpPr>
        <p:spPr>
          <a:xfrm>
            <a:off x="6019590" y="1790449"/>
            <a:ext cx="5204565" cy="349478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i="1" dirty="0">
                <a:solidFill>
                  <a:schemeClr val="bg1"/>
                </a:solidFill>
                <a:effectLst/>
              </a:rPr>
              <a:t># </a:t>
            </a:r>
            <a:r>
              <a:rPr lang="en-US" sz="1000" i="1" dirty="0" err="1">
                <a:solidFill>
                  <a:schemeClr val="bg1"/>
                </a:solidFill>
                <a:effectLst/>
              </a:rPr>
              <a:t>PyTorch</a:t>
            </a:r>
            <a:r>
              <a:rPr lang="en-US" sz="1000" i="1" dirty="0">
                <a:solidFill>
                  <a:schemeClr val="bg1"/>
                </a:solidFill>
                <a:effectLst/>
              </a:rPr>
              <a:t> formula: KL = </a:t>
            </a:r>
            <a:r>
              <a:rPr lang="el-GR" sz="1000" i="1" dirty="0">
                <a:solidFill>
                  <a:schemeClr val="bg1"/>
                </a:solidFill>
                <a:effectLst/>
              </a:rPr>
              <a:t>Σ </a:t>
            </a:r>
            <a:r>
              <a:rPr lang="en-US" sz="1000" i="1" dirty="0">
                <a:solidFill>
                  <a:schemeClr val="bg1"/>
                </a:solidFill>
                <a:effectLst/>
              </a:rPr>
              <a:t>target(x) × [log(target(x)) - input(x)]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i="1" dirty="0">
                <a:solidFill>
                  <a:schemeClr val="bg1"/>
                </a:solidFill>
                <a:effectLst/>
              </a:rPr>
              <a:t># For Car class:</a:t>
            </a:r>
          </a:p>
          <a:p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r>
              <a:rPr lang="en-US" sz="1000" dirty="0" err="1">
                <a:solidFill>
                  <a:schemeClr val="bg1"/>
                </a:solidFill>
              </a:rPr>
              <a:t>kl_car</a:t>
            </a:r>
            <a:r>
              <a:rPr lang="en-US" sz="1000" dirty="0">
                <a:solidFill>
                  <a:schemeClr val="bg1"/>
                </a:solidFill>
              </a:rPr>
              <a:t>     </a:t>
            </a:r>
            <a:r>
              <a:rPr lang="en-US" sz="1000" dirty="0">
                <a:solidFill>
                  <a:schemeClr val="bg1"/>
                </a:solidFill>
                <a:effectLst/>
              </a:rPr>
              <a:t>=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0.275</a:t>
            </a:r>
            <a:r>
              <a:rPr lang="en-US" sz="1000" dirty="0">
                <a:solidFill>
                  <a:schemeClr val="bg1"/>
                </a:solidFill>
              </a:rPr>
              <a:t> × </a:t>
            </a:r>
            <a:r>
              <a:rPr lang="en-US" sz="1000" dirty="0">
                <a:solidFill>
                  <a:schemeClr val="bg1"/>
                </a:solidFill>
                <a:effectLst/>
              </a:rPr>
              <a:t>[</a:t>
            </a:r>
            <a:r>
              <a:rPr lang="en-US" sz="1000" dirty="0">
                <a:solidFill>
                  <a:schemeClr val="bg1"/>
                </a:solidFill>
              </a:rPr>
              <a:t>log</a:t>
            </a:r>
            <a:r>
              <a:rPr lang="en-US" sz="1000" dirty="0">
                <a:solidFill>
                  <a:schemeClr val="bg1"/>
                </a:solidFill>
                <a:effectLst/>
              </a:rPr>
              <a:t>(0.275)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-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(-1.295)]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US" sz="1000" dirty="0">
                <a:solidFill>
                  <a:schemeClr val="bg1"/>
                </a:solidFill>
                <a:effectLst/>
              </a:rPr>
              <a:t>=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0.275</a:t>
            </a:r>
            <a:r>
              <a:rPr lang="en-US" sz="1000" dirty="0">
                <a:solidFill>
                  <a:schemeClr val="bg1"/>
                </a:solidFill>
              </a:rPr>
              <a:t> × </a:t>
            </a:r>
            <a:r>
              <a:rPr lang="en-US" sz="1000" dirty="0">
                <a:solidFill>
                  <a:schemeClr val="bg1"/>
                </a:solidFill>
                <a:effectLst/>
              </a:rPr>
              <a:t>[-1.291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-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(-1.295)]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US" sz="1000" dirty="0">
                <a:solidFill>
                  <a:schemeClr val="bg1"/>
                </a:solidFill>
                <a:effectLst/>
              </a:rPr>
              <a:t>=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0.275</a:t>
            </a:r>
            <a:r>
              <a:rPr lang="en-US" sz="1000" dirty="0">
                <a:solidFill>
                  <a:schemeClr val="bg1"/>
                </a:solidFill>
              </a:rPr>
              <a:t> × </a:t>
            </a:r>
            <a:r>
              <a:rPr lang="en-US" sz="1000" dirty="0">
                <a:solidFill>
                  <a:schemeClr val="bg1"/>
                </a:solidFill>
                <a:effectLst/>
              </a:rPr>
              <a:t>[-1.291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+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1.295]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US" sz="1000" dirty="0">
                <a:solidFill>
                  <a:schemeClr val="bg1"/>
                </a:solidFill>
                <a:effectLst/>
              </a:rPr>
              <a:t>=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0.275</a:t>
            </a:r>
            <a:r>
              <a:rPr lang="en-US" sz="1000" dirty="0">
                <a:solidFill>
                  <a:schemeClr val="bg1"/>
                </a:solidFill>
              </a:rPr>
              <a:t> × </a:t>
            </a:r>
            <a:r>
              <a:rPr lang="en-US" sz="1000" dirty="0">
                <a:solidFill>
                  <a:schemeClr val="bg1"/>
                </a:solidFill>
                <a:effectLst/>
              </a:rPr>
              <a:t>0.004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=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0.0011</a:t>
            </a:r>
          </a:p>
          <a:p>
            <a:pPr lvl="1"/>
            <a:r>
              <a:rPr lang="en-US" sz="1000" dirty="0">
                <a:solidFill>
                  <a:schemeClr val="bg1"/>
                </a:solidFill>
              </a:rPr>
              <a:t># For Truck class:</a:t>
            </a:r>
            <a:endParaRPr lang="en-US" sz="1000" i="1" dirty="0">
              <a:solidFill>
                <a:schemeClr val="bg1"/>
              </a:solidFill>
            </a:endParaRPr>
          </a:p>
          <a:p>
            <a:r>
              <a:rPr lang="en-US" sz="1000" dirty="0" err="1">
                <a:solidFill>
                  <a:schemeClr val="bg1"/>
                </a:solidFill>
              </a:rPr>
              <a:t>kl_truck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=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0.582</a:t>
            </a:r>
            <a:r>
              <a:rPr lang="en-US" sz="1000" dirty="0">
                <a:solidFill>
                  <a:schemeClr val="bg1"/>
                </a:solidFill>
              </a:rPr>
              <a:t> × </a:t>
            </a:r>
            <a:r>
              <a:rPr lang="en-US" sz="1000" dirty="0">
                <a:solidFill>
                  <a:schemeClr val="bg1"/>
                </a:solidFill>
                <a:effectLst/>
              </a:rPr>
              <a:t>[</a:t>
            </a:r>
            <a:r>
              <a:rPr lang="en-US" sz="1000" dirty="0">
                <a:solidFill>
                  <a:schemeClr val="bg1"/>
                </a:solidFill>
              </a:rPr>
              <a:t>log</a:t>
            </a:r>
            <a:r>
              <a:rPr lang="en-US" sz="1000" dirty="0">
                <a:solidFill>
                  <a:schemeClr val="bg1"/>
                </a:solidFill>
                <a:effectLst/>
              </a:rPr>
              <a:t>(0.582)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-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(-0.595)]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US" sz="1000" dirty="0">
                <a:solidFill>
                  <a:schemeClr val="bg1"/>
                </a:solidFill>
                <a:effectLst/>
              </a:rPr>
              <a:t>=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0.582</a:t>
            </a:r>
            <a:r>
              <a:rPr lang="en-US" sz="1000" dirty="0">
                <a:solidFill>
                  <a:schemeClr val="bg1"/>
                </a:solidFill>
              </a:rPr>
              <a:t> × </a:t>
            </a:r>
            <a:r>
              <a:rPr lang="en-US" sz="1000" dirty="0">
                <a:solidFill>
                  <a:schemeClr val="bg1"/>
                </a:solidFill>
                <a:effectLst/>
              </a:rPr>
              <a:t>[-0.541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-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(-0.595)]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US" sz="1000" dirty="0">
                <a:solidFill>
                  <a:schemeClr val="bg1"/>
                </a:solidFill>
                <a:effectLst/>
              </a:rPr>
              <a:t>=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0.582</a:t>
            </a:r>
            <a:r>
              <a:rPr lang="en-US" sz="1000" dirty="0">
                <a:solidFill>
                  <a:schemeClr val="bg1"/>
                </a:solidFill>
              </a:rPr>
              <a:t> × </a:t>
            </a:r>
            <a:r>
              <a:rPr lang="en-US" sz="1000" dirty="0">
                <a:solidFill>
                  <a:schemeClr val="bg1"/>
                </a:solidFill>
                <a:effectLst/>
              </a:rPr>
              <a:t>[-0.541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+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0.595]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US" sz="1000" dirty="0">
                <a:solidFill>
                  <a:schemeClr val="bg1"/>
                </a:solidFill>
                <a:effectLst/>
              </a:rPr>
              <a:t>=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0.582</a:t>
            </a:r>
            <a:r>
              <a:rPr lang="en-US" sz="1000" dirty="0">
                <a:solidFill>
                  <a:schemeClr val="bg1"/>
                </a:solidFill>
              </a:rPr>
              <a:t> × </a:t>
            </a:r>
            <a:r>
              <a:rPr lang="en-US" sz="1000" dirty="0">
                <a:solidFill>
                  <a:schemeClr val="bg1"/>
                </a:solidFill>
                <a:effectLst/>
              </a:rPr>
              <a:t>0.054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=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0.0314</a:t>
            </a:r>
          </a:p>
          <a:p>
            <a:pPr lvl="1"/>
            <a:endParaRPr lang="en-US" sz="1000" i="1" dirty="0">
              <a:solidFill>
                <a:schemeClr val="bg1"/>
              </a:solidFill>
            </a:endParaRPr>
          </a:p>
          <a:p>
            <a:pPr lvl="1"/>
            <a:r>
              <a:rPr lang="en-US" sz="1000" i="1" dirty="0">
                <a:solidFill>
                  <a:schemeClr val="bg1"/>
                </a:solidFill>
                <a:effectLst/>
              </a:rPr>
              <a:t># For Bus class: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r>
              <a:rPr lang="en-US" sz="1000" dirty="0" err="1">
                <a:solidFill>
                  <a:schemeClr val="bg1"/>
                </a:solidFill>
              </a:rPr>
              <a:t>kl_bus</a:t>
            </a:r>
            <a:r>
              <a:rPr lang="en-US" sz="1000" dirty="0">
                <a:solidFill>
                  <a:schemeClr val="bg1"/>
                </a:solidFill>
              </a:rPr>
              <a:t>    </a:t>
            </a:r>
            <a:r>
              <a:rPr lang="en-US" sz="1000" dirty="0">
                <a:solidFill>
                  <a:schemeClr val="bg1"/>
                </a:solidFill>
                <a:effectLst/>
              </a:rPr>
              <a:t>=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0.143</a:t>
            </a:r>
            <a:r>
              <a:rPr lang="en-US" sz="1000" dirty="0">
                <a:solidFill>
                  <a:schemeClr val="bg1"/>
                </a:solidFill>
              </a:rPr>
              <a:t> × </a:t>
            </a:r>
            <a:r>
              <a:rPr lang="en-US" sz="1000" dirty="0">
                <a:solidFill>
                  <a:schemeClr val="bg1"/>
                </a:solidFill>
                <a:effectLst/>
              </a:rPr>
              <a:t>[</a:t>
            </a:r>
            <a:r>
              <a:rPr lang="en-US" sz="1000" dirty="0">
                <a:solidFill>
                  <a:schemeClr val="bg1"/>
                </a:solidFill>
              </a:rPr>
              <a:t>log</a:t>
            </a:r>
            <a:r>
              <a:rPr lang="en-US" sz="1000" dirty="0">
                <a:solidFill>
                  <a:schemeClr val="bg1"/>
                </a:solidFill>
                <a:effectLst/>
              </a:rPr>
              <a:t>(0.143)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-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(-1.745)]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US" sz="1000" dirty="0">
                <a:solidFill>
                  <a:schemeClr val="bg1"/>
                </a:solidFill>
                <a:effectLst/>
              </a:rPr>
              <a:t>=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0.143</a:t>
            </a:r>
            <a:r>
              <a:rPr lang="en-US" sz="1000" dirty="0">
                <a:solidFill>
                  <a:schemeClr val="bg1"/>
                </a:solidFill>
              </a:rPr>
              <a:t> × </a:t>
            </a:r>
            <a:r>
              <a:rPr lang="en-US" sz="1000" dirty="0">
                <a:solidFill>
                  <a:schemeClr val="bg1"/>
                </a:solidFill>
                <a:effectLst/>
              </a:rPr>
              <a:t>[-1.944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-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(-1.745)]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US" sz="1000" dirty="0">
                <a:solidFill>
                  <a:schemeClr val="bg1"/>
                </a:solidFill>
                <a:effectLst/>
              </a:rPr>
              <a:t>=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0.143</a:t>
            </a:r>
            <a:r>
              <a:rPr lang="en-US" sz="1000" dirty="0">
                <a:solidFill>
                  <a:schemeClr val="bg1"/>
                </a:solidFill>
              </a:rPr>
              <a:t> × </a:t>
            </a:r>
            <a:r>
              <a:rPr lang="en-US" sz="1000" dirty="0">
                <a:solidFill>
                  <a:schemeClr val="bg1"/>
                </a:solidFill>
                <a:effectLst/>
              </a:rPr>
              <a:t>[-1.944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+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1.745]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US" sz="1000" dirty="0">
                <a:solidFill>
                  <a:schemeClr val="bg1"/>
                </a:solidFill>
                <a:effectLst/>
              </a:rPr>
              <a:t>=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0.143</a:t>
            </a:r>
            <a:r>
              <a:rPr lang="en-US" sz="1000" dirty="0">
                <a:solidFill>
                  <a:schemeClr val="bg1"/>
                </a:solidFill>
              </a:rPr>
              <a:t> × </a:t>
            </a:r>
            <a:r>
              <a:rPr lang="en-US" sz="1000" dirty="0">
                <a:solidFill>
                  <a:schemeClr val="bg1"/>
                </a:solidFill>
                <a:effectLst/>
              </a:rPr>
              <a:t>(-0.199)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=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-0.0285</a:t>
            </a:r>
          </a:p>
          <a:p>
            <a:pPr lvl="1"/>
            <a:endParaRPr lang="en-US" sz="1000" i="1" dirty="0">
              <a:solidFill>
                <a:schemeClr val="bg1"/>
              </a:solidFill>
              <a:effectLst/>
            </a:endParaRPr>
          </a:p>
          <a:p>
            <a:r>
              <a:rPr lang="en-US" sz="1000" i="1" dirty="0">
                <a:solidFill>
                  <a:schemeClr val="bg1"/>
                </a:solidFill>
                <a:effectLst/>
              </a:rPr>
              <a:t># Total KL divergence: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r>
              <a:rPr lang="en-US" sz="1000" dirty="0">
                <a:solidFill>
                  <a:schemeClr val="bg1"/>
                </a:solidFill>
              </a:rPr>
              <a:t>KL </a:t>
            </a:r>
            <a:r>
              <a:rPr lang="en-US" sz="1000" dirty="0">
                <a:solidFill>
                  <a:schemeClr val="bg1"/>
                </a:solidFill>
                <a:effectLst/>
              </a:rPr>
              <a:t>=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0.0011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+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0.0314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+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(-0.0285)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=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effectLst/>
              </a:rPr>
              <a:t>0.004</a:t>
            </a:r>
            <a:endParaRPr lang="en-US" sz="1000" i="1" dirty="0">
              <a:solidFill>
                <a:schemeClr val="bg1"/>
              </a:solidFill>
            </a:endParaRPr>
          </a:p>
        </p:txBody>
      </p:sp>
      <p:pic>
        <p:nvPicPr>
          <p:cNvPr id="10" name="Graphic 9" descr="Badge 1 with solid fill">
            <a:extLst>
              <a:ext uri="{FF2B5EF4-FFF2-40B4-BE49-F238E27FC236}">
                <a16:creationId xmlns:a16="http://schemas.microsoft.com/office/drawing/2014/main" id="{E15C13EB-1FBB-5985-BCC9-6C1493DF76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79122" y="5370721"/>
            <a:ext cx="523221" cy="523221"/>
          </a:xfrm>
          <a:prstGeom prst="rect">
            <a:avLst/>
          </a:prstGeom>
        </p:spPr>
      </p:pic>
      <p:pic>
        <p:nvPicPr>
          <p:cNvPr id="11" name="Graphic 10" descr="Badge with solid fill">
            <a:extLst>
              <a:ext uri="{FF2B5EF4-FFF2-40B4-BE49-F238E27FC236}">
                <a16:creationId xmlns:a16="http://schemas.microsoft.com/office/drawing/2014/main" id="{D42EE465-F092-79A9-BC54-AA74C4D296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60940" y="5370721"/>
            <a:ext cx="523221" cy="5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002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30A-0841-2B85-58E5-6CE63A33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1E40AF"/>
                </a:solidFill>
                <a:latin typeface="-apple-system"/>
              </a:rPr>
              <a:t>Knowledge Distillation Configuration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DD3C9-E5D2-AE60-3AFE-8A43297A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 dirty="0"/>
              <a:t>Master Thesis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7B5C-B1A1-0376-4174-FFF61C55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University Of Applied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790D5-177D-B6A2-0E90-81EF4FE3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ED0B-3B00-448B-836B-316F7AA19B4B}" type="slidenum">
              <a:rPr lang="en-US" smtClean="0"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7A2DD2-E874-85DC-AB8A-09FAFF958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086" y="2053207"/>
            <a:ext cx="7186558" cy="231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953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7B5C-B1A1-0376-4174-FFF61C55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504"/>
              </a:spcAft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</a:rPr>
              <a:t>International University Of Applied Sciences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DD3C9-E5D2-AE60-3AFE-8A43297A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2608" y="6356349"/>
            <a:ext cx="3085338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504"/>
              </a:spcAft>
            </a:pPr>
            <a:r>
              <a:rPr lang="en-US" sz="900" dirty="0">
                <a:solidFill>
                  <a:schemeClr val="tx1">
                    <a:alpha val="80000"/>
                  </a:schemeClr>
                </a:solidFill>
              </a:rPr>
              <a:t>Knowledge Distillation &amp; Neural Architecture Search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790D5-177D-B6A2-0E90-81EF4FE3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98AED0B-3B00-448B-836B-316F7AA19B4B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8FF4C60-14F0-104E-A6FA-3FCA6169A054}"/>
              </a:ext>
            </a:extLst>
          </p:cNvPr>
          <p:cNvSpPr txBox="1">
            <a:spLocks/>
          </p:cNvSpPr>
          <p:nvPr/>
        </p:nvSpPr>
        <p:spPr>
          <a:xfrm>
            <a:off x="908227" y="340258"/>
            <a:ext cx="10515600" cy="638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1E40AF"/>
                </a:solidFill>
                <a:latin typeface="-apple-system"/>
              </a:rPr>
              <a:t>Jenkins Pipeline Implementation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02BADA62-F628-D63A-FBEE-7108FE1D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6964" y="307303"/>
            <a:ext cx="10515600" cy="1325563"/>
          </a:xfrm>
        </p:spPr>
        <p:txBody>
          <a:bodyPr/>
          <a:lstStyle/>
          <a:p>
            <a:r>
              <a:rPr lang="en-US" dirty="0"/>
              <a:t>   </a:t>
            </a:r>
          </a:p>
        </p:txBody>
      </p:sp>
      <p:pic>
        <p:nvPicPr>
          <p:cNvPr id="6" name="Graphic 5" descr="Arrow circle with solid fill">
            <a:extLst>
              <a:ext uri="{FF2B5EF4-FFF2-40B4-BE49-F238E27FC236}">
                <a16:creationId xmlns:a16="http://schemas.microsoft.com/office/drawing/2014/main" id="{EEFCE6DC-E426-6B6D-643A-73E9113725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777" y="331161"/>
            <a:ext cx="638923" cy="6389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83DC0E-BD56-6F04-34C6-F46184A9A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084" y="1641963"/>
            <a:ext cx="7615805" cy="378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084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30A-0841-2B85-58E5-6CE63A33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1E40AF"/>
                </a:solidFill>
                <a:latin typeface="-apple-system"/>
              </a:rPr>
              <a:t>MLOps Architecture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DD3C9-E5D2-AE60-3AFE-8A43297A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 dirty="0"/>
              <a:t>Master Thesis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7B5C-B1A1-0376-4174-FFF61C55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University Of Applied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790D5-177D-B6A2-0E90-81EF4FE3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ED0B-3B00-448B-836B-316F7AA19B4B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4DBDB9-A6C8-A747-A704-71D09AFBE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882" y="1247663"/>
            <a:ext cx="8274475" cy="436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874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30A-0841-2B85-58E5-6CE63A33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1E40AF"/>
                </a:solidFill>
                <a:latin typeface="-apple-system"/>
              </a:rPr>
              <a:t>Dataset Validation &amp; Augmentation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DD3C9-E5D2-AE60-3AFE-8A43297A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 dirty="0"/>
              <a:t>Master Thesis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7B5C-B1A1-0376-4174-FFF61C55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University Of Applied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790D5-177D-B6A2-0E90-81EF4FE3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ED0B-3B00-448B-836B-316F7AA19B4B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87EDB7-E4EE-A211-3D4A-640860549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25284"/>
            <a:ext cx="10015670" cy="420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820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30A-0841-2B85-58E5-6CE63A33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1E40AF"/>
                </a:solidFill>
                <a:latin typeface="-apple-system"/>
              </a:rPr>
              <a:t>Knowledge Distillation Performance Comparison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DD3C9-E5D2-AE60-3AFE-8A43297A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 dirty="0"/>
              <a:t>Master Thesis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7B5C-B1A1-0376-4174-FFF61C55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University Of Applied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790D5-177D-B6A2-0E90-81EF4FE3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ED0B-3B00-448B-836B-316F7AA19B4B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ED50B0-36FD-6A28-AC69-694AFAD2A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482" y="1294105"/>
            <a:ext cx="8153819" cy="977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CDFC44-8C3B-32E0-454F-8397C61F8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482" y="2562112"/>
            <a:ext cx="4026107" cy="15113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8ACBFD-6F0A-0398-246E-C9E2E68AA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883" y="4357333"/>
            <a:ext cx="4000706" cy="12065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96A1DA9-9D3C-5780-CF5C-F060BAB66D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6195" y="2970230"/>
            <a:ext cx="3778898" cy="225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41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30A-0841-2B85-58E5-6CE63A33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1E40AF"/>
                </a:solidFill>
                <a:latin typeface="-apple-system"/>
              </a:rPr>
              <a:t>Application: Highway Vehicle Tracking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DD3C9-E5D2-AE60-3AFE-8A43297A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 dirty="0"/>
              <a:t>Master Thesis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7B5C-B1A1-0376-4174-FFF61C55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University Of Applied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790D5-177D-B6A2-0E90-81EF4FE3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ED0B-3B00-448B-836B-316F7AA19B4B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A2BE19-D659-5C46-6603-ED8490AB2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964" y="1238271"/>
            <a:ext cx="6940907" cy="454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711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30A-0841-2B85-58E5-6CE63A33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1E40AF"/>
                </a:solidFill>
                <a:latin typeface="-apple-system"/>
              </a:rPr>
              <a:t>Repository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DD3C9-E5D2-AE60-3AFE-8A43297A9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 dirty="0"/>
              <a:t>Master Thesis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7B5C-B1A1-0376-4174-FFF61C55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International University Of Applied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790D5-177D-B6A2-0E90-81EF4FE3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ED0B-3B00-448B-836B-316F7AA19B4B}" type="slidenum">
              <a:rPr lang="en-US" smtClean="0"/>
              <a:t>18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E12F00-0AAC-E395-90E7-3C30B396E75F}"/>
              </a:ext>
            </a:extLst>
          </p:cNvPr>
          <p:cNvSpPr txBox="1"/>
          <p:nvPr/>
        </p:nvSpPr>
        <p:spPr>
          <a:xfrm>
            <a:off x="838200" y="1615363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Main Repository:</a:t>
            </a:r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https://github.com/RajeshRamadas/yolov8-model-optimization/tree/main</a:t>
            </a:r>
            <a:endParaRPr lang="en-US" dirty="0"/>
          </a:p>
          <a:p>
            <a:endParaRPr lang="en-US" dirty="0"/>
          </a:p>
          <a:p>
            <a:r>
              <a:rPr lang="en-US" dirty="0"/>
              <a:t>Knowledge distillation:</a:t>
            </a:r>
          </a:p>
          <a:p>
            <a:r>
              <a:rPr lang="en-US" dirty="0">
                <a:hlinkClick r:id="rId3"/>
              </a:rPr>
              <a:t>https://github.com/RajeshRamadas/yolov8-model-optimization/tree/main/02-Implementation/knowledge_distillation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Application:</a:t>
            </a:r>
          </a:p>
          <a:p>
            <a:r>
              <a:rPr lang="en-US" dirty="0">
                <a:hlinkClick r:id="rId4"/>
              </a:rPr>
              <a:t>https://github.com/RajeshRamadas/highway-vehicle-tracker/tree/75d96c9aa849d52c155dc343237ff121f7ebbb99</a:t>
            </a:r>
            <a:endParaRPr lang="en-US" dirty="0"/>
          </a:p>
          <a:p>
            <a:endParaRPr lang="en-US" dirty="0"/>
          </a:p>
          <a:p>
            <a:r>
              <a:rPr lang="en-US" dirty="0"/>
              <a:t>Report &amp; Documentation </a:t>
            </a:r>
          </a:p>
          <a:p>
            <a:r>
              <a:rPr lang="en-US" dirty="0">
                <a:hlinkClick r:id="rId5"/>
              </a:rPr>
              <a:t>https://github.com/RajeshRamadas/yolov8-model-optimization/tree/main/01-Project-management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863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B78813-B944-6965-AD19-AA035DCA1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E73E8F-1DB4-D601-094E-5429CDE7F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920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1629</Words>
  <Application>Microsoft Office PowerPoint</Application>
  <PresentationFormat>Widescreen</PresentationFormat>
  <Paragraphs>241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-apple-system</vt:lpstr>
      <vt:lpstr>Arial</vt:lpstr>
      <vt:lpstr>Calibri</vt:lpstr>
      <vt:lpstr>Calibri Light</vt:lpstr>
      <vt:lpstr>Courier New</vt:lpstr>
      <vt:lpstr>Segoe UI</vt:lpstr>
      <vt:lpstr>Office Theme</vt:lpstr>
      <vt:lpstr>1_Office Theme</vt:lpstr>
      <vt:lpstr>    </vt:lpstr>
      <vt:lpstr>    </vt:lpstr>
      <vt:lpstr>Research Overview </vt:lpstr>
      <vt:lpstr>  </vt:lpstr>
      <vt:lpstr> </vt:lpstr>
      <vt:lpstr>   </vt:lpstr>
      <vt:lpstr>YoloV8n Config</vt:lpstr>
      <vt:lpstr>   </vt:lpstr>
      <vt:lpstr>   </vt:lpstr>
      <vt:lpstr>    </vt:lpstr>
      <vt:lpstr>    </vt:lpstr>
      <vt:lpstr>Knowledge Distillation Configuration</vt:lpstr>
      <vt:lpstr>   </vt:lpstr>
      <vt:lpstr>MLOps Architecture</vt:lpstr>
      <vt:lpstr>Dataset Validation &amp; Augmentation</vt:lpstr>
      <vt:lpstr>Knowledge Distillation Performance Comparison</vt:lpstr>
      <vt:lpstr>Application: Highway Vehicle Tracking  </vt:lpstr>
      <vt:lpstr>Repository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Machine Learning Development  Efficiency through DevOps and MLOps   Master of computer science   Student:   Rajesh Kumar Ramadas rajesh-kumar.ramadas@iu-study.org  Matriculation:   92125100 Course name                           Master Thesis University Supervisor:  Dr. Aditya Mushyam     aditya.mushyam@iu.org Submission Date:</dc:title>
  <dc:creator>R, Rajesh Kumar</dc:creator>
  <cp:lastModifiedBy>R, Rajesh Kumar</cp:lastModifiedBy>
  <cp:revision>243</cp:revision>
  <dcterms:created xsi:type="dcterms:W3CDTF">2025-01-17T06:21:01Z</dcterms:created>
  <dcterms:modified xsi:type="dcterms:W3CDTF">2025-05-29T15:42:24Z</dcterms:modified>
</cp:coreProperties>
</file>